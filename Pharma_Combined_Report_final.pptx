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9.xml" ContentType="application/vnd.openxmlformats-officedocument.presentationml.notesSlide+xml"/>
  <Override PartName="/ppt/charts/chart7.xml" ContentType="application/vnd.openxmlformats-officedocument.drawingml.chart+xml"/>
  <Override PartName="/ppt/notesSlides/notesSlide10.xml" ContentType="application/vnd.openxmlformats-officedocument.presentationml.notesSlide+xml"/>
  <Override PartName="/ppt/charts/chart8.xml" ContentType="application/vnd.openxmlformats-officedocument.drawingml.chart+xml"/>
  <Override PartName="/ppt/notesSlides/notesSlide11.xml" ContentType="application/vnd.openxmlformats-officedocument.presentationml.notesSlide+xml"/>
  <Override PartName="/ppt/charts/chart9.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14.xml" ContentType="application/vnd.openxmlformats-officedocument.presentationml.notesSlide+xml"/>
  <Override PartName="/ppt/charts/chart13.xml" ContentType="application/vnd.openxmlformats-officedocument.drawingml.chart+xml"/>
  <Override PartName="/ppt/notesSlides/notesSlide15.xml" ContentType="application/vnd.openxmlformats-officedocument.presentationml.notesSlide+xml"/>
  <Override PartName="/ppt/charts/chart14.xml" ContentType="application/vnd.openxmlformats-officedocument.drawingml.chart+xml"/>
  <Override PartName="/ppt/notesSlides/notesSlide16.xml" ContentType="application/vnd.openxmlformats-officedocument.presentationml.notesSlide+xml"/>
  <Override PartName="/ppt/charts/chart15.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19.xml" ContentType="application/vnd.openxmlformats-officedocument.presentationml.notesSlide+xml"/>
  <Override PartName="/ppt/charts/chart19.xml" ContentType="application/vnd.openxmlformats-officedocument.drawingml.chart+xml"/>
  <Override PartName="/ppt/notesSlides/notesSlide20.xml" ContentType="application/vnd.openxmlformats-officedocument.presentationml.notesSlide+xml"/>
  <Override PartName="/ppt/charts/chart20.xml" ContentType="application/vnd.openxmlformats-officedocument.drawingml.chart+xml"/>
  <Override PartName="/ppt/notesSlides/notesSlide21.xml" ContentType="application/vnd.openxmlformats-officedocument.presentationml.notesSlide+xml"/>
  <Override PartName="/ppt/charts/chart2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notesSlides/notesSlide24.xml" ContentType="application/vnd.openxmlformats-officedocument.presentationml.notesSlide+xml"/>
  <Override PartName="/ppt/charts/chart25.xml" ContentType="application/vnd.openxmlformats-officedocument.drawingml.chart+xml"/>
  <Override PartName="/ppt/notesSlides/notesSlide25.xml" ContentType="application/vnd.openxmlformats-officedocument.presentationml.notesSlide+xml"/>
  <Override PartName="/ppt/charts/chart26.xml" ContentType="application/vnd.openxmlformats-officedocument.drawingml.chart+xml"/>
  <Override PartName="/ppt/charts/chart27.xml" ContentType="application/vnd.openxmlformats-officedocument.drawingml.chart+xml"/>
  <Override PartName="/ppt/notesSlides/notesSlide26.xml" ContentType="application/vnd.openxmlformats-officedocument.presentationml.notesSlide+xml"/>
  <Override PartName="/ppt/charts/chart28.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9" r:id="rId4"/>
    <p:sldId id="293" r:id="rId5"/>
    <p:sldId id="260" r:id="rId6"/>
    <p:sldId id="261" r:id="rId7"/>
    <p:sldId id="262" r:id="rId8"/>
    <p:sldId id="263" r:id="rId9"/>
    <p:sldId id="264" r:id="rId10"/>
    <p:sldId id="294" r:id="rId11"/>
    <p:sldId id="265" r:id="rId12"/>
    <p:sldId id="266" r:id="rId13"/>
    <p:sldId id="267" r:id="rId14"/>
    <p:sldId id="268" r:id="rId15"/>
    <p:sldId id="269" r:id="rId16"/>
    <p:sldId id="295" r:id="rId17"/>
    <p:sldId id="270" r:id="rId18"/>
    <p:sldId id="271" r:id="rId19"/>
    <p:sldId id="272" r:id="rId20"/>
    <p:sldId id="273" r:id="rId21"/>
    <p:sldId id="274" r:id="rId22"/>
    <p:sldId id="296"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1" r:id="rId39"/>
    <p:sldId id="292"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654A452-6A66-0B59-9BB7-18F115A11E35}">
          <p14:sldIdLst>
            <p14:sldId id="256"/>
            <p14:sldId id="257"/>
            <p14:sldId id="259"/>
            <p14:sldId id="293"/>
          </p14:sldIdLst>
        </p14:section>
        <p14:section name="Sun Pharma" id="{E1946309-F03E-5141-CF7D-70C2849C2819}">
          <p14:sldIdLst>
            <p14:sldId id="260"/>
            <p14:sldId id="261"/>
            <p14:sldId id="262"/>
            <p14:sldId id="263"/>
            <p14:sldId id="264"/>
            <p14:sldId id="294"/>
          </p14:sldIdLst>
        </p14:section>
        <p14:section name="Dr. Reddy's" id="{7BC68148-4900-B7B5-3F97-D02FF6C246B3}">
          <p14:sldIdLst>
            <p14:sldId id="265"/>
            <p14:sldId id="266"/>
            <p14:sldId id="267"/>
            <p14:sldId id="268"/>
            <p14:sldId id="269"/>
            <p14:sldId id="295"/>
          </p14:sldIdLst>
        </p14:section>
        <p14:section name="Lupin" id="{4E2EE28C-259B-D8F0-44DA-9AB0D0719277}">
          <p14:sldIdLst>
            <p14:sldId id="270"/>
            <p14:sldId id="271"/>
            <p14:sldId id="272"/>
            <p14:sldId id="273"/>
            <p14:sldId id="274"/>
            <p14:sldId id="296"/>
          </p14:sldIdLst>
        </p14:section>
        <p14:section name="Cipla" id="{0474AEC6-1BAF-1A90-CA69-7837B49FC677}">
          <p14:sldIdLst>
            <p14:sldId id="275"/>
            <p14:sldId id="276"/>
            <p14:sldId id="277"/>
            <p14:sldId id="278"/>
            <p14:sldId id="279"/>
          </p14:sldIdLst>
        </p14:section>
        <p14:section name="Comparison" id="{22649849-E76A-0D9A-B9A8-C4E58E214B99}">
          <p14:sldIdLst>
            <p14:sldId id="280"/>
            <p14:sldId id="281"/>
            <p14:sldId id="282"/>
            <p14:sldId id="283"/>
            <p14:sldId id="284"/>
            <p14:sldId id="285"/>
            <p14:sldId id="286"/>
            <p14:sldId id="287"/>
            <p14:sldId id="288"/>
            <p14:sldId id="289"/>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nshu Kumar Gupta" userId="6da36933b2bb9d5c" providerId="LiveId" clId="{76A1CC17-5487-454A-AAEF-EBD6748DBEC1}"/>
    <pc:docChg chg="delSld modSld modSection">
      <pc:chgData name="Shivanshu Kumar Gupta" userId="6da36933b2bb9d5c" providerId="LiveId" clId="{76A1CC17-5487-454A-AAEF-EBD6748DBEC1}" dt="2026-10-17T11:21:22.611" v="158" actId="2696"/>
      <pc:docMkLst>
        <pc:docMk/>
      </pc:docMkLst>
      <pc:sldChg chg="modSp mod">
        <pc:chgData name="Shivanshu Kumar Gupta" userId="6da36933b2bb9d5c" providerId="LiveId" clId="{76A1CC17-5487-454A-AAEF-EBD6748DBEC1}" dt="2026-10-17T11:20:20.801" v="80" actId="20577"/>
        <pc:sldMkLst>
          <pc:docMk/>
          <pc:sldMk cId="0" sldId="256"/>
        </pc:sldMkLst>
        <pc:spChg chg="mod">
          <ac:chgData name="Shivanshu Kumar Gupta" userId="6da36933b2bb9d5c" providerId="LiveId" clId="{76A1CC17-5487-454A-AAEF-EBD6748DBEC1}" dt="2026-10-17T11:20:09.375" v="51" actId="20577"/>
          <ac:spMkLst>
            <pc:docMk/>
            <pc:sldMk cId="0" sldId="256"/>
            <ac:spMk id="6" creationId="{00000000-0000-0000-0000-000000000000}"/>
          </ac:spMkLst>
        </pc:spChg>
        <pc:spChg chg="mod">
          <ac:chgData name="Shivanshu Kumar Gupta" userId="6da36933b2bb9d5c" providerId="LiveId" clId="{76A1CC17-5487-454A-AAEF-EBD6748DBEC1}" dt="2026-10-17T11:20:06.236" v="38" actId="20577"/>
          <ac:spMkLst>
            <pc:docMk/>
            <pc:sldMk cId="0" sldId="256"/>
            <ac:spMk id="7" creationId="{00000000-0000-0000-0000-000000000000}"/>
          </ac:spMkLst>
        </pc:spChg>
        <pc:spChg chg="mod">
          <ac:chgData name="Shivanshu Kumar Gupta" userId="6da36933b2bb9d5c" providerId="LiveId" clId="{76A1CC17-5487-454A-AAEF-EBD6748DBEC1}" dt="2026-10-17T11:19:59.260" v="17" actId="20577"/>
          <ac:spMkLst>
            <pc:docMk/>
            <pc:sldMk cId="0" sldId="256"/>
            <ac:spMk id="8" creationId="{00000000-0000-0000-0000-000000000000}"/>
          </ac:spMkLst>
        </pc:spChg>
        <pc:spChg chg="mod">
          <ac:chgData name="Shivanshu Kumar Gupta" userId="6da36933b2bb9d5c" providerId="LiveId" clId="{76A1CC17-5487-454A-AAEF-EBD6748DBEC1}" dt="2026-10-17T11:20:15.280" v="67" actId="20577"/>
          <ac:spMkLst>
            <pc:docMk/>
            <pc:sldMk cId="0" sldId="256"/>
            <ac:spMk id="9" creationId="{00000000-0000-0000-0000-000000000000}"/>
          </ac:spMkLst>
        </pc:spChg>
        <pc:spChg chg="mod">
          <ac:chgData name="Shivanshu Kumar Gupta" userId="6da36933b2bb9d5c" providerId="LiveId" clId="{76A1CC17-5487-454A-AAEF-EBD6748DBEC1}" dt="2026-10-17T11:20:20.801" v="80" actId="20577"/>
          <ac:spMkLst>
            <pc:docMk/>
            <pc:sldMk cId="0" sldId="256"/>
            <ac:spMk id="10" creationId="{00000000-0000-0000-0000-000000000000}"/>
          </ac:spMkLst>
        </pc:spChg>
      </pc:sldChg>
      <pc:sldChg chg="delSp modSp mod">
        <pc:chgData name="Shivanshu Kumar Gupta" userId="6da36933b2bb9d5c" providerId="LiveId" clId="{76A1CC17-5487-454A-AAEF-EBD6748DBEC1}" dt="2026-10-17T11:20:39.275" v="105"/>
        <pc:sldMkLst>
          <pc:docMk/>
          <pc:sldMk cId="2863602675" sldId="293"/>
        </pc:sldMkLst>
        <pc:spChg chg="del mod">
          <ac:chgData name="Shivanshu Kumar Gupta" userId="6da36933b2bb9d5c" providerId="LiveId" clId="{76A1CC17-5487-454A-AAEF-EBD6748DBEC1}" dt="2026-10-17T11:20:39.275" v="105"/>
          <ac:spMkLst>
            <pc:docMk/>
            <pc:sldMk cId="2863602675" sldId="293"/>
            <ac:spMk id="4" creationId="{3AE403CE-6D1C-377A-84F4-DD0181466FF0}"/>
          </ac:spMkLst>
        </pc:spChg>
      </pc:sldChg>
      <pc:sldChg chg="delSp modSp mod">
        <pc:chgData name="Shivanshu Kumar Gupta" userId="6da36933b2bb9d5c" providerId="LiveId" clId="{76A1CC17-5487-454A-AAEF-EBD6748DBEC1}" dt="2026-10-17T11:20:47.223" v="120"/>
        <pc:sldMkLst>
          <pc:docMk/>
          <pc:sldMk cId="355727932" sldId="294"/>
        </pc:sldMkLst>
        <pc:spChg chg="del mod">
          <ac:chgData name="Shivanshu Kumar Gupta" userId="6da36933b2bb9d5c" providerId="LiveId" clId="{76A1CC17-5487-454A-AAEF-EBD6748DBEC1}" dt="2026-10-17T11:20:47.223" v="120"/>
          <ac:spMkLst>
            <pc:docMk/>
            <pc:sldMk cId="355727932" sldId="294"/>
            <ac:spMk id="5" creationId="{21859D23-6142-5760-F2B2-6B4596EA2B44}"/>
          </ac:spMkLst>
        </pc:spChg>
      </pc:sldChg>
      <pc:sldChg chg="delSp modSp mod">
        <pc:chgData name="Shivanshu Kumar Gupta" userId="6da36933b2bb9d5c" providerId="LiveId" clId="{76A1CC17-5487-454A-AAEF-EBD6748DBEC1}" dt="2026-10-17T11:20:54.626" v="136"/>
        <pc:sldMkLst>
          <pc:docMk/>
          <pc:sldMk cId="2451245407" sldId="295"/>
        </pc:sldMkLst>
        <pc:spChg chg="del mod">
          <ac:chgData name="Shivanshu Kumar Gupta" userId="6da36933b2bb9d5c" providerId="LiveId" clId="{76A1CC17-5487-454A-AAEF-EBD6748DBEC1}" dt="2026-10-17T11:20:54.626" v="136"/>
          <ac:spMkLst>
            <pc:docMk/>
            <pc:sldMk cId="2451245407" sldId="295"/>
            <ac:spMk id="4" creationId="{3C9AC27E-43BE-D336-7B7D-618F3A474208}"/>
          </ac:spMkLst>
        </pc:spChg>
      </pc:sldChg>
      <pc:sldChg chg="delSp modSp mod">
        <pc:chgData name="Shivanshu Kumar Gupta" userId="6da36933b2bb9d5c" providerId="LiveId" clId="{76A1CC17-5487-454A-AAEF-EBD6748DBEC1}" dt="2026-10-17T11:21:02.522" v="156"/>
        <pc:sldMkLst>
          <pc:docMk/>
          <pc:sldMk cId="549679602" sldId="296"/>
        </pc:sldMkLst>
        <pc:spChg chg="del mod">
          <ac:chgData name="Shivanshu Kumar Gupta" userId="6da36933b2bb9d5c" providerId="LiveId" clId="{76A1CC17-5487-454A-AAEF-EBD6748DBEC1}" dt="2026-10-17T11:21:02.522" v="156"/>
          <ac:spMkLst>
            <pc:docMk/>
            <pc:sldMk cId="549679602" sldId="296"/>
            <ac:spMk id="4" creationId="{18BC06FD-8485-0109-A647-F4C02C0FBB41}"/>
          </ac:spMkLst>
        </pc:spChg>
      </pc:sldChg>
      <pc:sldChg chg="del">
        <pc:chgData name="Shivanshu Kumar Gupta" userId="6da36933b2bb9d5c" providerId="LiveId" clId="{76A1CC17-5487-454A-AAEF-EBD6748DBEC1}" dt="2026-10-17T11:21:22.611" v="158" actId="2696"/>
        <pc:sldMkLst>
          <pc:docMk/>
          <pc:sldMk cId="0" sldId="298"/>
        </pc:sldMkLst>
      </pc:sldChg>
      <pc:sldChg chg="del">
        <pc:chgData name="Shivanshu Kumar Gupta" userId="6da36933b2bb9d5c" providerId="LiveId" clId="{76A1CC17-5487-454A-AAEF-EBD6748DBEC1}" dt="2026-10-17T11:21:19.062" v="157" actId="2696"/>
        <pc:sldMkLst>
          <pc:docMk/>
          <pc:sldMk cId="1224986225" sldId="29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Revenue and EBITDA before forex (₹ crore)</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38654</c:v>
                </c:pt>
                <c:pt idx="1">
                  <c:v>43886</c:v>
                </c:pt>
                <c:pt idx="2">
                  <c:v>48497</c:v>
                </c:pt>
                <c:pt idx="3">
                  <c:v>52578</c:v>
                </c:pt>
                <c:pt idx="4">
                  <c:v>58462</c:v>
                </c:pt>
              </c:numCache>
            </c:numRef>
          </c:val>
          <c:extLst>
            <c:ext xmlns:c16="http://schemas.microsoft.com/office/drawing/2014/chart" uri="{C3380CC4-5D6E-409C-BE32-E72D297353CC}">
              <c16:uniqueId val="{00000000-9C09-4822-AF57-F41A3AACA9C5}"/>
            </c:ext>
          </c:extLst>
        </c:ser>
        <c:ser>
          <c:idx val="1"/>
          <c:order val="1"/>
          <c:tx>
            <c:strRef>
              <c:f>Sheet1!$C$1</c:f>
              <c:strCache>
                <c:ptCount val="1"/>
                <c:pt idx="0">
                  <c:v>EBITDA before forex</c:v>
                </c:pt>
              </c:strCache>
            </c:strRef>
          </c:tx>
          <c:spPr>
            <a:solidFill>
              <a:srgbClr val="3F9A90"/>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10374</c:v>
                </c:pt>
                <c:pt idx="1">
                  <c:v>11773</c:v>
                </c:pt>
                <c:pt idx="2">
                  <c:v>12987</c:v>
                </c:pt>
                <c:pt idx="3">
                  <c:v>15086</c:v>
                </c:pt>
                <c:pt idx="4">
                  <c:v>16491</c:v>
                </c:pt>
              </c:numCache>
            </c:numRef>
          </c:val>
          <c:extLst>
            <c:ext xmlns:c16="http://schemas.microsoft.com/office/drawing/2014/chart" uri="{C3380CC4-5D6E-409C-BE32-E72D297353CC}">
              <c16:uniqueId val="{00000001-9C09-4822-AF57-F41A3AACA9C5}"/>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Liquid funds and borrowings (₹ crore)</a:t>
            </a:r>
          </a:p>
        </c:rich>
      </c:tx>
      <c:overlay val="0"/>
    </c:title>
    <c:autoTitleDeleted val="0"/>
    <c:plotArea>
      <c:layout/>
      <c:barChart>
        <c:barDir val="col"/>
        <c:grouping val="clustered"/>
        <c:varyColors val="0"/>
        <c:ser>
          <c:idx val="0"/>
          <c:order val="0"/>
          <c:tx>
            <c:strRef>
              <c:f>Sheet1!$B$1</c:f>
              <c:strCache>
                <c:ptCount val="1"/>
                <c:pt idx="0">
                  <c:v>Cash, bank and current investments</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12667</c:v>
                </c:pt>
                <c:pt idx="1">
                  <c:v>15143</c:v>
                </c:pt>
                <c:pt idx="2">
                  <c:v>19105</c:v>
                </c:pt>
                <c:pt idx="3">
                  <c:v>24988</c:v>
                </c:pt>
                <c:pt idx="4">
                  <c:v>32537</c:v>
                </c:pt>
              </c:numCache>
            </c:numRef>
          </c:val>
          <c:extLst>
            <c:ext xmlns:c16="http://schemas.microsoft.com/office/drawing/2014/chart" uri="{C3380CC4-5D6E-409C-BE32-E72D297353CC}">
              <c16:uniqueId val="{00000000-1FCE-40B1-B5A7-66CB1392CB49}"/>
            </c:ext>
          </c:extLst>
        </c:ser>
        <c:ser>
          <c:idx val="1"/>
          <c:order val="1"/>
          <c:tx>
            <c:strRef>
              <c:f>Sheet1!$C$1</c:f>
              <c:strCache>
                <c:ptCount val="1"/>
                <c:pt idx="0">
                  <c:v>Borrowings</c:v>
                </c:pt>
              </c:strCache>
            </c:strRef>
          </c:tx>
          <c:spPr>
            <a:solidFill>
              <a:srgbClr val="B5472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931</c:v>
                </c:pt>
                <c:pt idx="1">
                  <c:v>6198</c:v>
                </c:pt>
                <c:pt idx="2">
                  <c:v>2846</c:v>
                </c:pt>
                <c:pt idx="3">
                  <c:v>1870</c:v>
                </c:pt>
                <c:pt idx="4">
                  <c:v>4082</c:v>
                </c:pt>
              </c:numCache>
            </c:numRef>
          </c:val>
          <c:extLst>
            <c:ext xmlns:c16="http://schemas.microsoft.com/office/drawing/2014/chart" uri="{C3380CC4-5D6E-409C-BE32-E72D297353CC}">
              <c16:uniqueId val="{00000001-1FCE-40B1-B5A7-66CB1392CB49}"/>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Operating cash flow and free cash flow (₹ crore)</a:t>
            </a:r>
          </a:p>
        </c:rich>
      </c:tx>
      <c:overlay val="0"/>
    </c:title>
    <c:autoTitleDeleted val="0"/>
    <c:plotArea>
      <c:layout/>
      <c:barChart>
        <c:barDir val="col"/>
        <c:grouping val="clustered"/>
        <c:varyColors val="0"/>
        <c:ser>
          <c:idx val="0"/>
          <c:order val="0"/>
          <c:tx>
            <c:strRef>
              <c:f>Sheet1!$B$1</c:f>
              <c:strCache>
                <c:ptCount val="1"/>
                <c:pt idx="0">
                  <c:v>Operating cash flow</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8985</c:v>
                </c:pt>
                <c:pt idx="1">
                  <c:v>4959</c:v>
                </c:pt>
                <c:pt idx="2">
                  <c:v>12135</c:v>
                </c:pt>
                <c:pt idx="3">
                  <c:v>14072</c:v>
                </c:pt>
                <c:pt idx="4">
                  <c:v>12419</c:v>
                </c:pt>
              </c:numCache>
            </c:numRef>
          </c:val>
          <c:extLst>
            <c:ext xmlns:c16="http://schemas.microsoft.com/office/drawing/2014/chart" uri="{C3380CC4-5D6E-409C-BE32-E72D297353CC}">
              <c16:uniqueId val="{00000000-C960-4A31-943F-229A960C459B}"/>
            </c:ext>
          </c:extLst>
        </c:ser>
        <c:ser>
          <c:idx val="1"/>
          <c:order val="1"/>
          <c:tx>
            <c:strRef>
              <c:f>Sheet1!$C$1</c:f>
              <c:strCache>
                <c:ptCount val="1"/>
                <c:pt idx="0">
                  <c:v>Free cash flow</c:v>
                </c:pt>
              </c:strCache>
            </c:strRef>
          </c:tx>
          <c:spPr>
            <a:solidFill>
              <a:srgbClr val="3F9A90"/>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7490</c:v>
                </c:pt>
                <c:pt idx="1">
                  <c:v>2874</c:v>
                </c:pt>
                <c:pt idx="2">
                  <c:v>9933</c:v>
                </c:pt>
                <c:pt idx="3">
                  <c:v>11944</c:v>
                </c:pt>
                <c:pt idx="4">
                  <c:v>8810</c:v>
                </c:pt>
              </c:numCache>
            </c:numRef>
          </c:val>
          <c:extLst>
            <c:ext xmlns:c16="http://schemas.microsoft.com/office/drawing/2014/chart" uri="{C3380CC4-5D6E-409C-BE32-E72D297353CC}">
              <c16:uniqueId val="{00000001-C960-4A31-943F-229A960C459B}"/>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Margins (% of revenue)</a:t>
            </a:r>
          </a:p>
        </c:rich>
      </c:tx>
      <c:overlay val="0"/>
    </c:title>
    <c:autoTitleDeleted val="0"/>
    <c:plotArea>
      <c:layout/>
      <c:barChart>
        <c:barDir val="col"/>
        <c:grouping val="clustered"/>
        <c:varyColors val="0"/>
        <c:ser>
          <c:idx val="0"/>
          <c:order val="0"/>
          <c:tx>
            <c:strRef>
              <c:f>Sheet1!$B$1</c:f>
              <c:strCache>
                <c:ptCount val="1"/>
                <c:pt idx="0">
                  <c:v>EBITDA before forex</c:v>
                </c:pt>
              </c:strCache>
            </c:strRef>
          </c:tx>
          <c:spPr>
            <a:solidFill>
              <a:srgbClr val="0B4F4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26.8</c:v>
                </c:pt>
                <c:pt idx="1">
                  <c:v>26.8</c:v>
                </c:pt>
                <c:pt idx="2">
                  <c:v>26.8</c:v>
                </c:pt>
                <c:pt idx="3">
                  <c:v>28.7</c:v>
                </c:pt>
                <c:pt idx="4">
                  <c:v>28.2</c:v>
                </c:pt>
              </c:numCache>
            </c:numRef>
          </c:val>
          <c:extLst>
            <c:ext xmlns:c16="http://schemas.microsoft.com/office/drawing/2014/chart" uri="{C3380CC4-5D6E-409C-BE32-E72D297353CC}">
              <c16:uniqueId val="{00000000-5ED4-4E38-AB8D-4C6E527AA810}"/>
            </c:ext>
          </c:extLst>
        </c:ser>
        <c:ser>
          <c:idx val="1"/>
          <c:order val="1"/>
          <c:tx>
            <c:strRef>
              <c:f>Sheet1!$C$1</c:f>
              <c:strCache>
                <c:ptCount val="1"/>
                <c:pt idx="0">
                  <c:v>PAT</c:v>
                </c:pt>
              </c:strCache>
            </c:strRef>
          </c:tx>
          <c:spPr>
            <a:solidFill>
              <a:srgbClr val="3F9A90"/>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8.5</c:v>
                </c:pt>
                <c:pt idx="1">
                  <c:v>19.3</c:v>
                </c:pt>
                <c:pt idx="2">
                  <c:v>19.7</c:v>
                </c:pt>
                <c:pt idx="3">
                  <c:v>20.8</c:v>
                </c:pt>
                <c:pt idx="4">
                  <c:v>19.600000000000001</c:v>
                </c:pt>
              </c:numCache>
            </c:numRef>
          </c:val>
          <c:extLst>
            <c:ext xmlns:c16="http://schemas.microsoft.com/office/drawing/2014/chart" uri="{C3380CC4-5D6E-409C-BE32-E72D297353CC}">
              <c16:uniqueId val="{00000001-5ED4-4E38-AB8D-4C6E527AA810}"/>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Return on equity and capital employed (%)</a:t>
            </a:r>
          </a:p>
        </c:rich>
      </c:tx>
      <c:overlay val="0"/>
    </c:title>
    <c:autoTitleDeleted val="0"/>
    <c:plotArea>
      <c:layout/>
      <c:barChart>
        <c:barDir val="col"/>
        <c:grouping val="clustered"/>
        <c:varyColors val="0"/>
        <c:ser>
          <c:idx val="0"/>
          <c:order val="0"/>
          <c:tx>
            <c:strRef>
              <c:f>Sheet1!$B$1</c:f>
              <c:strCache>
                <c:ptCount val="1"/>
                <c:pt idx="0">
                  <c:v>ROCE</c:v>
                </c:pt>
              </c:strCache>
            </c:strRef>
          </c:tx>
          <c:spPr>
            <a:solidFill>
              <a:srgbClr val="0B4F4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17.600000000000001</c:v>
                </c:pt>
                <c:pt idx="1">
                  <c:v>17.2</c:v>
                </c:pt>
                <c:pt idx="2">
                  <c:v>18.3</c:v>
                </c:pt>
                <c:pt idx="3">
                  <c:v>20.6</c:v>
                </c:pt>
                <c:pt idx="4">
                  <c:v>20.9</c:v>
                </c:pt>
              </c:numCache>
            </c:numRef>
          </c:val>
          <c:extLst>
            <c:ext xmlns:c16="http://schemas.microsoft.com/office/drawing/2014/chart" uri="{C3380CC4-5D6E-409C-BE32-E72D297353CC}">
              <c16:uniqueId val="{00000000-AFE0-4250-ACBC-35012677C20B}"/>
            </c:ext>
          </c:extLst>
        </c:ser>
        <c:ser>
          <c:idx val="1"/>
          <c:order val="1"/>
          <c:tx>
            <c:strRef>
              <c:f>Sheet1!$C$1</c:f>
              <c:strCache>
                <c:ptCount val="1"/>
                <c:pt idx="0">
                  <c:v>ROE</c:v>
                </c:pt>
              </c:strCache>
            </c:strRef>
          </c:tx>
          <c:spPr>
            <a:solidFill>
              <a:srgbClr val="B5472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6.9</c:v>
                </c:pt>
                <c:pt idx="1">
                  <c:v>16.3</c:v>
                </c:pt>
                <c:pt idx="2">
                  <c:v>16</c:v>
                </c:pt>
                <c:pt idx="3">
                  <c:v>16.100000000000001</c:v>
                </c:pt>
                <c:pt idx="4">
                  <c:v>14.7</c:v>
                </c:pt>
              </c:numCache>
            </c:numRef>
          </c:val>
          <c:extLst>
            <c:ext xmlns:c16="http://schemas.microsoft.com/office/drawing/2014/chart" uri="{C3380CC4-5D6E-409C-BE32-E72D297353CC}">
              <c16:uniqueId val="{00000001-AFE0-4250-ACBC-35012677C20B}"/>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Cash conversion cycle (days)</a:t>
            </a:r>
          </a:p>
        </c:rich>
      </c:tx>
      <c:overlay val="0"/>
    </c:title>
    <c:autoTitleDeleted val="0"/>
    <c:plotArea>
      <c:layout/>
      <c:barChart>
        <c:barDir val="col"/>
        <c:grouping val="clustered"/>
        <c:varyColors val="0"/>
        <c:ser>
          <c:idx val="0"/>
          <c:order val="0"/>
          <c:tx>
            <c:strRef>
              <c:f>Sheet1!$B$1</c:f>
              <c:strCache>
                <c:ptCount val="1"/>
                <c:pt idx="0">
                  <c:v>Cash conversion cycle</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138</c:v>
                </c:pt>
                <c:pt idx="1">
                  <c:v>130</c:v>
                </c:pt>
                <c:pt idx="2">
                  <c:v>119</c:v>
                </c:pt>
                <c:pt idx="3">
                  <c:v>113</c:v>
                </c:pt>
                <c:pt idx="4">
                  <c:v>115</c:v>
                </c:pt>
              </c:numCache>
            </c:numRef>
          </c:val>
          <c:extLst>
            <c:ext xmlns:c16="http://schemas.microsoft.com/office/drawing/2014/chart" uri="{C3380CC4-5D6E-409C-BE32-E72D297353CC}">
              <c16:uniqueId val="{00000000-2A5A-4320-BDBD-70ACBD36A4A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Revenue and EBITDA (₹ crore)</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21545</c:v>
                </c:pt>
                <c:pt idx="1">
                  <c:v>24670</c:v>
                </c:pt>
                <c:pt idx="2">
                  <c:v>28011</c:v>
                </c:pt>
                <c:pt idx="3">
                  <c:v>32644</c:v>
                </c:pt>
                <c:pt idx="4">
                  <c:v>33700</c:v>
                </c:pt>
              </c:numCache>
            </c:numRef>
          </c:val>
          <c:extLst>
            <c:ext xmlns:c16="http://schemas.microsoft.com/office/drawing/2014/chart" uri="{C3380CC4-5D6E-409C-BE32-E72D297353CC}">
              <c16:uniqueId val="{00000000-BF58-47F8-ABFD-27FA424B7C8A}"/>
            </c:ext>
          </c:extLst>
        </c:ser>
        <c:ser>
          <c:idx val="1"/>
          <c:order val="1"/>
          <c:tx>
            <c:strRef>
              <c:f>Sheet1!$C$1</c:f>
              <c:strCache>
                <c:ptCount val="1"/>
                <c:pt idx="0">
                  <c:v>EBITDA</c:v>
                </c:pt>
              </c:strCache>
            </c:strRef>
          </c:tx>
          <c:spPr>
            <a:solidFill>
              <a:srgbClr val="3F9A90"/>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4698</c:v>
                </c:pt>
                <c:pt idx="1">
                  <c:v>6419</c:v>
                </c:pt>
                <c:pt idx="2">
                  <c:v>7933</c:v>
                </c:pt>
                <c:pt idx="3">
                  <c:v>8716</c:v>
                </c:pt>
                <c:pt idx="4">
                  <c:v>6805</c:v>
                </c:pt>
              </c:numCache>
            </c:numRef>
          </c:val>
          <c:extLst>
            <c:ext xmlns:c16="http://schemas.microsoft.com/office/drawing/2014/chart" uri="{C3380CC4-5D6E-409C-BE32-E72D297353CC}">
              <c16:uniqueId val="{00000001-BF58-47F8-ABFD-27FA424B7C8A}"/>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Liquid funds and borrowings (₹ crore)</a:t>
            </a:r>
          </a:p>
        </c:rich>
      </c:tx>
      <c:overlay val="0"/>
    </c:title>
    <c:autoTitleDeleted val="0"/>
    <c:plotArea>
      <c:layout/>
      <c:barChart>
        <c:barDir val="col"/>
        <c:grouping val="clustered"/>
        <c:varyColors val="0"/>
        <c:ser>
          <c:idx val="0"/>
          <c:order val="0"/>
          <c:tx>
            <c:strRef>
              <c:f>Sheet1!$B$1</c:f>
              <c:strCache>
                <c:ptCount val="1"/>
                <c:pt idx="0">
                  <c:v>Cash, bank and current investments</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4437</c:v>
                </c:pt>
                <c:pt idx="1">
                  <c:v>6180</c:v>
                </c:pt>
                <c:pt idx="2">
                  <c:v>6133</c:v>
                </c:pt>
                <c:pt idx="3">
                  <c:v>5791</c:v>
                </c:pt>
                <c:pt idx="4">
                  <c:v>7172</c:v>
                </c:pt>
              </c:numCache>
            </c:numRef>
          </c:val>
          <c:extLst>
            <c:ext xmlns:c16="http://schemas.microsoft.com/office/drawing/2014/chart" uri="{C3380CC4-5D6E-409C-BE32-E72D297353CC}">
              <c16:uniqueId val="{00000000-A490-43C0-9B30-19D8A159D5D9}"/>
            </c:ext>
          </c:extLst>
        </c:ser>
        <c:ser>
          <c:idx val="1"/>
          <c:order val="1"/>
          <c:tx>
            <c:strRef>
              <c:f>Sheet1!$C$1</c:f>
              <c:strCache>
                <c:ptCount val="1"/>
                <c:pt idx="0">
                  <c:v>Borrowings</c:v>
                </c:pt>
              </c:strCache>
            </c:strRef>
          </c:tx>
          <c:spPr>
            <a:solidFill>
              <a:srgbClr val="B5472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3088</c:v>
                </c:pt>
                <c:pt idx="1">
                  <c:v>1119</c:v>
                </c:pt>
                <c:pt idx="2">
                  <c:v>1652</c:v>
                </c:pt>
                <c:pt idx="3">
                  <c:v>4185</c:v>
                </c:pt>
                <c:pt idx="4">
                  <c:v>6294</c:v>
                </c:pt>
              </c:numCache>
            </c:numRef>
          </c:val>
          <c:extLst>
            <c:ext xmlns:c16="http://schemas.microsoft.com/office/drawing/2014/chart" uri="{C3380CC4-5D6E-409C-BE32-E72D297353CC}">
              <c16:uniqueId val="{00000001-A490-43C0-9B30-19D8A159D5D9}"/>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Operating cash flow and free cash flow (₹ crore)</a:t>
            </a:r>
          </a:p>
        </c:rich>
      </c:tx>
      <c:overlay val="0"/>
    </c:title>
    <c:autoTitleDeleted val="0"/>
    <c:plotArea>
      <c:layout/>
      <c:barChart>
        <c:barDir val="col"/>
        <c:grouping val="clustered"/>
        <c:varyColors val="0"/>
        <c:ser>
          <c:idx val="0"/>
          <c:order val="0"/>
          <c:tx>
            <c:strRef>
              <c:f>Sheet1!$B$1</c:f>
              <c:strCache>
                <c:ptCount val="1"/>
                <c:pt idx="0">
                  <c:v>Operating cash flow</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2811</c:v>
                </c:pt>
                <c:pt idx="1">
                  <c:v>5887</c:v>
                </c:pt>
                <c:pt idx="2">
                  <c:v>4543</c:v>
                </c:pt>
                <c:pt idx="3">
                  <c:v>4643</c:v>
                </c:pt>
                <c:pt idx="4">
                  <c:v>5674</c:v>
                </c:pt>
              </c:numCache>
            </c:numRef>
          </c:val>
          <c:extLst>
            <c:ext xmlns:c16="http://schemas.microsoft.com/office/drawing/2014/chart" uri="{C3380CC4-5D6E-409C-BE32-E72D297353CC}">
              <c16:uniqueId val="{00000000-F107-44C6-881B-06F958CFFD75}"/>
            </c:ext>
          </c:extLst>
        </c:ser>
        <c:ser>
          <c:idx val="1"/>
          <c:order val="1"/>
          <c:tx>
            <c:strRef>
              <c:f>Sheet1!$C$1</c:f>
              <c:strCache>
                <c:ptCount val="1"/>
                <c:pt idx="0">
                  <c:v>Free cash flow</c:v>
                </c:pt>
              </c:strCache>
            </c:strRef>
          </c:tx>
          <c:spPr>
            <a:solidFill>
              <a:srgbClr val="3F9A90"/>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906</c:v>
                </c:pt>
                <c:pt idx="1">
                  <c:v>4001</c:v>
                </c:pt>
                <c:pt idx="2">
                  <c:v>1800</c:v>
                </c:pt>
                <c:pt idx="3">
                  <c:v>1203</c:v>
                </c:pt>
                <c:pt idx="4">
                  <c:v>1833</c:v>
                </c:pt>
              </c:numCache>
            </c:numRef>
          </c:val>
          <c:extLst>
            <c:ext xmlns:c16="http://schemas.microsoft.com/office/drawing/2014/chart" uri="{C3380CC4-5D6E-409C-BE32-E72D297353CC}">
              <c16:uniqueId val="{00000001-F107-44C6-881B-06F958CFFD75}"/>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Margins (% of revenue)</a:t>
            </a:r>
          </a:p>
        </c:rich>
      </c:tx>
      <c:overlay val="0"/>
    </c:title>
    <c:autoTitleDeleted val="0"/>
    <c:plotArea>
      <c:layout/>
      <c:barChart>
        <c:barDir val="col"/>
        <c:grouping val="clustered"/>
        <c:varyColors val="0"/>
        <c:ser>
          <c:idx val="0"/>
          <c:order val="0"/>
          <c:tx>
            <c:strRef>
              <c:f>Sheet1!$B$1</c:f>
              <c:strCache>
                <c:ptCount val="1"/>
                <c:pt idx="0">
                  <c:v>EBITDA</c:v>
                </c:pt>
              </c:strCache>
            </c:strRef>
          </c:tx>
          <c:spPr>
            <a:solidFill>
              <a:srgbClr val="0B4F4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21.8</c:v>
                </c:pt>
                <c:pt idx="1">
                  <c:v>26</c:v>
                </c:pt>
                <c:pt idx="2">
                  <c:v>28.3</c:v>
                </c:pt>
                <c:pt idx="3">
                  <c:v>26.7</c:v>
                </c:pt>
                <c:pt idx="4">
                  <c:v>20.2</c:v>
                </c:pt>
              </c:numCache>
            </c:numRef>
          </c:val>
          <c:extLst>
            <c:ext xmlns:c16="http://schemas.microsoft.com/office/drawing/2014/chart" uri="{C3380CC4-5D6E-409C-BE32-E72D297353CC}">
              <c16:uniqueId val="{00000000-3748-4834-98FC-239E9958649E}"/>
            </c:ext>
          </c:extLst>
        </c:ser>
        <c:ser>
          <c:idx val="1"/>
          <c:order val="1"/>
          <c:tx>
            <c:strRef>
              <c:f>Sheet1!$C$1</c:f>
              <c:strCache>
                <c:ptCount val="1"/>
                <c:pt idx="0">
                  <c:v>PAT</c:v>
                </c:pt>
              </c:strCache>
            </c:strRef>
          </c:tx>
          <c:spPr>
            <a:solidFill>
              <a:srgbClr val="3F9A90"/>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10.1</c:v>
                </c:pt>
                <c:pt idx="1">
                  <c:v>18.3</c:v>
                </c:pt>
                <c:pt idx="2">
                  <c:v>19.899999999999999</c:v>
                </c:pt>
                <c:pt idx="3">
                  <c:v>17.3</c:v>
                </c:pt>
                <c:pt idx="4">
                  <c:v>12.5</c:v>
                </c:pt>
              </c:numCache>
            </c:numRef>
          </c:val>
          <c:extLst>
            <c:ext xmlns:c16="http://schemas.microsoft.com/office/drawing/2014/chart" uri="{C3380CC4-5D6E-409C-BE32-E72D297353CC}">
              <c16:uniqueId val="{00000001-3748-4834-98FC-239E9958649E}"/>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Return on equity and capital employed (%)</a:t>
            </a:r>
          </a:p>
        </c:rich>
      </c:tx>
      <c:overlay val="0"/>
    </c:title>
    <c:autoTitleDeleted val="0"/>
    <c:plotArea>
      <c:layout/>
      <c:barChart>
        <c:barDir val="col"/>
        <c:grouping val="clustered"/>
        <c:varyColors val="0"/>
        <c:ser>
          <c:idx val="0"/>
          <c:order val="0"/>
          <c:tx>
            <c:strRef>
              <c:f>Sheet1!$B$1</c:f>
              <c:strCache>
                <c:ptCount val="1"/>
                <c:pt idx="0">
                  <c:v>ROCE</c:v>
                </c:pt>
              </c:strCache>
            </c:strRef>
          </c:tx>
          <c:spPr>
            <a:solidFill>
              <a:srgbClr val="0B4F4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16</c:v>
                </c:pt>
                <c:pt idx="1">
                  <c:v>28.2</c:v>
                </c:pt>
                <c:pt idx="2">
                  <c:v>27.8</c:v>
                </c:pt>
                <c:pt idx="3">
                  <c:v>24.2</c:v>
                </c:pt>
                <c:pt idx="4">
                  <c:v>14.8</c:v>
                </c:pt>
              </c:numCache>
            </c:numRef>
          </c:val>
          <c:extLst>
            <c:ext xmlns:c16="http://schemas.microsoft.com/office/drawing/2014/chart" uri="{C3380CC4-5D6E-409C-BE32-E72D297353CC}">
              <c16:uniqueId val="{00000000-1640-4ABC-B139-CA842AD8AA7A}"/>
            </c:ext>
          </c:extLst>
        </c:ser>
        <c:ser>
          <c:idx val="1"/>
          <c:order val="1"/>
          <c:tx>
            <c:strRef>
              <c:f>Sheet1!$C$1</c:f>
              <c:strCache>
                <c:ptCount val="1"/>
                <c:pt idx="0">
                  <c:v>ROE</c:v>
                </c:pt>
              </c:strCache>
            </c:strRef>
          </c:tx>
          <c:spPr>
            <a:solidFill>
              <a:srgbClr val="B5472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11.8</c:v>
                </c:pt>
                <c:pt idx="1">
                  <c:v>21.2</c:v>
                </c:pt>
                <c:pt idx="2">
                  <c:v>21.6</c:v>
                </c:pt>
                <c:pt idx="3">
                  <c:v>18.3</c:v>
                </c:pt>
                <c:pt idx="4">
                  <c:v>11.7</c:v>
                </c:pt>
              </c:numCache>
            </c:numRef>
          </c:val>
          <c:extLst>
            <c:ext xmlns:c16="http://schemas.microsoft.com/office/drawing/2014/chart" uri="{C3380CC4-5D6E-409C-BE32-E72D297353CC}">
              <c16:uniqueId val="{00000001-1640-4ABC-B139-CA842AD8AA7A}"/>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Cash conversion cycle (days)</a:t>
            </a:r>
          </a:p>
        </c:rich>
      </c:tx>
      <c:overlay val="0"/>
    </c:title>
    <c:autoTitleDeleted val="0"/>
    <c:plotArea>
      <c:layout/>
      <c:barChart>
        <c:barDir val="col"/>
        <c:grouping val="clustered"/>
        <c:varyColors val="0"/>
        <c:ser>
          <c:idx val="0"/>
          <c:order val="0"/>
          <c:tx>
            <c:strRef>
              <c:f>Sheet1!$B$1</c:f>
              <c:strCache>
                <c:ptCount val="1"/>
                <c:pt idx="0">
                  <c:v>Cash conversion cycle</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146</c:v>
                </c:pt>
                <c:pt idx="1">
                  <c:v>143</c:v>
                </c:pt>
                <c:pt idx="2">
                  <c:v>141</c:v>
                </c:pt>
                <c:pt idx="3">
                  <c:v>141</c:v>
                </c:pt>
                <c:pt idx="4">
                  <c:v>153</c:v>
                </c:pt>
              </c:numCache>
            </c:numRef>
          </c:val>
          <c:extLst>
            <c:ext xmlns:c16="http://schemas.microsoft.com/office/drawing/2014/chart" uri="{C3380CC4-5D6E-409C-BE32-E72D297353CC}">
              <c16:uniqueId val="{00000000-91EA-4371-944F-B3E1EB6BFCF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18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Revenue and EBITDA before forex (₹ crore)</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16405</c:v>
                </c:pt>
                <c:pt idx="1">
                  <c:v>16642</c:v>
                </c:pt>
                <c:pt idx="2">
                  <c:v>20011</c:v>
                </c:pt>
                <c:pt idx="3">
                  <c:v>22708</c:v>
                </c:pt>
                <c:pt idx="4">
                  <c:v>27958</c:v>
                </c:pt>
              </c:numCache>
            </c:numRef>
          </c:val>
          <c:extLst>
            <c:ext xmlns:c16="http://schemas.microsoft.com/office/drawing/2014/chart" uri="{C3380CC4-5D6E-409C-BE32-E72D297353CC}">
              <c16:uniqueId val="{00000000-4A8B-43FD-858B-E75C8A3EAA8C}"/>
            </c:ext>
          </c:extLst>
        </c:ser>
        <c:ser>
          <c:idx val="1"/>
          <c:order val="1"/>
          <c:tx>
            <c:strRef>
              <c:f>Sheet1!$C$1</c:f>
              <c:strCache>
                <c:ptCount val="1"/>
                <c:pt idx="0">
                  <c:v>EBITDA before forex</c:v>
                </c:pt>
              </c:strCache>
            </c:strRef>
          </c:tx>
          <c:spPr>
            <a:solidFill>
              <a:srgbClr val="3F9A90"/>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2097</c:v>
                </c:pt>
                <c:pt idx="1">
                  <c:v>1721</c:v>
                </c:pt>
                <c:pt idx="2">
                  <c:v>3800</c:v>
                </c:pt>
                <c:pt idx="3">
                  <c:v>5278</c:v>
                </c:pt>
                <c:pt idx="4">
                  <c:v>8160</c:v>
                </c:pt>
              </c:numCache>
            </c:numRef>
          </c:val>
          <c:extLst>
            <c:ext xmlns:c16="http://schemas.microsoft.com/office/drawing/2014/chart" uri="{C3380CC4-5D6E-409C-BE32-E72D297353CC}">
              <c16:uniqueId val="{00000001-4A8B-43FD-858B-E75C8A3EAA8C}"/>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Liquid funds and borrowings (₹ crore)</a:t>
            </a:r>
          </a:p>
        </c:rich>
      </c:tx>
      <c:overlay val="0"/>
    </c:title>
    <c:autoTitleDeleted val="0"/>
    <c:plotArea>
      <c:layout/>
      <c:barChart>
        <c:barDir val="col"/>
        <c:grouping val="clustered"/>
        <c:varyColors val="0"/>
        <c:ser>
          <c:idx val="0"/>
          <c:order val="0"/>
          <c:tx>
            <c:strRef>
              <c:f>Sheet1!$B$1</c:f>
              <c:strCache>
                <c:ptCount val="1"/>
                <c:pt idx="0">
                  <c:v>Cash, bank and current investments</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1921</c:v>
                </c:pt>
                <c:pt idx="1">
                  <c:v>1733</c:v>
                </c:pt>
                <c:pt idx="2">
                  <c:v>2049</c:v>
                </c:pt>
                <c:pt idx="3">
                  <c:v>4201</c:v>
                </c:pt>
                <c:pt idx="4">
                  <c:v>9230</c:v>
                </c:pt>
              </c:numCache>
            </c:numRef>
          </c:val>
          <c:extLst>
            <c:ext xmlns:c16="http://schemas.microsoft.com/office/drawing/2014/chart" uri="{C3380CC4-5D6E-409C-BE32-E72D297353CC}">
              <c16:uniqueId val="{00000000-D886-40FA-BB8A-0F3E6602ADDA}"/>
            </c:ext>
          </c:extLst>
        </c:ser>
        <c:ser>
          <c:idx val="1"/>
          <c:order val="1"/>
          <c:tx>
            <c:strRef>
              <c:f>Sheet1!$C$1</c:f>
              <c:strCache>
                <c:ptCount val="1"/>
                <c:pt idx="0">
                  <c:v>Borrowings</c:v>
                </c:pt>
              </c:strCache>
            </c:strRef>
          </c:tx>
          <c:spPr>
            <a:solidFill>
              <a:srgbClr val="B5472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3844</c:v>
                </c:pt>
                <c:pt idx="1">
                  <c:v>4244</c:v>
                </c:pt>
                <c:pt idx="2">
                  <c:v>2670</c:v>
                </c:pt>
                <c:pt idx="3">
                  <c:v>5077</c:v>
                </c:pt>
                <c:pt idx="4">
                  <c:v>5910</c:v>
                </c:pt>
              </c:numCache>
            </c:numRef>
          </c:val>
          <c:extLst>
            <c:ext xmlns:c16="http://schemas.microsoft.com/office/drawing/2014/chart" uri="{C3380CC4-5D6E-409C-BE32-E72D297353CC}">
              <c16:uniqueId val="{00000001-D886-40FA-BB8A-0F3E6602ADDA}"/>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sz="1200" b="1" i="0" u="none" strike="noStrike">
                <a:solidFill>
                  <a:srgbClr val="1D2B2A"/>
                </a:solidFill>
                <a:latin typeface="+mn-lt"/>
              </a:rPr>
              <a:t>Operating cash flow and free cash flow (₹ crore)</a:t>
            </a:r>
          </a:p>
        </c:rich>
      </c:tx>
      <c:overlay val="0"/>
    </c:title>
    <c:autoTitleDeleted val="0"/>
    <c:plotArea>
      <c:layout/>
      <c:barChart>
        <c:barDir val="col"/>
        <c:grouping val="clustered"/>
        <c:varyColors val="0"/>
        <c:ser>
          <c:idx val="0"/>
          <c:order val="0"/>
          <c:tx>
            <c:strRef>
              <c:f>Sheet1!$B$1</c:f>
              <c:strCache>
                <c:ptCount val="1"/>
                <c:pt idx="0">
                  <c:v>Operating cash flow</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367</c:v>
                </c:pt>
                <c:pt idx="1">
                  <c:v>1897</c:v>
                </c:pt>
                <c:pt idx="2">
                  <c:v>3648</c:v>
                </c:pt>
                <c:pt idx="3">
                  <c:v>3000</c:v>
                </c:pt>
                <c:pt idx="4">
                  <c:v>7335</c:v>
                </c:pt>
              </c:numCache>
            </c:numRef>
          </c:val>
          <c:extLst>
            <c:ext xmlns:c16="http://schemas.microsoft.com/office/drawing/2014/chart" uri="{C3380CC4-5D6E-409C-BE32-E72D297353CC}">
              <c16:uniqueId val="{00000000-7B5B-448D-9BF3-D5FF6428A260}"/>
            </c:ext>
          </c:extLst>
        </c:ser>
        <c:ser>
          <c:idx val="1"/>
          <c:order val="1"/>
          <c:tx>
            <c:strRef>
              <c:f>Sheet1!$C$1</c:f>
              <c:strCache>
                <c:ptCount val="1"/>
                <c:pt idx="0">
                  <c:v>Free cash flow</c:v>
                </c:pt>
              </c:strCache>
            </c:strRef>
          </c:tx>
          <c:spPr>
            <a:solidFill>
              <a:srgbClr val="3F9A90"/>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-538</c:v>
                </c:pt>
                <c:pt idx="1">
                  <c:v>397</c:v>
                </c:pt>
                <c:pt idx="2">
                  <c:v>2719</c:v>
                </c:pt>
                <c:pt idx="3">
                  <c:v>1318</c:v>
                </c:pt>
                <c:pt idx="4">
                  <c:v>5280</c:v>
                </c:pt>
              </c:numCache>
            </c:numRef>
          </c:val>
          <c:extLst>
            <c:ext xmlns:c16="http://schemas.microsoft.com/office/drawing/2014/chart" uri="{C3380CC4-5D6E-409C-BE32-E72D297353CC}">
              <c16:uniqueId val="{00000001-7B5B-448D-9BF3-D5FF6428A260}"/>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Margins (% of revenue)</a:t>
            </a:r>
          </a:p>
        </c:rich>
      </c:tx>
      <c:overlay val="0"/>
    </c:title>
    <c:autoTitleDeleted val="0"/>
    <c:plotArea>
      <c:layout/>
      <c:barChart>
        <c:barDir val="col"/>
        <c:grouping val="clustered"/>
        <c:varyColors val="0"/>
        <c:ser>
          <c:idx val="0"/>
          <c:order val="0"/>
          <c:tx>
            <c:strRef>
              <c:f>Sheet1!$B$1</c:f>
              <c:strCache>
                <c:ptCount val="1"/>
                <c:pt idx="0">
                  <c:v>EBITDA before forex</c:v>
                </c:pt>
              </c:strCache>
            </c:strRef>
          </c:tx>
          <c:spPr>
            <a:solidFill>
              <a:srgbClr val="0B4F4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12.8</c:v>
                </c:pt>
                <c:pt idx="1">
                  <c:v>10.3</c:v>
                </c:pt>
                <c:pt idx="2">
                  <c:v>19</c:v>
                </c:pt>
                <c:pt idx="3">
                  <c:v>23.2</c:v>
                </c:pt>
                <c:pt idx="4">
                  <c:v>29.2</c:v>
                </c:pt>
              </c:numCache>
            </c:numRef>
          </c:val>
          <c:extLst>
            <c:ext xmlns:c16="http://schemas.microsoft.com/office/drawing/2014/chart" uri="{C3380CC4-5D6E-409C-BE32-E72D297353CC}">
              <c16:uniqueId val="{00000000-3F4A-4D02-B55B-06FF0286089F}"/>
            </c:ext>
          </c:extLst>
        </c:ser>
        <c:ser>
          <c:idx val="1"/>
          <c:order val="1"/>
          <c:tx>
            <c:strRef>
              <c:f>Sheet1!$C$1</c:f>
              <c:strCache>
                <c:ptCount val="1"/>
                <c:pt idx="0">
                  <c:v>PAT</c:v>
                </c:pt>
              </c:strCache>
            </c:strRef>
          </c:tx>
          <c:spPr>
            <a:solidFill>
              <a:srgbClr val="3F9A90"/>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-9.3000000000000007</c:v>
                </c:pt>
                <c:pt idx="1">
                  <c:v>2.6</c:v>
                </c:pt>
                <c:pt idx="2">
                  <c:v>9.6</c:v>
                </c:pt>
                <c:pt idx="3">
                  <c:v>14.5</c:v>
                </c:pt>
                <c:pt idx="4">
                  <c:v>19.100000000000001</c:v>
                </c:pt>
              </c:numCache>
            </c:numRef>
          </c:val>
          <c:extLst>
            <c:ext xmlns:c16="http://schemas.microsoft.com/office/drawing/2014/chart" uri="{C3380CC4-5D6E-409C-BE32-E72D297353CC}">
              <c16:uniqueId val="{00000001-3F4A-4D02-B55B-06FF0286089F}"/>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40"/>
          <c:min val="-2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Return on equity and capital employed (%)</a:t>
            </a:r>
          </a:p>
        </c:rich>
      </c:tx>
      <c:overlay val="0"/>
    </c:title>
    <c:autoTitleDeleted val="0"/>
    <c:plotArea>
      <c:layout/>
      <c:barChart>
        <c:barDir val="col"/>
        <c:grouping val="clustered"/>
        <c:varyColors val="0"/>
        <c:ser>
          <c:idx val="0"/>
          <c:order val="0"/>
          <c:tx>
            <c:strRef>
              <c:f>Sheet1!$B$1</c:f>
              <c:strCache>
                <c:ptCount val="1"/>
                <c:pt idx="0">
                  <c:v>ROCE</c:v>
                </c:pt>
              </c:strCache>
            </c:strRef>
          </c:tx>
          <c:spPr>
            <a:solidFill>
              <a:srgbClr val="0B4F4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4.5</c:v>
                </c:pt>
                <c:pt idx="1">
                  <c:v>7.3</c:v>
                </c:pt>
                <c:pt idx="2">
                  <c:v>18.7</c:v>
                </c:pt>
                <c:pt idx="3">
                  <c:v>24.1</c:v>
                </c:pt>
                <c:pt idx="4">
                  <c:v>34.200000000000003</c:v>
                </c:pt>
              </c:numCache>
            </c:numRef>
          </c:val>
          <c:extLst>
            <c:ext xmlns:c16="http://schemas.microsoft.com/office/drawing/2014/chart" uri="{C3380CC4-5D6E-409C-BE32-E72D297353CC}">
              <c16:uniqueId val="{00000000-F2F0-46A8-982C-5EDC2194EDB7}"/>
            </c:ext>
          </c:extLst>
        </c:ser>
        <c:ser>
          <c:idx val="1"/>
          <c:order val="1"/>
          <c:tx>
            <c:strRef>
              <c:f>Sheet1!$C$1</c:f>
              <c:strCache>
                <c:ptCount val="1"/>
                <c:pt idx="0">
                  <c:v>ROE</c:v>
                </c:pt>
              </c:strCache>
            </c:strRef>
          </c:tx>
          <c:spPr>
            <a:solidFill>
              <a:srgbClr val="B5472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-11.8</c:v>
                </c:pt>
                <c:pt idx="1">
                  <c:v>3.5</c:v>
                </c:pt>
                <c:pt idx="2">
                  <c:v>14.3</c:v>
                </c:pt>
                <c:pt idx="3">
                  <c:v>20.8</c:v>
                </c:pt>
                <c:pt idx="4">
                  <c:v>26.9</c:v>
                </c:pt>
              </c:numCache>
            </c:numRef>
          </c:val>
          <c:extLst>
            <c:ext xmlns:c16="http://schemas.microsoft.com/office/drawing/2014/chart" uri="{C3380CC4-5D6E-409C-BE32-E72D297353CC}">
              <c16:uniqueId val="{00000001-F2F0-46A8-982C-5EDC2194EDB7}"/>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40"/>
          <c:min val="-3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Cash conversion cycle (days)</a:t>
            </a:r>
          </a:p>
        </c:rich>
      </c:tx>
      <c:overlay val="0"/>
    </c:title>
    <c:autoTitleDeleted val="0"/>
    <c:plotArea>
      <c:layout/>
      <c:barChart>
        <c:barDir val="col"/>
        <c:grouping val="clustered"/>
        <c:varyColors val="0"/>
        <c:ser>
          <c:idx val="0"/>
          <c:order val="0"/>
          <c:tx>
            <c:strRef>
              <c:f>Sheet1!$B$1</c:f>
              <c:strCache>
                <c:ptCount val="1"/>
                <c:pt idx="0">
                  <c:v>Cash conversion cycle</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146</c:v>
                </c:pt>
                <c:pt idx="1">
                  <c:v>143</c:v>
                </c:pt>
                <c:pt idx="2">
                  <c:v>120</c:v>
                </c:pt>
                <c:pt idx="3">
                  <c:v>118</c:v>
                </c:pt>
                <c:pt idx="4">
                  <c:v>108</c:v>
                </c:pt>
              </c:numCache>
            </c:numRef>
          </c:val>
          <c:extLst>
            <c:ext xmlns:c16="http://schemas.microsoft.com/office/drawing/2014/chart" uri="{C3380CC4-5D6E-409C-BE32-E72D297353CC}">
              <c16:uniqueId val="{00000000-FC69-4534-BD29-2F97785E009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18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Revenue and EBITDA (₹ crore)</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21763</c:v>
                </c:pt>
                <c:pt idx="1">
                  <c:v>22753</c:v>
                </c:pt>
                <c:pt idx="2">
                  <c:v>25774</c:v>
                </c:pt>
                <c:pt idx="3">
                  <c:v>27548</c:v>
                </c:pt>
                <c:pt idx="4">
                  <c:v>28163</c:v>
                </c:pt>
              </c:numCache>
            </c:numRef>
          </c:val>
          <c:extLst>
            <c:ext xmlns:c16="http://schemas.microsoft.com/office/drawing/2014/chart" uri="{C3380CC4-5D6E-409C-BE32-E72D297353CC}">
              <c16:uniqueId val="{00000000-72DD-4AC8-B069-C9CF27A584EF}"/>
            </c:ext>
          </c:extLst>
        </c:ser>
        <c:ser>
          <c:idx val="1"/>
          <c:order val="1"/>
          <c:tx>
            <c:strRef>
              <c:f>Sheet1!$C$1</c:f>
              <c:strCache>
                <c:ptCount val="1"/>
                <c:pt idx="0">
                  <c:v>EBITDA</c:v>
                </c:pt>
              </c:strCache>
            </c:strRef>
          </c:tx>
          <c:spPr>
            <a:solidFill>
              <a:srgbClr val="3F9A90"/>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4553</c:v>
                </c:pt>
                <c:pt idx="1">
                  <c:v>5027</c:v>
                </c:pt>
                <c:pt idx="2">
                  <c:v>6291</c:v>
                </c:pt>
                <c:pt idx="3">
                  <c:v>7128</c:v>
                </c:pt>
                <c:pt idx="4">
                  <c:v>5925</c:v>
                </c:pt>
              </c:numCache>
            </c:numRef>
          </c:val>
          <c:extLst>
            <c:ext xmlns:c16="http://schemas.microsoft.com/office/drawing/2014/chart" uri="{C3380CC4-5D6E-409C-BE32-E72D297353CC}">
              <c16:uniqueId val="{00000001-72DD-4AC8-B069-C9CF27A584EF}"/>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Liquid funds and borrowings (₹ crore)</a:t>
            </a:r>
          </a:p>
        </c:rich>
      </c:tx>
      <c:overlay val="0"/>
    </c:title>
    <c:autoTitleDeleted val="0"/>
    <c:plotArea>
      <c:layout/>
      <c:barChart>
        <c:barDir val="col"/>
        <c:grouping val="clustered"/>
        <c:varyColors val="0"/>
        <c:ser>
          <c:idx val="0"/>
          <c:order val="0"/>
          <c:tx>
            <c:strRef>
              <c:f>Sheet1!$B$1</c:f>
              <c:strCache>
                <c:ptCount val="1"/>
                <c:pt idx="0">
                  <c:v>Cash, bank and current investments</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4123</c:v>
                </c:pt>
                <c:pt idx="1">
                  <c:v>4654</c:v>
                </c:pt>
                <c:pt idx="2">
                  <c:v>5682</c:v>
                </c:pt>
                <c:pt idx="3">
                  <c:v>8093</c:v>
                </c:pt>
                <c:pt idx="4">
                  <c:v>8987</c:v>
                </c:pt>
              </c:numCache>
            </c:numRef>
          </c:val>
          <c:extLst>
            <c:ext xmlns:c16="http://schemas.microsoft.com/office/drawing/2014/chart" uri="{C3380CC4-5D6E-409C-BE32-E72D297353CC}">
              <c16:uniqueId val="{00000000-C407-479E-A5AA-BC01A726CFE3}"/>
            </c:ext>
          </c:extLst>
        </c:ser>
        <c:ser>
          <c:idx val="1"/>
          <c:order val="1"/>
          <c:tx>
            <c:strRef>
              <c:f>Sheet1!$C$1</c:f>
              <c:strCache>
                <c:ptCount val="1"/>
                <c:pt idx="0">
                  <c:v>Borrowings</c:v>
                </c:pt>
              </c:strCache>
            </c:strRef>
          </c:tx>
          <c:spPr>
            <a:solidFill>
              <a:srgbClr val="B5472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824</c:v>
                </c:pt>
                <c:pt idx="1">
                  <c:v>520</c:v>
                </c:pt>
                <c:pt idx="2">
                  <c:v>247</c:v>
                </c:pt>
                <c:pt idx="3">
                  <c:v>92</c:v>
                </c:pt>
                <c:pt idx="4">
                  <c:v>258</c:v>
                </c:pt>
              </c:numCache>
            </c:numRef>
          </c:val>
          <c:extLst>
            <c:ext xmlns:c16="http://schemas.microsoft.com/office/drawing/2014/chart" uri="{C3380CC4-5D6E-409C-BE32-E72D297353CC}">
              <c16:uniqueId val="{00000001-C407-479E-A5AA-BC01A726CFE3}"/>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Operating cash flow and free cash flow (₹ crore)</a:t>
            </a:r>
          </a:p>
        </c:rich>
      </c:tx>
      <c:overlay val="0"/>
    </c:title>
    <c:autoTitleDeleted val="0"/>
    <c:plotArea>
      <c:layout/>
      <c:barChart>
        <c:barDir val="col"/>
        <c:grouping val="clustered"/>
        <c:varyColors val="0"/>
        <c:ser>
          <c:idx val="0"/>
          <c:order val="0"/>
          <c:tx>
            <c:strRef>
              <c:f>Sheet1!$B$1</c:f>
              <c:strCache>
                <c:ptCount val="1"/>
                <c:pt idx="0">
                  <c:v>Operating cash flow</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3326</c:v>
                </c:pt>
                <c:pt idx="1">
                  <c:v>3238</c:v>
                </c:pt>
                <c:pt idx="2">
                  <c:v>4134</c:v>
                </c:pt>
                <c:pt idx="3">
                  <c:v>5005</c:v>
                </c:pt>
                <c:pt idx="4">
                  <c:v>3940</c:v>
                </c:pt>
              </c:numCache>
            </c:numRef>
          </c:val>
          <c:extLst>
            <c:ext xmlns:c16="http://schemas.microsoft.com/office/drawing/2014/chart" uri="{C3380CC4-5D6E-409C-BE32-E72D297353CC}">
              <c16:uniqueId val="{00000000-5136-43F4-8F23-B9DDB011C80F}"/>
            </c:ext>
          </c:extLst>
        </c:ser>
        <c:ser>
          <c:idx val="1"/>
          <c:order val="1"/>
          <c:tx>
            <c:strRef>
              <c:f>Sheet1!$C$1</c:f>
              <c:strCache>
                <c:ptCount val="1"/>
                <c:pt idx="0">
                  <c:v>Free cash flow</c:v>
                </c:pt>
              </c:strCache>
            </c:strRef>
          </c:tx>
          <c:spPr>
            <a:solidFill>
              <a:srgbClr val="3F9A90"/>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2625</c:v>
                </c:pt>
                <c:pt idx="1">
                  <c:v>2055</c:v>
                </c:pt>
                <c:pt idx="2">
                  <c:v>2785</c:v>
                </c:pt>
                <c:pt idx="3">
                  <c:v>3457</c:v>
                </c:pt>
                <c:pt idx="4">
                  <c:v>861</c:v>
                </c:pt>
              </c:numCache>
            </c:numRef>
          </c:val>
          <c:extLst>
            <c:ext xmlns:c16="http://schemas.microsoft.com/office/drawing/2014/chart" uri="{C3380CC4-5D6E-409C-BE32-E72D297353CC}">
              <c16:uniqueId val="{00000001-5136-43F4-8F23-B9DDB011C80F}"/>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Margins (% of revenue)</a:t>
            </a:r>
          </a:p>
        </c:rich>
      </c:tx>
      <c:overlay val="0"/>
    </c:title>
    <c:autoTitleDeleted val="0"/>
    <c:plotArea>
      <c:layout/>
      <c:barChart>
        <c:barDir val="col"/>
        <c:grouping val="clustered"/>
        <c:varyColors val="0"/>
        <c:ser>
          <c:idx val="0"/>
          <c:order val="0"/>
          <c:tx>
            <c:strRef>
              <c:f>Sheet1!$B$1</c:f>
              <c:strCache>
                <c:ptCount val="1"/>
                <c:pt idx="0">
                  <c:v>EBITDA</c:v>
                </c:pt>
              </c:strCache>
            </c:strRef>
          </c:tx>
          <c:spPr>
            <a:solidFill>
              <a:srgbClr val="0B4F4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20.9</c:v>
                </c:pt>
                <c:pt idx="1">
                  <c:v>22.1</c:v>
                </c:pt>
                <c:pt idx="2">
                  <c:v>24.4</c:v>
                </c:pt>
                <c:pt idx="3">
                  <c:v>25.9</c:v>
                </c:pt>
                <c:pt idx="4">
                  <c:v>21</c:v>
                </c:pt>
              </c:numCache>
            </c:numRef>
          </c:val>
          <c:extLst>
            <c:ext xmlns:c16="http://schemas.microsoft.com/office/drawing/2014/chart" uri="{C3380CC4-5D6E-409C-BE32-E72D297353CC}">
              <c16:uniqueId val="{00000000-7C48-4781-AA4F-DC347F4B28D3}"/>
            </c:ext>
          </c:extLst>
        </c:ser>
        <c:ser>
          <c:idx val="1"/>
          <c:order val="1"/>
          <c:tx>
            <c:strRef>
              <c:f>Sheet1!$C$1</c:f>
              <c:strCache>
                <c:ptCount val="1"/>
                <c:pt idx="0">
                  <c:v>PAT</c:v>
                </c:pt>
              </c:strCache>
            </c:strRef>
          </c:tx>
          <c:spPr>
            <a:solidFill>
              <a:srgbClr val="3F9A90"/>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11.6</c:v>
                </c:pt>
                <c:pt idx="1">
                  <c:v>12.3</c:v>
                </c:pt>
                <c:pt idx="2">
                  <c:v>16</c:v>
                </c:pt>
                <c:pt idx="3">
                  <c:v>19.100000000000001</c:v>
                </c:pt>
                <c:pt idx="4">
                  <c:v>13.8</c:v>
                </c:pt>
              </c:numCache>
            </c:numRef>
          </c:val>
          <c:extLst>
            <c:ext xmlns:c16="http://schemas.microsoft.com/office/drawing/2014/chart" uri="{C3380CC4-5D6E-409C-BE32-E72D297353CC}">
              <c16:uniqueId val="{00000001-7C48-4781-AA4F-DC347F4B28D3}"/>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Return on equity and capital employed (%)</a:t>
            </a:r>
          </a:p>
        </c:rich>
      </c:tx>
      <c:overlay val="0"/>
    </c:title>
    <c:autoTitleDeleted val="0"/>
    <c:plotArea>
      <c:layout/>
      <c:barChart>
        <c:barDir val="col"/>
        <c:grouping val="clustered"/>
        <c:varyColors val="0"/>
        <c:ser>
          <c:idx val="0"/>
          <c:order val="0"/>
          <c:tx>
            <c:strRef>
              <c:f>Sheet1!$B$1</c:f>
              <c:strCache>
                <c:ptCount val="1"/>
                <c:pt idx="0">
                  <c:v>ROCE</c:v>
                </c:pt>
              </c:strCache>
            </c:strRef>
          </c:tx>
          <c:spPr>
            <a:solidFill>
              <a:srgbClr val="0B4F4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17.7</c:v>
                </c:pt>
                <c:pt idx="1">
                  <c:v>18.600000000000001</c:v>
                </c:pt>
                <c:pt idx="2">
                  <c:v>23.1</c:v>
                </c:pt>
                <c:pt idx="3">
                  <c:v>23.2</c:v>
                </c:pt>
                <c:pt idx="4">
                  <c:v>16.5</c:v>
                </c:pt>
              </c:numCache>
            </c:numRef>
          </c:val>
          <c:extLst>
            <c:ext xmlns:c16="http://schemas.microsoft.com/office/drawing/2014/chart" uri="{C3380CC4-5D6E-409C-BE32-E72D297353CC}">
              <c16:uniqueId val="{00000000-DD17-4ED8-9B57-E2BD385931A5}"/>
            </c:ext>
          </c:extLst>
        </c:ser>
        <c:ser>
          <c:idx val="1"/>
          <c:order val="1"/>
          <c:tx>
            <c:strRef>
              <c:f>Sheet1!$C$1</c:f>
              <c:strCache>
                <c:ptCount val="1"/>
                <c:pt idx="0">
                  <c:v>ROE</c:v>
                </c:pt>
              </c:strCache>
            </c:strRef>
          </c:tx>
          <c:spPr>
            <a:solidFill>
              <a:srgbClr val="B5472A"/>
            </a:solidFill>
            <a:effectLst/>
          </c:spPr>
          <c:invertIfNegative val="0"/>
          <c:dLbls>
            <c:numFmt formatCode="0.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12.9</c:v>
                </c:pt>
                <c:pt idx="1">
                  <c:v>12.7</c:v>
                </c:pt>
                <c:pt idx="2">
                  <c:v>16.399999999999999</c:v>
                </c:pt>
                <c:pt idx="3">
                  <c:v>18.2</c:v>
                </c:pt>
                <c:pt idx="4">
                  <c:v>11.8</c:v>
                </c:pt>
              </c:numCache>
            </c:numRef>
          </c:val>
          <c:extLst>
            <c:ext xmlns:c16="http://schemas.microsoft.com/office/drawing/2014/chart" uri="{C3380CC4-5D6E-409C-BE32-E72D297353CC}">
              <c16:uniqueId val="{00000001-DD17-4ED8-9B57-E2BD385931A5}"/>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Cash conversion cycle (days)</a:t>
            </a:r>
          </a:p>
        </c:rich>
      </c:tx>
      <c:overlay val="0"/>
    </c:title>
    <c:autoTitleDeleted val="0"/>
    <c:plotArea>
      <c:layout/>
      <c:barChart>
        <c:barDir val="col"/>
        <c:grouping val="clustered"/>
        <c:varyColors val="0"/>
        <c:ser>
          <c:idx val="0"/>
          <c:order val="0"/>
          <c:tx>
            <c:strRef>
              <c:f>Sheet1!$B$1</c:f>
              <c:strCache>
                <c:ptCount val="1"/>
                <c:pt idx="0">
                  <c:v>Cash conversion cycle</c:v>
                </c:pt>
              </c:strCache>
            </c:strRef>
          </c:tx>
          <c:spPr>
            <a:solidFill>
              <a:srgbClr val="0B4F4A"/>
            </a:solidFill>
            <a:effectLst/>
          </c:spPr>
          <c:invertIfNegative val="0"/>
          <c:dLbls>
            <c:numFmt formatCode="0" sourceLinked="0"/>
            <c:spPr>
              <a:noFill/>
              <a:ln>
                <a:noFill/>
              </a:ln>
              <a:effectLst/>
            </c:spPr>
            <c:txPr>
              <a:bodyPr/>
              <a:lstStyle/>
              <a:p>
                <a:pPr>
                  <a:defRPr sz="1000" b="0" i="0" u="none" strike="noStrike">
                    <a:solidFill>
                      <a:srgbClr val="1D2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103</c:v>
                </c:pt>
                <c:pt idx="1">
                  <c:v>104</c:v>
                </c:pt>
                <c:pt idx="2">
                  <c:v>101</c:v>
                </c:pt>
                <c:pt idx="3">
                  <c:v>105</c:v>
                </c:pt>
                <c:pt idx="4">
                  <c:v>112</c:v>
                </c:pt>
              </c:numCache>
            </c:numRef>
          </c:val>
          <c:extLst>
            <c:ext xmlns:c16="http://schemas.microsoft.com/office/drawing/2014/chart" uri="{C3380CC4-5D6E-409C-BE32-E72D297353CC}">
              <c16:uniqueId val="{00000000-6C2D-41FB-9F30-560BA8D17B1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14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Revenue index (FY22 = 100)</a:t>
            </a:r>
          </a:p>
        </c:rich>
      </c:tx>
      <c:overlay val="0"/>
    </c:title>
    <c:autoTitleDeleted val="0"/>
    <c:plotArea>
      <c:layout/>
      <c:lineChart>
        <c:grouping val="standard"/>
        <c:varyColors val="0"/>
        <c:ser>
          <c:idx val="0"/>
          <c:order val="0"/>
          <c:tx>
            <c:strRef>
              <c:f>Sheet1!$B$1</c:f>
              <c:strCache>
                <c:ptCount val="1"/>
                <c:pt idx="0">
                  <c:v>Sun Pharma</c:v>
                </c:pt>
              </c:strCache>
            </c:strRef>
          </c:tx>
          <c:spPr>
            <a:ln w="31750" cap="flat">
              <a:solidFill>
                <a:srgbClr val="0B4F4A"/>
              </a:solidFill>
              <a:prstDash val="solid"/>
              <a:round/>
            </a:ln>
            <a:effectLst/>
          </c:spPr>
          <c:marker>
            <c:symbol val="circle"/>
            <c:size val="6"/>
            <c:spPr>
              <a:solidFill>
                <a:srgbClr val="0B4F4A"/>
              </a:solidFill>
              <a:ln w="9525" cap="flat">
                <a:solidFill>
                  <a:srgbClr val="0B4F4A"/>
                </a:solidFill>
                <a:prstDash val="solid"/>
                <a:round/>
              </a:ln>
              <a:effectLst/>
            </c:spPr>
          </c:marker>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100</c:v>
                </c:pt>
                <c:pt idx="1">
                  <c:v>113.5</c:v>
                </c:pt>
                <c:pt idx="2">
                  <c:v>125.5</c:v>
                </c:pt>
                <c:pt idx="3">
                  <c:v>136</c:v>
                </c:pt>
                <c:pt idx="4">
                  <c:v>151.19999999999999</c:v>
                </c:pt>
              </c:numCache>
            </c:numRef>
          </c:val>
          <c:smooth val="0"/>
          <c:extLst>
            <c:ext xmlns:c16="http://schemas.microsoft.com/office/drawing/2014/chart" uri="{C3380CC4-5D6E-409C-BE32-E72D297353CC}">
              <c16:uniqueId val="{00000000-AC26-4EB0-AEC7-762A24ADF29D}"/>
            </c:ext>
          </c:extLst>
        </c:ser>
        <c:ser>
          <c:idx val="1"/>
          <c:order val="1"/>
          <c:tx>
            <c:strRef>
              <c:f>Sheet1!$C$1</c:f>
              <c:strCache>
                <c:ptCount val="1"/>
                <c:pt idx="0">
                  <c:v>Dr. Reddy's</c:v>
                </c:pt>
              </c:strCache>
            </c:strRef>
          </c:tx>
          <c:spPr>
            <a:ln w="31750" cap="flat">
              <a:solidFill>
                <a:srgbClr val="3F9A90"/>
              </a:solidFill>
              <a:prstDash val="solid"/>
              <a:round/>
            </a:ln>
            <a:effectLst/>
          </c:spPr>
          <c:marker>
            <c:symbol val="circle"/>
            <c:size val="6"/>
            <c:spPr>
              <a:solidFill>
                <a:srgbClr val="3F9A90"/>
              </a:solidFill>
              <a:ln w="9525" cap="flat">
                <a:solidFill>
                  <a:srgbClr val="3F9A90"/>
                </a:solidFill>
                <a:prstDash val="solid"/>
                <a:round/>
              </a:ln>
              <a:effectLst/>
            </c:spPr>
          </c:marker>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100</c:v>
                </c:pt>
                <c:pt idx="1">
                  <c:v>114.5</c:v>
                </c:pt>
                <c:pt idx="2">
                  <c:v>130</c:v>
                </c:pt>
                <c:pt idx="3">
                  <c:v>151.5</c:v>
                </c:pt>
                <c:pt idx="4">
                  <c:v>156.4</c:v>
                </c:pt>
              </c:numCache>
            </c:numRef>
          </c:val>
          <c:smooth val="0"/>
          <c:extLst>
            <c:ext xmlns:c16="http://schemas.microsoft.com/office/drawing/2014/chart" uri="{C3380CC4-5D6E-409C-BE32-E72D297353CC}">
              <c16:uniqueId val="{00000001-AC26-4EB0-AEC7-762A24ADF29D}"/>
            </c:ext>
          </c:extLst>
        </c:ser>
        <c:ser>
          <c:idx val="2"/>
          <c:order val="2"/>
          <c:tx>
            <c:strRef>
              <c:f>Sheet1!$D$1</c:f>
              <c:strCache>
                <c:ptCount val="1"/>
                <c:pt idx="0">
                  <c:v>Lupin</c:v>
                </c:pt>
              </c:strCache>
            </c:strRef>
          </c:tx>
          <c:spPr>
            <a:ln w="31750" cap="flat">
              <a:solidFill>
                <a:srgbClr val="B5472A"/>
              </a:solidFill>
              <a:prstDash val="solid"/>
              <a:round/>
            </a:ln>
            <a:effectLst/>
          </c:spPr>
          <c:marker>
            <c:symbol val="circle"/>
            <c:size val="6"/>
            <c:spPr>
              <a:solidFill>
                <a:srgbClr val="B5472A"/>
              </a:solidFill>
              <a:ln w="9525" cap="flat">
                <a:solidFill>
                  <a:srgbClr val="B5472A"/>
                </a:solidFill>
                <a:prstDash val="solid"/>
                <a:round/>
              </a:ln>
              <a:effectLst/>
            </c:spPr>
          </c:marker>
          <c:cat>
            <c:strRef>
              <c:f>Sheet1!$A$2:$A$6</c:f>
              <c:strCache>
                <c:ptCount val="5"/>
                <c:pt idx="0">
                  <c:v>FY22</c:v>
                </c:pt>
                <c:pt idx="1">
                  <c:v>FY23</c:v>
                </c:pt>
                <c:pt idx="2">
                  <c:v>FY24</c:v>
                </c:pt>
                <c:pt idx="3">
                  <c:v>FY25</c:v>
                </c:pt>
                <c:pt idx="4">
                  <c:v>FY26</c:v>
                </c:pt>
              </c:strCache>
            </c:strRef>
          </c:cat>
          <c:val>
            <c:numRef>
              <c:f>Sheet1!$D$2:$D$6</c:f>
              <c:numCache>
                <c:formatCode>General</c:formatCode>
                <c:ptCount val="5"/>
                <c:pt idx="0">
                  <c:v>100</c:v>
                </c:pt>
                <c:pt idx="1">
                  <c:v>101.4</c:v>
                </c:pt>
                <c:pt idx="2">
                  <c:v>122</c:v>
                </c:pt>
                <c:pt idx="3">
                  <c:v>138.4</c:v>
                </c:pt>
                <c:pt idx="4">
                  <c:v>170.4</c:v>
                </c:pt>
              </c:numCache>
            </c:numRef>
          </c:val>
          <c:smooth val="0"/>
          <c:extLst>
            <c:ext xmlns:c16="http://schemas.microsoft.com/office/drawing/2014/chart" uri="{C3380CC4-5D6E-409C-BE32-E72D297353CC}">
              <c16:uniqueId val="{00000002-AC26-4EB0-AEC7-762A24ADF29D}"/>
            </c:ext>
          </c:extLst>
        </c:ser>
        <c:ser>
          <c:idx val="3"/>
          <c:order val="3"/>
          <c:tx>
            <c:strRef>
              <c:f>Sheet1!$E$1</c:f>
              <c:strCache>
                <c:ptCount val="1"/>
                <c:pt idx="0">
                  <c:v>Cipla</c:v>
                </c:pt>
              </c:strCache>
            </c:strRef>
          </c:tx>
          <c:spPr>
            <a:ln w="31750" cap="flat">
              <a:solidFill>
                <a:srgbClr val="C48A12"/>
              </a:solidFill>
              <a:prstDash val="solid"/>
              <a:round/>
            </a:ln>
            <a:effectLst/>
          </c:spPr>
          <c:marker>
            <c:symbol val="circle"/>
            <c:size val="6"/>
            <c:spPr>
              <a:solidFill>
                <a:srgbClr val="C48A12"/>
              </a:solidFill>
              <a:ln w="9525" cap="flat">
                <a:solidFill>
                  <a:srgbClr val="C48A12"/>
                </a:solidFill>
                <a:prstDash val="solid"/>
                <a:round/>
              </a:ln>
              <a:effectLst/>
            </c:spPr>
          </c:marker>
          <c:cat>
            <c:strRef>
              <c:f>Sheet1!$A$2:$A$6</c:f>
              <c:strCache>
                <c:ptCount val="5"/>
                <c:pt idx="0">
                  <c:v>FY22</c:v>
                </c:pt>
                <c:pt idx="1">
                  <c:v>FY23</c:v>
                </c:pt>
                <c:pt idx="2">
                  <c:v>FY24</c:v>
                </c:pt>
                <c:pt idx="3">
                  <c:v>FY25</c:v>
                </c:pt>
                <c:pt idx="4">
                  <c:v>FY26</c:v>
                </c:pt>
              </c:strCache>
            </c:strRef>
          </c:cat>
          <c:val>
            <c:numRef>
              <c:f>Sheet1!$E$2:$E$6</c:f>
              <c:numCache>
                <c:formatCode>General</c:formatCode>
                <c:ptCount val="5"/>
                <c:pt idx="0">
                  <c:v>100</c:v>
                </c:pt>
                <c:pt idx="1">
                  <c:v>104.5</c:v>
                </c:pt>
                <c:pt idx="2">
                  <c:v>118.4</c:v>
                </c:pt>
                <c:pt idx="3">
                  <c:v>126.6</c:v>
                </c:pt>
                <c:pt idx="4">
                  <c:v>129.4</c:v>
                </c:pt>
              </c:numCache>
            </c:numRef>
          </c:val>
          <c:smooth val="0"/>
          <c:extLst>
            <c:ext xmlns:c16="http://schemas.microsoft.com/office/drawing/2014/chart" uri="{C3380CC4-5D6E-409C-BE32-E72D297353CC}">
              <c16:uniqueId val="{00000003-AC26-4EB0-AEC7-762A24ADF29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180"/>
          <c:min val="8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Core EBITDA margin (% of revenue)</a:t>
            </a:r>
          </a:p>
        </c:rich>
      </c:tx>
      <c:overlay val="0"/>
    </c:title>
    <c:autoTitleDeleted val="0"/>
    <c:plotArea>
      <c:layout/>
      <c:lineChart>
        <c:grouping val="standard"/>
        <c:varyColors val="0"/>
        <c:ser>
          <c:idx val="0"/>
          <c:order val="0"/>
          <c:tx>
            <c:strRef>
              <c:f>Sheet1!$B$1</c:f>
              <c:strCache>
                <c:ptCount val="1"/>
                <c:pt idx="0">
                  <c:v>Sun Pharma</c:v>
                </c:pt>
              </c:strCache>
            </c:strRef>
          </c:tx>
          <c:spPr>
            <a:ln w="31750" cap="flat">
              <a:solidFill>
                <a:srgbClr val="0B4F4A"/>
              </a:solidFill>
              <a:prstDash val="solid"/>
              <a:round/>
            </a:ln>
            <a:effectLst/>
          </c:spPr>
          <c:marker>
            <c:symbol val="circle"/>
            <c:size val="6"/>
            <c:spPr>
              <a:solidFill>
                <a:srgbClr val="0B4F4A"/>
              </a:solidFill>
              <a:ln w="9525" cap="flat">
                <a:solidFill>
                  <a:srgbClr val="0B4F4A"/>
                </a:solidFill>
                <a:prstDash val="solid"/>
                <a:round/>
              </a:ln>
              <a:effectLst/>
            </c:spPr>
          </c:marker>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26.8</c:v>
                </c:pt>
                <c:pt idx="1">
                  <c:v>26.8</c:v>
                </c:pt>
                <c:pt idx="2">
                  <c:v>26.8</c:v>
                </c:pt>
                <c:pt idx="3">
                  <c:v>28.7</c:v>
                </c:pt>
                <c:pt idx="4">
                  <c:v>28.2</c:v>
                </c:pt>
              </c:numCache>
            </c:numRef>
          </c:val>
          <c:smooth val="0"/>
          <c:extLst>
            <c:ext xmlns:c16="http://schemas.microsoft.com/office/drawing/2014/chart" uri="{C3380CC4-5D6E-409C-BE32-E72D297353CC}">
              <c16:uniqueId val="{00000000-3782-4CED-8E02-4D36A7BA7CA6}"/>
            </c:ext>
          </c:extLst>
        </c:ser>
        <c:ser>
          <c:idx val="1"/>
          <c:order val="1"/>
          <c:tx>
            <c:strRef>
              <c:f>Sheet1!$C$1</c:f>
              <c:strCache>
                <c:ptCount val="1"/>
                <c:pt idx="0">
                  <c:v>Dr. Reddy's</c:v>
                </c:pt>
              </c:strCache>
            </c:strRef>
          </c:tx>
          <c:spPr>
            <a:ln w="31750" cap="flat">
              <a:solidFill>
                <a:srgbClr val="3F9A90"/>
              </a:solidFill>
              <a:prstDash val="solid"/>
              <a:round/>
            </a:ln>
            <a:effectLst/>
          </c:spPr>
          <c:marker>
            <c:symbol val="circle"/>
            <c:size val="6"/>
            <c:spPr>
              <a:solidFill>
                <a:srgbClr val="3F9A90"/>
              </a:solidFill>
              <a:ln w="9525" cap="flat">
                <a:solidFill>
                  <a:srgbClr val="3F9A90"/>
                </a:solidFill>
                <a:prstDash val="solid"/>
                <a:round/>
              </a:ln>
              <a:effectLst/>
            </c:spPr>
          </c:marker>
          <c:cat>
            <c:strRef>
              <c:f>Sheet1!$A$2:$A$6</c:f>
              <c:strCache>
                <c:ptCount val="5"/>
                <c:pt idx="0">
                  <c:v>FY22</c:v>
                </c:pt>
                <c:pt idx="1">
                  <c:v>FY23</c:v>
                </c:pt>
                <c:pt idx="2">
                  <c:v>FY24</c:v>
                </c:pt>
                <c:pt idx="3">
                  <c:v>FY25</c:v>
                </c:pt>
                <c:pt idx="4">
                  <c:v>FY26</c:v>
                </c:pt>
              </c:strCache>
            </c:strRef>
          </c:cat>
          <c:val>
            <c:numRef>
              <c:f>Sheet1!$C$2:$C$6</c:f>
              <c:numCache>
                <c:formatCode>General</c:formatCode>
                <c:ptCount val="5"/>
                <c:pt idx="0">
                  <c:v>21.8</c:v>
                </c:pt>
                <c:pt idx="1">
                  <c:v>26</c:v>
                </c:pt>
                <c:pt idx="2">
                  <c:v>28.3</c:v>
                </c:pt>
                <c:pt idx="3">
                  <c:v>26.7</c:v>
                </c:pt>
                <c:pt idx="4">
                  <c:v>20.2</c:v>
                </c:pt>
              </c:numCache>
            </c:numRef>
          </c:val>
          <c:smooth val="0"/>
          <c:extLst>
            <c:ext xmlns:c16="http://schemas.microsoft.com/office/drawing/2014/chart" uri="{C3380CC4-5D6E-409C-BE32-E72D297353CC}">
              <c16:uniqueId val="{00000001-3782-4CED-8E02-4D36A7BA7CA6}"/>
            </c:ext>
          </c:extLst>
        </c:ser>
        <c:ser>
          <c:idx val="2"/>
          <c:order val="2"/>
          <c:tx>
            <c:strRef>
              <c:f>Sheet1!$D$1</c:f>
              <c:strCache>
                <c:ptCount val="1"/>
                <c:pt idx="0">
                  <c:v>Lupin</c:v>
                </c:pt>
              </c:strCache>
            </c:strRef>
          </c:tx>
          <c:spPr>
            <a:ln w="31750" cap="flat">
              <a:solidFill>
                <a:srgbClr val="B5472A"/>
              </a:solidFill>
              <a:prstDash val="solid"/>
              <a:round/>
            </a:ln>
            <a:effectLst/>
          </c:spPr>
          <c:marker>
            <c:symbol val="circle"/>
            <c:size val="6"/>
            <c:spPr>
              <a:solidFill>
                <a:srgbClr val="B5472A"/>
              </a:solidFill>
              <a:ln w="9525" cap="flat">
                <a:solidFill>
                  <a:srgbClr val="B5472A"/>
                </a:solidFill>
                <a:prstDash val="solid"/>
                <a:round/>
              </a:ln>
              <a:effectLst/>
            </c:spPr>
          </c:marker>
          <c:cat>
            <c:strRef>
              <c:f>Sheet1!$A$2:$A$6</c:f>
              <c:strCache>
                <c:ptCount val="5"/>
                <c:pt idx="0">
                  <c:v>FY22</c:v>
                </c:pt>
                <c:pt idx="1">
                  <c:v>FY23</c:v>
                </c:pt>
                <c:pt idx="2">
                  <c:v>FY24</c:v>
                </c:pt>
                <c:pt idx="3">
                  <c:v>FY25</c:v>
                </c:pt>
                <c:pt idx="4">
                  <c:v>FY26</c:v>
                </c:pt>
              </c:strCache>
            </c:strRef>
          </c:cat>
          <c:val>
            <c:numRef>
              <c:f>Sheet1!$D$2:$D$6</c:f>
              <c:numCache>
                <c:formatCode>General</c:formatCode>
                <c:ptCount val="5"/>
                <c:pt idx="0">
                  <c:v>12.8</c:v>
                </c:pt>
                <c:pt idx="1">
                  <c:v>10.3</c:v>
                </c:pt>
                <c:pt idx="2">
                  <c:v>19</c:v>
                </c:pt>
                <c:pt idx="3">
                  <c:v>23.2</c:v>
                </c:pt>
                <c:pt idx="4">
                  <c:v>29.2</c:v>
                </c:pt>
              </c:numCache>
            </c:numRef>
          </c:val>
          <c:smooth val="0"/>
          <c:extLst>
            <c:ext xmlns:c16="http://schemas.microsoft.com/office/drawing/2014/chart" uri="{C3380CC4-5D6E-409C-BE32-E72D297353CC}">
              <c16:uniqueId val="{00000002-3782-4CED-8E02-4D36A7BA7CA6}"/>
            </c:ext>
          </c:extLst>
        </c:ser>
        <c:ser>
          <c:idx val="3"/>
          <c:order val="3"/>
          <c:tx>
            <c:strRef>
              <c:f>Sheet1!$E$1</c:f>
              <c:strCache>
                <c:ptCount val="1"/>
                <c:pt idx="0">
                  <c:v>Cipla</c:v>
                </c:pt>
              </c:strCache>
            </c:strRef>
          </c:tx>
          <c:spPr>
            <a:ln w="31750" cap="flat">
              <a:solidFill>
                <a:srgbClr val="C48A12"/>
              </a:solidFill>
              <a:prstDash val="solid"/>
              <a:round/>
            </a:ln>
            <a:effectLst/>
          </c:spPr>
          <c:marker>
            <c:symbol val="circle"/>
            <c:size val="6"/>
            <c:spPr>
              <a:solidFill>
                <a:srgbClr val="C48A12"/>
              </a:solidFill>
              <a:ln w="9525" cap="flat">
                <a:solidFill>
                  <a:srgbClr val="C48A12"/>
                </a:solidFill>
                <a:prstDash val="solid"/>
                <a:round/>
              </a:ln>
              <a:effectLst/>
            </c:spPr>
          </c:marker>
          <c:cat>
            <c:strRef>
              <c:f>Sheet1!$A$2:$A$6</c:f>
              <c:strCache>
                <c:ptCount val="5"/>
                <c:pt idx="0">
                  <c:v>FY22</c:v>
                </c:pt>
                <c:pt idx="1">
                  <c:v>FY23</c:v>
                </c:pt>
                <c:pt idx="2">
                  <c:v>FY24</c:v>
                </c:pt>
                <c:pt idx="3">
                  <c:v>FY25</c:v>
                </c:pt>
                <c:pt idx="4">
                  <c:v>FY26</c:v>
                </c:pt>
              </c:strCache>
            </c:strRef>
          </c:cat>
          <c:val>
            <c:numRef>
              <c:f>Sheet1!$E$2:$E$6</c:f>
              <c:numCache>
                <c:formatCode>General</c:formatCode>
                <c:ptCount val="5"/>
                <c:pt idx="0">
                  <c:v>20.9</c:v>
                </c:pt>
                <c:pt idx="1">
                  <c:v>22.1</c:v>
                </c:pt>
                <c:pt idx="2">
                  <c:v>24.4</c:v>
                </c:pt>
                <c:pt idx="3">
                  <c:v>25.9</c:v>
                </c:pt>
                <c:pt idx="4">
                  <c:v>21</c:v>
                </c:pt>
              </c:numCache>
            </c:numRef>
          </c:val>
          <c:smooth val="0"/>
          <c:extLst>
            <c:ext xmlns:c16="http://schemas.microsoft.com/office/drawing/2014/chart" uri="{C3380CC4-5D6E-409C-BE32-E72D297353CC}">
              <c16:uniqueId val="{00000003-3782-4CED-8E02-4D36A7BA7CA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35"/>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PAT margin (% of revenue)</a:t>
            </a:r>
          </a:p>
        </c:rich>
      </c:tx>
      <c:overlay val="0"/>
    </c:title>
    <c:autoTitleDeleted val="0"/>
    <c:plotArea>
      <c:layout/>
      <c:lineChart>
        <c:grouping val="standard"/>
        <c:varyColors val="0"/>
        <c:ser>
          <c:idx val="0"/>
          <c:order val="0"/>
          <c:tx>
            <c:strRef>
              <c:f>Sheet1!$B$1</c:f>
              <c:strCache>
                <c:ptCount val="1"/>
                <c:pt idx="0">
                  <c:v>Sun Pharma</c:v>
                </c:pt>
              </c:strCache>
            </c:strRef>
          </c:tx>
          <c:spPr>
            <a:ln w="31750" cap="flat">
              <a:solidFill>
                <a:srgbClr val="0B4F4A"/>
              </a:solidFill>
              <a:prstDash val="solid"/>
              <a:round/>
            </a:ln>
            <a:effectLst/>
          </c:spPr>
          <c:marker>
            <c:symbol val="circle"/>
            <c:size val="6"/>
            <c:spPr>
              <a:solidFill>
                <a:srgbClr val="0B4F4A"/>
              </a:solidFill>
              <a:ln w="9525" cap="flat">
                <a:solidFill>
                  <a:srgbClr val="0B4F4A"/>
                </a:solidFill>
                <a:prstDash val="solid"/>
                <a:round/>
              </a:ln>
              <a:effectLst/>
            </c:spPr>
          </c:marker>
          <c:cat>
            <c:strRef>
              <c:f>Sheet1!$A$2:$A$6</c:f>
              <c:strCache>
                <c:ptCount val="5"/>
                <c:pt idx="0">
                  <c:v>FY22</c:v>
                </c:pt>
                <c:pt idx="1">
                  <c:v>FY23</c:v>
                </c:pt>
                <c:pt idx="2">
                  <c:v>FY24</c:v>
                </c:pt>
                <c:pt idx="3">
                  <c:v>FY25</c:v>
                </c:pt>
                <c:pt idx="4">
                  <c:v>FY26</c:v>
                </c:pt>
              </c:strCache>
            </c:strRef>
          </c:cat>
          <c:val>
            <c:numRef>
              <c:f>Sheet1!$B$2:$B$6</c:f>
              <c:numCache>
                <c:formatCode>General</c:formatCode>
                <c:ptCount val="5"/>
                <c:pt idx="0">
                  <c:v>8.5</c:v>
                </c:pt>
                <c:pt idx="1">
                  <c:v>19.3</c:v>
                </c:pt>
                <c:pt idx="2">
                  <c:v>19.7</c:v>
                </c:pt>
                <c:pt idx="3">
                  <c:v>20.8</c:v>
                </c:pt>
                <c:pt idx="4">
                  <c:v>19.600000000000001</c:v>
                </c:pt>
              </c:numCache>
            </c:numRef>
          </c:val>
          <c:smooth val="0"/>
          <c:extLst>
            <c:ext xmlns:c16="http://schemas.microsoft.com/office/drawing/2014/chart" uri="{C3380CC4-5D6E-409C-BE32-E72D297353CC}">
              <c16:uniqueId val="{00000000-9268-4A8C-B2C1-2E00E3397A69}"/>
            </c:ext>
          </c:extLst>
        </c:ser>
        <c:ser>
          <c:idx val="1"/>
          <c:order val="1"/>
          <c:tx>
            <c:strRef>
              <c:f>Sheet1!$C$1</c:f>
              <c:strCache>
                <c:ptCount val="1"/>
                <c:pt idx="0">
                  <c:v>Dr. Reddy's</c:v>
                </c:pt>
              </c:strCache>
            </c:strRef>
          </c:tx>
          <c:spPr>
            <a:ln w="31750" cap="flat">
              <a:solidFill>
                <a:srgbClr val="3F9A90"/>
              </a:solidFill>
              <a:prstDash val="solid"/>
              <a:round/>
            </a:ln>
            <a:effectLst/>
          </c:spPr>
          <c:marker>
            <c:symbol val="circle"/>
            <c:size val="6"/>
            <c:spPr>
              <a:solidFill>
                <a:srgbClr val="3F9A90"/>
              </a:solidFill>
              <a:ln w="9525" cap="flat">
                <a:solidFill>
                  <a:srgbClr val="3F9A90"/>
                </a:solidFill>
                <a:prstDash val="solid"/>
                <a:round/>
              </a:ln>
              <a:effectLst/>
            </c:spPr>
          </c:marker>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10.1</c:v>
                </c:pt>
                <c:pt idx="1">
                  <c:v>18.3</c:v>
                </c:pt>
                <c:pt idx="2">
                  <c:v>19.899999999999999</c:v>
                </c:pt>
                <c:pt idx="3">
                  <c:v>17.3</c:v>
                </c:pt>
                <c:pt idx="4">
                  <c:v>12.5</c:v>
                </c:pt>
              </c:numCache>
            </c:numRef>
          </c:val>
          <c:smooth val="0"/>
          <c:extLst>
            <c:ext xmlns:c16="http://schemas.microsoft.com/office/drawing/2014/chart" uri="{C3380CC4-5D6E-409C-BE32-E72D297353CC}">
              <c16:uniqueId val="{00000001-9268-4A8C-B2C1-2E00E3397A69}"/>
            </c:ext>
          </c:extLst>
        </c:ser>
        <c:ser>
          <c:idx val="2"/>
          <c:order val="2"/>
          <c:tx>
            <c:strRef>
              <c:f>Sheet1!$D$1</c:f>
              <c:strCache>
                <c:ptCount val="1"/>
                <c:pt idx="0">
                  <c:v>Lupin</c:v>
                </c:pt>
              </c:strCache>
            </c:strRef>
          </c:tx>
          <c:spPr>
            <a:ln w="31750" cap="flat">
              <a:solidFill>
                <a:srgbClr val="B5472A"/>
              </a:solidFill>
              <a:prstDash val="solid"/>
              <a:round/>
            </a:ln>
            <a:effectLst/>
          </c:spPr>
          <c:marker>
            <c:symbol val="circle"/>
            <c:size val="6"/>
            <c:spPr>
              <a:solidFill>
                <a:srgbClr val="B5472A"/>
              </a:solidFill>
              <a:ln w="9525" cap="flat">
                <a:solidFill>
                  <a:srgbClr val="B5472A"/>
                </a:solidFill>
                <a:prstDash val="solid"/>
                <a:round/>
              </a:ln>
              <a:effectLst/>
            </c:spPr>
          </c:marker>
          <c:cat>
            <c:strRef>
              <c:f>Sheet1!$A$2:$A$6</c:f>
              <c:strCache>
                <c:ptCount val="5"/>
                <c:pt idx="0">
                  <c:v>FY22</c:v>
                </c:pt>
                <c:pt idx="1">
                  <c:v>FY23</c:v>
                </c:pt>
                <c:pt idx="2">
                  <c:v>FY24</c:v>
                </c:pt>
                <c:pt idx="3">
                  <c:v>FY25</c:v>
                </c:pt>
                <c:pt idx="4">
                  <c:v>FY26</c:v>
                </c:pt>
              </c:strCache>
            </c:strRef>
          </c:cat>
          <c:val>
            <c:numRef>
              <c:f>Sheet1!$D$2:$D$6</c:f>
              <c:numCache>
                <c:formatCode>General</c:formatCode>
                <c:ptCount val="5"/>
                <c:pt idx="0">
                  <c:v>-9.3000000000000007</c:v>
                </c:pt>
                <c:pt idx="1">
                  <c:v>2.6</c:v>
                </c:pt>
                <c:pt idx="2">
                  <c:v>9.6</c:v>
                </c:pt>
                <c:pt idx="3">
                  <c:v>14.5</c:v>
                </c:pt>
                <c:pt idx="4">
                  <c:v>19.100000000000001</c:v>
                </c:pt>
              </c:numCache>
            </c:numRef>
          </c:val>
          <c:smooth val="0"/>
          <c:extLst>
            <c:ext xmlns:c16="http://schemas.microsoft.com/office/drawing/2014/chart" uri="{C3380CC4-5D6E-409C-BE32-E72D297353CC}">
              <c16:uniqueId val="{00000002-9268-4A8C-B2C1-2E00E3397A69}"/>
            </c:ext>
          </c:extLst>
        </c:ser>
        <c:ser>
          <c:idx val="3"/>
          <c:order val="3"/>
          <c:tx>
            <c:strRef>
              <c:f>Sheet1!$E$1</c:f>
              <c:strCache>
                <c:ptCount val="1"/>
                <c:pt idx="0">
                  <c:v>Cipla</c:v>
                </c:pt>
              </c:strCache>
            </c:strRef>
          </c:tx>
          <c:spPr>
            <a:ln w="31750" cap="flat">
              <a:solidFill>
                <a:srgbClr val="C48A12"/>
              </a:solidFill>
              <a:prstDash val="solid"/>
              <a:round/>
            </a:ln>
            <a:effectLst/>
          </c:spPr>
          <c:marker>
            <c:symbol val="circle"/>
            <c:size val="6"/>
            <c:spPr>
              <a:solidFill>
                <a:srgbClr val="C48A12"/>
              </a:solidFill>
              <a:ln w="9525" cap="flat">
                <a:solidFill>
                  <a:srgbClr val="C48A12"/>
                </a:solidFill>
                <a:prstDash val="solid"/>
                <a:round/>
              </a:ln>
              <a:effectLst/>
            </c:spPr>
          </c:marker>
          <c:cat>
            <c:strRef>
              <c:f>Sheet1!$A$2:$A$6</c:f>
              <c:strCache>
                <c:ptCount val="5"/>
                <c:pt idx="0">
                  <c:v>FY22</c:v>
                </c:pt>
                <c:pt idx="1">
                  <c:v>FY23</c:v>
                </c:pt>
                <c:pt idx="2">
                  <c:v>FY24</c:v>
                </c:pt>
                <c:pt idx="3">
                  <c:v>FY25</c:v>
                </c:pt>
                <c:pt idx="4">
                  <c:v>FY26</c:v>
                </c:pt>
              </c:strCache>
            </c:strRef>
          </c:cat>
          <c:val>
            <c:numRef>
              <c:f>Sheet1!$E$2:$E$6</c:f>
              <c:numCache>
                <c:formatCode>General</c:formatCode>
                <c:ptCount val="5"/>
                <c:pt idx="0">
                  <c:v>11.6</c:v>
                </c:pt>
                <c:pt idx="1">
                  <c:v>12.3</c:v>
                </c:pt>
                <c:pt idx="2">
                  <c:v>16</c:v>
                </c:pt>
                <c:pt idx="3">
                  <c:v>19.100000000000001</c:v>
                </c:pt>
                <c:pt idx="4">
                  <c:v>13.8</c:v>
                </c:pt>
              </c:numCache>
            </c:numRef>
          </c:val>
          <c:smooth val="0"/>
          <c:extLst>
            <c:ext xmlns:c16="http://schemas.microsoft.com/office/drawing/2014/chart" uri="{C3380CC4-5D6E-409C-BE32-E72D297353CC}">
              <c16:uniqueId val="{00000003-9268-4A8C-B2C1-2E00E3397A6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25"/>
          <c:min val="-1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US" sz="1200" b="1" i="0" u="none" strike="noStrike">
                <a:solidFill>
                  <a:srgbClr val="1D2B2A"/>
                </a:solidFill>
                <a:latin typeface="+mn-lt"/>
              </a:rPr>
              <a:t>Operating cash flow as % of revenue</a:t>
            </a:r>
          </a:p>
        </c:rich>
      </c:tx>
      <c:overlay val="0"/>
    </c:title>
    <c:autoTitleDeleted val="0"/>
    <c:plotArea>
      <c:layout/>
      <c:lineChart>
        <c:grouping val="standard"/>
        <c:varyColors val="0"/>
        <c:ser>
          <c:idx val="0"/>
          <c:order val="0"/>
          <c:tx>
            <c:strRef>
              <c:f>Sheet1!$B$1</c:f>
              <c:strCache>
                <c:ptCount val="1"/>
                <c:pt idx="0">
                  <c:v>Sun Pharma</c:v>
                </c:pt>
              </c:strCache>
            </c:strRef>
          </c:tx>
          <c:spPr>
            <a:ln w="31750" cap="flat">
              <a:solidFill>
                <a:srgbClr val="0B4F4A"/>
              </a:solidFill>
              <a:prstDash val="solid"/>
              <a:round/>
            </a:ln>
            <a:effectLst/>
          </c:spPr>
          <c:marker>
            <c:symbol val="circle"/>
            <c:size val="6"/>
            <c:spPr>
              <a:solidFill>
                <a:srgbClr val="0B4F4A"/>
              </a:solidFill>
              <a:ln w="9525" cap="flat">
                <a:solidFill>
                  <a:srgbClr val="0B4F4A"/>
                </a:solidFill>
                <a:prstDash val="solid"/>
                <a:round/>
              </a:ln>
              <a:effectLst/>
            </c:spPr>
          </c:marker>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23.2</c:v>
                </c:pt>
                <c:pt idx="1">
                  <c:v>11.3</c:v>
                </c:pt>
                <c:pt idx="2">
                  <c:v>25</c:v>
                </c:pt>
                <c:pt idx="3">
                  <c:v>26.8</c:v>
                </c:pt>
                <c:pt idx="4">
                  <c:v>21.2</c:v>
                </c:pt>
              </c:numCache>
            </c:numRef>
          </c:val>
          <c:smooth val="0"/>
          <c:extLst>
            <c:ext xmlns:c16="http://schemas.microsoft.com/office/drawing/2014/chart" uri="{C3380CC4-5D6E-409C-BE32-E72D297353CC}">
              <c16:uniqueId val="{00000000-B61C-4B89-9D6B-F2196D1577FB}"/>
            </c:ext>
          </c:extLst>
        </c:ser>
        <c:ser>
          <c:idx val="1"/>
          <c:order val="1"/>
          <c:tx>
            <c:strRef>
              <c:f>Sheet1!$C$1</c:f>
              <c:strCache>
                <c:ptCount val="1"/>
                <c:pt idx="0">
                  <c:v>Dr. Reddy's</c:v>
                </c:pt>
              </c:strCache>
            </c:strRef>
          </c:tx>
          <c:spPr>
            <a:ln w="31750" cap="flat">
              <a:solidFill>
                <a:srgbClr val="3F9A90"/>
              </a:solidFill>
              <a:prstDash val="solid"/>
              <a:round/>
            </a:ln>
            <a:effectLst/>
          </c:spPr>
          <c:marker>
            <c:symbol val="circle"/>
            <c:size val="6"/>
            <c:spPr>
              <a:solidFill>
                <a:srgbClr val="3F9A90"/>
              </a:solidFill>
              <a:ln w="9525" cap="flat">
                <a:solidFill>
                  <a:srgbClr val="3F9A90"/>
                </a:solidFill>
                <a:prstDash val="solid"/>
                <a:round/>
              </a:ln>
              <a:effectLst/>
            </c:spPr>
          </c:marker>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13</c:v>
                </c:pt>
                <c:pt idx="1">
                  <c:v>23.9</c:v>
                </c:pt>
                <c:pt idx="2">
                  <c:v>16.2</c:v>
                </c:pt>
                <c:pt idx="3">
                  <c:v>14.2</c:v>
                </c:pt>
                <c:pt idx="4">
                  <c:v>16.8</c:v>
                </c:pt>
              </c:numCache>
            </c:numRef>
          </c:val>
          <c:smooth val="0"/>
          <c:extLst>
            <c:ext xmlns:c16="http://schemas.microsoft.com/office/drawing/2014/chart" uri="{C3380CC4-5D6E-409C-BE32-E72D297353CC}">
              <c16:uniqueId val="{00000001-B61C-4B89-9D6B-F2196D1577FB}"/>
            </c:ext>
          </c:extLst>
        </c:ser>
        <c:ser>
          <c:idx val="2"/>
          <c:order val="2"/>
          <c:tx>
            <c:strRef>
              <c:f>Sheet1!$D$1</c:f>
              <c:strCache>
                <c:ptCount val="1"/>
                <c:pt idx="0">
                  <c:v>Lupin</c:v>
                </c:pt>
              </c:strCache>
            </c:strRef>
          </c:tx>
          <c:spPr>
            <a:ln w="31750" cap="flat">
              <a:solidFill>
                <a:srgbClr val="B5472A"/>
              </a:solidFill>
              <a:prstDash val="solid"/>
              <a:round/>
            </a:ln>
            <a:effectLst/>
          </c:spPr>
          <c:marker>
            <c:symbol val="circle"/>
            <c:size val="6"/>
            <c:spPr>
              <a:solidFill>
                <a:srgbClr val="B5472A"/>
              </a:solidFill>
              <a:ln w="9525" cap="flat">
                <a:solidFill>
                  <a:srgbClr val="B5472A"/>
                </a:solidFill>
                <a:prstDash val="solid"/>
                <a:round/>
              </a:ln>
              <a:effectLst/>
            </c:spPr>
          </c:marker>
          <c:cat>
            <c:strRef>
              <c:f>Sheet1!$A$2:$A$6</c:f>
              <c:strCache>
                <c:ptCount val="5"/>
                <c:pt idx="0">
                  <c:v>FY22</c:v>
                </c:pt>
                <c:pt idx="1">
                  <c:v>FY23</c:v>
                </c:pt>
                <c:pt idx="2">
                  <c:v>FY24</c:v>
                </c:pt>
                <c:pt idx="3">
                  <c:v>FY25</c:v>
                </c:pt>
                <c:pt idx="4">
                  <c:v>FY26</c:v>
                </c:pt>
              </c:strCache>
            </c:strRef>
          </c:cat>
          <c:val>
            <c:numRef>
              <c:f>Sheet1!$D$2:$D$6</c:f>
              <c:numCache>
                <c:formatCode>General</c:formatCode>
                <c:ptCount val="5"/>
                <c:pt idx="0">
                  <c:v>2.2000000000000002</c:v>
                </c:pt>
                <c:pt idx="1">
                  <c:v>11.4</c:v>
                </c:pt>
                <c:pt idx="2">
                  <c:v>18.2</c:v>
                </c:pt>
                <c:pt idx="3">
                  <c:v>13.2</c:v>
                </c:pt>
                <c:pt idx="4">
                  <c:v>26.2</c:v>
                </c:pt>
              </c:numCache>
            </c:numRef>
          </c:val>
          <c:smooth val="0"/>
          <c:extLst>
            <c:ext xmlns:c16="http://schemas.microsoft.com/office/drawing/2014/chart" uri="{C3380CC4-5D6E-409C-BE32-E72D297353CC}">
              <c16:uniqueId val="{00000002-B61C-4B89-9D6B-F2196D1577FB}"/>
            </c:ext>
          </c:extLst>
        </c:ser>
        <c:ser>
          <c:idx val="3"/>
          <c:order val="3"/>
          <c:tx>
            <c:strRef>
              <c:f>Sheet1!$E$1</c:f>
              <c:strCache>
                <c:ptCount val="1"/>
                <c:pt idx="0">
                  <c:v>Cipla</c:v>
                </c:pt>
              </c:strCache>
            </c:strRef>
          </c:tx>
          <c:spPr>
            <a:ln w="31750" cap="flat">
              <a:solidFill>
                <a:srgbClr val="C48A12"/>
              </a:solidFill>
              <a:prstDash val="solid"/>
              <a:round/>
            </a:ln>
            <a:effectLst/>
          </c:spPr>
          <c:marker>
            <c:symbol val="circle"/>
            <c:size val="6"/>
            <c:spPr>
              <a:solidFill>
                <a:srgbClr val="C48A12"/>
              </a:solidFill>
              <a:ln w="9525" cap="flat">
                <a:solidFill>
                  <a:srgbClr val="C48A12"/>
                </a:solidFill>
                <a:prstDash val="solid"/>
                <a:round/>
              </a:ln>
              <a:effectLst/>
            </c:spPr>
          </c:marker>
          <c:cat>
            <c:strRef>
              <c:f>Sheet1!$A$2:$A$6</c:f>
              <c:strCache>
                <c:ptCount val="5"/>
                <c:pt idx="0">
                  <c:v>FY22</c:v>
                </c:pt>
                <c:pt idx="1">
                  <c:v>FY23</c:v>
                </c:pt>
                <c:pt idx="2">
                  <c:v>FY24</c:v>
                </c:pt>
                <c:pt idx="3">
                  <c:v>FY25</c:v>
                </c:pt>
                <c:pt idx="4">
                  <c:v>FY26</c:v>
                </c:pt>
              </c:strCache>
            </c:strRef>
          </c:cat>
          <c:val>
            <c:numRef>
              <c:f>Sheet1!$E$2:$E$6</c:f>
              <c:numCache>
                <c:formatCode>General</c:formatCode>
                <c:ptCount val="5"/>
                <c:pt idx="0">
                  <c:v>15.3</c:v>
                </c:pt>
                <c:pt idx="1">
                  <c:v>14.2</c:v>
                </c:pt>
                <c:pt idx="2">
                  <c:v>16</c:v>
                </c:pt>
                <c:pt idx="3">
                  <c:v>18.2</c:v>
                </c:pt>
                <c:pt idx="4">
                  <c:v>14</c:v>
                </c:pt>
              </c:numCache>
            </c:numRef>
          </c:val>
          <c:smooth val="0"/>
          <c:extLst>
            <c:ext xmlns:c16="http://schemas.microsoft.com/office/drawing/2014/chart" uri="{C3380CC4-5D6E-409C-BE32-E72D297353CC}">
              <c16:uniqueId val="{00000003-B61C-4B89-9D6B-F2196D1577F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Return on capital employed (%)</a:t>
            </a:r>
          </a:p>
        </c:rich>
      </c:tx>
      <c:overlay val="0"/>
    </c:title>
    <c:autoTitleDeleted val="0"/>
    <c:plotArea>
      <c:layout/>
      <c:lineChart>
        <c:grouping val="standard"/>
        <c:varyColors val="0"/>
        <c:ser>
          <c:idx val="0"/>
          <c:order val="0"/>
          <c:tx>
            <c:strRef>
              <c:f>Sheet1!$B$1</c:f>
              <c:strCache>
                <c:ptCount val="1"/>
                <c:pt idx="0">
                  <c:v>Sun Pharma</c:v>
                </c:pt>
              </c:strCache>
            </c:strRef>
          </c:tx>
          <c:spPr>
            <a:ln w="31750" cap="flat">
              <a:solidFill>
                <a:srgbClr val="0B4F4A"/>
              </a:solidFill>
              <a:prstDash val="solid"/>
              <a:round/>
            </a:ln>
            <a:effectLst/>
          </c:spPr>
          <c:marker>
            <c:symbol val="circle"/>
            <c:size val="6"/>
            <c:spPr>
              <a:solidFill>
                <a:srgbClr val="0B4F4A"/>
              </a:solidFill>
              <a:ln w="9525" cap="flat">
                <a:solidFill>
                  <a:srgbClr val="0B4F4A"/>
                </a:solidFill>
                <a:prstDash val="solid"/>
                <a:round/>
              </a:ln>
              <a:effectLst/>
            </c:spPr>
          </c:marker>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17.600000000000001</c:v>
                </c:pt>
                <c:pt idx="1">
                  <c:v>17.2</c:v>
                </c:pt>
                <c:pt idx="2">
                  <c:v>18.3</c:v>
                </c:pt>
                <c:pt idx="3">
                  <c:v>20.6</c:v>
                </c:pt>
                <c:pt idx="4">
                  <c:v>20.9</c:v>
                </c:pt>
              </c:numCache>
            </c:numRef>
          </c:val>
          <c:smooth val="0"/>
          <c:extLst>
            <c:ext xmlns:c16="http://schemas.microsoft.com/office/drawing/2014/chart" uri="{C3380CC4-5D6E-409C-BE32-E72D297353CC}">
              <c16:uniqueId val="{00000000-1332-4980-982F-D4C6A504B498}"/>
            </c:ext>
          </c:extLst>
        </c:ser>
        <c:ser>
          <c:idx val="1"/>
          <c:order val="1"/>
          <c:tx>
            <c:strRef>
              <c:f>Sheet1!$C$1</c:f>
              <c:strCache>
                <c:ptCount val="1"/>
                <c:pt idx="0">
                  <c:v>Dr. Reddy's</c:v>
                </c:pt>
              </c:strCache>
            </c:strRef>
          </c:tx>
          <c:spPr>
            <a:ln w="31750" cap="flat">
              <a:solidFill>
                <a:srgbClr val="3F9A90"/>
              </a:solidFill>
              <a:prstDash val="solid"/>
              <a:round/>
            </a:ln>
            <a:effectLst/>
          </c:spPr>
          <c:marker>
            <c:symbol val="circle"/>
            <c:size val="6"/>
            <c:spPr>
              <a:solidFill>
                <a:srgbClr val="3F9A90"/>
              </a:solidFill>
              <a:ln w="9525" cap="flat">
                <a:solidFill>
                  <a:srgbClr val="3F9A90"/>
                </a:solidFill>
                <a:prstDash val="solid"/>
                <a:round/>
              </a:ln>
              <a:effectLst/>
            </c:spPr>
          </c:marker>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16</c:v>
                </c:pt>
                <c:pt idx="1">
                  <c:v>28.2</c:v>
                </c:pt>
                <c:pt idx="2">
                  <c:v>27.8</c:v>
                </c:pt>
                <c:pt idx="3">
                  <c:v>24.2</c:v>
                </c:pt>
                <c:pt idx="4">
                  <c:v>14.8</c:v>
                </c:pt>
              </c:numCache>
            </c:numRef>
          </c:val>
          <c:smooth val="0"/>
          <c:extLst>
            <c:ext xmlns:c16="http://schemas.microsoft.com/office/drawing/2014/chart" uri="{C3380CC4-5D6E-409C-BE32-E72D297353CC}">
              <c16:uniqueId val="{00000001-1332-4980-982F-D4C6A504B498}"/>
            </c:ext>
          </c:extLst>
        </c:ser>
        <c:ser>
          <c:idx val="2"/>
          <c:order val="2"/>
          <c:tx>
            <c:strRef>
              <c:f>Sheet1!$D$1</c:f>
              <c:strCache>
                <c:ptCount val="1"/>
                <c:pt idx="0">
                  <c:v>Lupin</c:v>
                </c:pt>
              </c:strCache>
            </c:strRef>
          </c:tx>
          <c:spPr>
            <a:ln w="31750" cap="flat">
              <a:solidFill>
                <a:srgbClr val="B5472A"/>
              </a:solidFill>
              <a:prstDash val="solid"/>
              <a:round/>
            </a:ln>
            <a:effectLst/>
          </c:spPr>
          <c:marker>
            <c:symbol val="circle"/>
            <c:size val="6"/>
            <c:spPr>
              <a:solidFill>
                <a:srgbClr val="B5472A"/>
              </a:solidFill>
              <a:ln w="9525" cap="flat">
                <a:solidFill>
                  <a:srgbClr val="B5472A"/>
                </a:solidFill>
                <a:prstDash val="solid"/>
                <a:round/>
              </a:ln>
              <a:effectLst/>
            </c:spPr>
          </c:marker>
          <c:cat>
            <c:strRef>
              <c:f>Sheet1!$A$2:$A$6</c:f>
              <c:strCache>
                <c:ptCount val="5"/>
                <c:pt idx="0">
                  <c:v>FY22</c:v>
                </c:pt>
                <c:pt idx="1">
                  <c:v>FY23</c:v>
                </c:pt>
                <c:pt idx="2">
                  <c:v>FY24</c:v>
                </c:pt>
                <c:pt idx="3">
                  <c:v>FY25</c:v>
                </c:pt>
                <c:pt idx="4">
                  <c:v>FY26</c:v>
                </c:pt>
              </c:strCache>
            </c:strRef>
          </c:cat>
          <c:val>
            <c:numRef>
              <c:f>Sheet1!$D$2:$D$6</c:f>
              <c:numCache>
                <c:formatCode>General</c:formatCode>
                <c:ptCount val="5"/>
                <c:pt idx="0">
                  <c:v>4.5</c:v>
                </c:pt>
                <c:pt idx="1">
                  <c:v>7.3</c:v>
                </c:pt>
                <c:pt idx="2">
                  <c:v>18.7</c:v>
                </c:pt>
                <c:pt idx="3">
                  <c:v>24.1</c:v>
                </c:pt>
                <c:pt idx="4">
                  <c:v>34.200000000000003</c:v>
                </c:pt>
              </c:numCache>
            </c:numRef>
          </c:val>
          <c:smooth val="0"/>
          <c:extLst>
            <c:ext xmlns:c16="http://schemas.microsoft.com/office/drawing/2014/chart" uri="{C3380CC4-5D6E-409C-BE32-E72D297353CC}">
              <c16:uniqueId val="{00000002-1332-4980-982F-D4C6A504B498}"/>
            </c:ext>
          </c:extLst>
        </c:ser>
        <c:ser>
          <c:idx val="3"/>
          <c:order val="3"/>
          <c:tx>
            <c:strRef>
              <c:f>Sheet1!$E$1</c:f>
              <c:strCache>
                <c:ptCount val="1"/>
                <c:pt idx="0">
                  <c:v>Cipla</c:v>
                </c:pt>
              </c:strCache>
            </c:strRef>
          </c:tx>
          <c:spPr>
            <a:ln w="31750" cap="flat">
              <a:solidFill>
                <a:srgbClr val="C48A12"/>
              </a:solidFill>
              <a:prstDash val="solid"/>
              <a:round/>
            </a:ln>
            <a:effectLst/>
          </c:spPr>
          <c:marker>
            <c:symbol val="circle"/>
            <c:size val="6"/>
            <c:spPr>
              <a:solidFill>
                <a:srgbClr val="C48A12"/>
              </a:solidFill>
              <a:ln w="9525" cap="flat">
                <a:solidFill>
                  <a:srgbClr val="C48A12"/>
                </a:solidFill>
                <a:prstDash val="solid"/>
                <a:round/>
              </a:ln>
              <a:effectLst/>
            </c:spPr>
          </c:marker>
          <c:cat>
            <c:strRef>
              <c:f>Sheet1!$A$2:$A$6</c:f>
              <c:strCache>
                <c:ptCount val="5"/>
                <c:pt idx="0">
                  <c:v>FY22</c:v>
                </c:pt>
                <c:pt idx="1">
                  <c:v>FY23</c:v>
                </c:pt>
                <c:pt idx="2">
                  <c:v>FY24</c:v>
                </c:pt>
                <c:pt idx="3">
                  <c:v>FY25</c:v>
                </c:pt>
                <c:pt idx="4">
                  <c:v>FY26</c:v>
                </c:pt>
              </c:strCache>
            </c:strRef>
          </c:cat>
          <c:val>
            <c:numRef>
              <c:f>Sheet1!$E$2:$E$6</c:f>
              <c:numCache>
                <c:formatCode>General</c:formatCode>
                <c:ptCount val="5"/>
                <c:pt idx="0">
                  <c:v>17.7</c:v>
                </c:pt>
                <c:pt idx="1">
                  <c:v>18.600000000000001</c:v>
                </c:pt>
                <c:pt idx="2">
                  <c:v>23.1</c:v>
                </c:pt>
                <c:pt idx="3">
                  <c:v>23.2</c:v>
                </c:pt>
                <c:pt idx="4">
                  <c:v>16.5</c:v>
                </c:pt>
              </c:numCache>
            </c:numRef>
          </c:val>
          <c:smooth val="0"/>
          <c:extLst>
            <c:ext xmlns:c16="http://schemas.microsoft.com/office/drawing/2014/chart" uri="{C3380CC4-5D6E-409C-BE32-E72D297353CC}">
              <c16:uniqueId val="{00000003-1332-4980-982F-D4C6A504B49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Cash conversion cycle (days)</a:t>
            </a:r>
          </a:p>
        </c:rich>
      </c:tx>
      <c:overlay val="0"/>
    </c:title>
    <c:autoTitleDeleted val="0"/>
    <c:plotArea>
      <c:layout/>
      <c:lineChart>
        <c:grouping val="standard"/>
        <c:varyColors val="0"/>
        <c:ser>
          <c:idx val="0"/>
          <c:order val="0"/>
          <c:tx>
            <c:strRef>
              <c:f>Sheet1!$B$1</c:f>
              <c:strCache>
                <c:ptCount val="1"/>
                <c:pt idx="0">
                  <c:v>Sun Pharma</c:v>
                </c:pt>
              </c:strCache>
            </c:strRef>
          </c:tx>
          <c:spPr>
            <a:ln w="31750" cap="flat">
              <a:solidFill>
                <a:srgbClr val="0B4F4A"/>
              </a:solidFill>
              <a:prstDash val="solid"/>
              <a:round/>
            </a:ln>
            <a:effectLst/>
          </c:spPr>
          <c:marker>
            <c:symbol val="circle"/>
            <c:size val="6"/>
            <c:spPr>
              <a:solidFill>
                <a:srgbClr val="0B4F4A"/>
              </a:solidFill>
              <a:ln w="9525" cap="flat">
                <a:solidFill>
                  <a:srgbClr val="0B4F4A"/>
                </a:solidFill>
                <a:prstDash val="solid"/>
                <a:round/>
              </a:ln>
              <a:effectLst/>
            </c:spPr>
          </c:marker>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137.80000000000001</c:v>
                </c:pt>
                <c:pt idx="1">
                  <c:v>130.5</c:v>
                </c:pt>
                <c:pt idx="2">
                  <c:v>119.4</c:v>
                </c:pt>
                <c:pt idx="3">
                  <c:v>113</c:v>
                </c:pt>
                <c:pt idx="4">
                  <c:v>114.8</c:v>
                </c:pt>
              </c:numCache>
            </c:numRef>
          </c:val>
          <c:smooth val="0"/>
          <c:extLst>
            <c:ext xmlns:c16="http://schemas.microsoft.com/office/drawing/2014/chart" uri="{C3380CC4-5D6E-409C-BE32-E72D297353CC}">
              <c16:uniqueId val="{00000000-442C-4705-A049-48F89C232B3F}"/>
            </c:ext>
          </c:extLst>
        </c:ser>
        <c:ser>
          <c:idx val="1"/>
          <c:order val="1"/>
          <c:tx>
            <c:strRef>
              <c:f>Sheet1!$C$1</c:f>
              <c:strCache>
                <c:ptCount val="1"/>
                <c:pt idx="0">
                  <c:v>Dr. Reddy's</c:v>
                </c:pt>
              </c:strCache>
            </c:strRef>
          </c:tx>
          <c:spPr>
            <a:ln w="31750" cap="flat">
              <a:solidFill>
                <a:srgbClr val="3F9A90"/>
              </a:solidFill>
              <a:prstDash val="solid"/>
              <a:round/>
            </a:ln>
            <a:effectLst/>
          </c:spPr>
          <c:marker>
            <c:symbol val="circle"/>
            <c:size val="6"/>
            <c:spPr>
              <a:solidFill>
                <a:srgbClr val="3F9A90"/>
              </a:solidFill>
              <a:ln w="9525" cap="flat">
                <a:solidFill>
                  <a:srgbClr val="3F9A90"/>
                </a:solidFill>
                <a:prstDash val="solid"/>
                <a:round/>
              </a:ln>
              <a:effectLst/>
            </c:spPr>
          </c:marker>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145.6</c:v>
                </c:pt>
                <c:pt idx="1">
                  <c:v>143.1</c:v>
                </c:pt>
                <c:pt idx="2">
                  <c:v>140.80000000000001</c:v>
                </c:pt>
                <c:pt idx="3">
                  <c:v>141.30000000000001</c:v>
                </c:pt>
                <c:pt idx="4">
                  <c:v>152.9</c:v>
                </c:pt>
              </c:numCache>
            </c:numRef>
          </c:val>
          <c:smooth val="0"/>
          <c:extLst>
            <c:ext xmlns:c16="http://schemas.microsoft.com/office/drawing/2014/chart" uri="{C3380CC4-5D6E-409C-BE32-E72D297353CC}">
              <c16:uniqueId val="{00000001-442C-4705-A049-48F89C232B3F}"/>
            </c:ext>
          </c:extLst>
        </c:ser>
        <c:ser>
          <c:idx val="2"/>
          <c:order val="2"/>
          <c:tx>
            <c:strRef>
              <c:f>Sheet1!$D$1</c:f>
              <c:strCache>
                <c:ptCount val="1"/>
                <c:pt idx="0">
                  <c:v>Lupin</c:v>
                </c:pt>
              </c:strCache>
            </c:strRef>
          </c:tx>
          <c:spPr>
            <a:ln w="31750" cap="flat">
              <a:solidFill>
                <a:srgbClr val="B5472A"/>
              </a:solidFill>
              <a:prstDash val="solid"/>
              <a:round/>
            </a:ln>
            <a:effectLst/>
          </c:spPr>
          <c:marker>
            <c:symbol val="circle"/>
            <c:size val="6"/>
            <c:spPr>
              <a:solidFill>
                <a:srgbClr val="B5472A"/>
              </a:solidFill>
              <a:ln w="9525" cap="flat">
                <a:solidFill>
                  <a:srgbClr val="B5472A"/>
                </a:solidFill>
                <a:prstDash val="solid"/>
                <a:round/>
              </a:ln>
              <a:effectLst/>
            </c:spPr>
          </c:marker>
          <c:cat>
            <c:strRef>
              <c:f>Sheet1!$A$2:$A$6</c:f>
              <c:strCache>
                <c:ptCount val="5"/>
                <c:pt idx="0">
                  <c:v>FY22</c:v>
                </c:pt>
                <c:pt idx="1">
                  <c:v>FY23</c:v>
                </c:pt>
                <c:pt idx="2">
                  <c:v>FY24</c:v>
                </c:pt>
                <c:pt idx="3">
                  <c:v>FY25</c:v>
                </c:pt>
                <c:pt idx="4">
                  <c:v>FY26</c:v>
                </c:pt>
              </c:strCache>
            </c:strRef>
          </c:cat>
          <c:val>
            <c:numRef>
              <c:f>Sheet1!$D$2:$D$6</c:f>
              <c:numCache>
                <c:formatCode>General</c:formatCode>
                <c:ptCount val="5"/>
                <c:pt idx="0">
                  <c:v>146.4</c:v>
                </c:pt>
                <c:pt idx="1">
                  <c:v>143.1</c:v>
                </c:pt>
                <c:pt idx="2">
                  <c:v>119.7</c:v>
                </c:pt>
                <c:pt idx="3">
                  <c:v>118.2</c:v>
                </c:pt>
                <c:pt idx="4">
                  <c:v>107.9</c:v>
                </c:pt>
              </c:numCache>
            </c:numRef>
          </c:val>
          <c:smooth val="0"/>
          <c:extLst>
            <c:ext xmlns:c16="http://schemas.microsoft.com/office/drawing/2014/chart" uri="{C3380CC4-5D6E-409C-BE32-E72D297353CC}">
              <c16:uniqueId val="{00000002-442C-4705-A049-48F89C232B3F}"/>
            </c:ext>
          </c:extLst>
        </c:ser>
        <c:ser>
          <c:idx val="3"/>
          <c:order val="3"/>
          <c:tx>
            <c:strRef>
              <c:f>Sheet1!$E$1</c:f>
              <c:strCache>
                <c:ptCount val="1"/>
                <c:pt idx="0">
                  <c:v>Cipla</c:v>
                </c:pt>
              </c:strCache>
            </c:strRef>
          </c:tx>
          <c:spPr>
            <a:ln w="31750" cap="flat">
              <a:solidFill>
                <a:srgbClr val="C48A12"/>
              </a:solidFill>
              <a:prstDash val="solid"/>
              <a:round/>
            </a:ln>
            <a:effectLst/>
          </c:spPr>
          <c:marker>
            <c:symbol val="circle"/>
            <c:size val="6"/>
            <c:spPr>
              <a:solidFill>
                <a:srgbClr val="C48A12"/>
              </a:solidFill>
              <a:ln w="9525" cap="flat">
                <a:solidFill>
                  <a:srgbClr val="C48A12"/>
                </a:solidFill>
                <a:prstDash val="solid"/>
                <a:round/>
              </a:ln>
              <a:effectLst/>
            </c:spPr>
          </c:marker>
          <c:cat>
            <c:strRef>
              <c:f>Sheet1!$A$2:$A$6</c:f>
              <c:strCache>
                <c:ptCount val="5"/>
                <c:pt idx="0">
                  <c:v>FY22</c:v>
                </c:pt>
                <c:pt idx="1">
                  <c:v>FY23</c:v>
                </c:pt>
                <c:pt idx="2">
                  <c:v>FY24</c:v>
                </c:pt>
                <c:pt idx="3">
                  <c:v>FY25</c:v>
                </c:pt>
                <c:pt idx="4">
                  <c:v>FY26</c:v>
                </c:pt>
              </c:strCache>
            </c:strRef>
          </c:cat>
          <c:val>
            <c:numRef>
              <c:f>Sheet1!$E$2:$E$6</c:f>
              <c:numCache>
                <c:formatCode>General</c:formatCode>
                <c:ptCount val="5"/>
                <c:pt idx="0">
                  <c:v>103.3</c:v>
                </c:pt>
                <c:pt idx="1">
                  <c:v>103.8</c:v>
                </c:pt>
                <c:pt idx="2">
                  <c:v>100.6</c:v>
                </c:pt>
                <c:pt idx="3">
                  <c:v>105</c:v>
                </c:pt>
                <c:pt idx="4">
                  <c:v>112.1</c:v>
                </c:pt>
              </c:numCache>
            </c:numRef>
          </c:val>
          <c:smooth val="0"/>
          <c:extLst>
            <c:ext xmlns:c16="http://schemas.microsoft.com/office/drawing/2014/chart" uri="{C3380CC4-5D6E-409C-BE32-E72D297353CC}">
              <c16:uniqueId val="{00000003-442C-4705-A049-48F89C232B3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160"/>
          <c:min val="80"/>
        </c:scaling>
        <c:delete val="0"/>
        <c:axPos val="l"/>
        <c:majorGridlines>
          <c:spPr>
            <a:ln w="6350" cap="flat">
              <a:solidFill>
                <a:srgbClr val="E3DDCD"/>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D2B2A"/>
                </a:solidFill>
                <a:latin typeface="+mn-lt"/>
              </a:defRPr>
            </a:pPr>
            <a:r>
              <a:rPr lang="en-IN" sz="1200" b="1" i="0" u="none" strike="noStrike">
                <a:solidFill>
                  <a:srgbClr val="1D2B2A"/>
                </a:solidFill>
                <a:latin typeface="+mn-lt"/>
              </a:rPr>
              <a:t>Current ratio (times)</a:t>
            </a:r>
          </a:p>
        </c:rich>
      </c:tx>
      <c:overlay val="0"/>
    </c:title>
    <c:autoTitleDeleted val="0"/>
    <c:plotArea>
      <c:layout/>
      <c:lineChart>
        <c:grouping val="standard"/>
        <c:varyColors val="0"/>
        <c:ser>
          <c:idx val="0"/>
          <c:order val="0"/>
          <c:tx>
            <c:strRef>
              <c:f>Sheet1!$B$1</c:f>
              <c:strCache>
                <c:ptCount val="1"/>
                <c:pt idx="0">
                  <c:v>Sun Pharma</c:v>
                </c:pt>
              </c:strCache>
            </c:strRef>
          </c:tx>
          <c:spPr>
            <a:ln w="31750" cap="flat">
              <a:solidFill>
                <a:srgbClr val="0B4F4A"/>
              </a:solidFill>
              <a:prstDash val="solid"/>
              <a:round/>
            </a:ln>
            <a:effectLst/>
          </c:spPr>
          <c:marker>
            <c:symbol val="circle"/>
            <c:size val="6"/>
            <c:spPr>
              <a:solidFill>
                <a:srgbClr val="0B4F4A"/>
              </a:solidFill>
              <a:ln w="9525" cap="flat">
                <a:solidFill>
                  <a:srgbClr val="0B4F4A"/>
                </a:solidFill>
                <a:prstDash val="solid"/>
                <a:round/>
              </a:ln>
              <a:effectLst/>
            </c:spPr>
          </c:marker>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c:v>
                </c:pt>
                <c:pt idx="1">
                  <c:v>2</c:v>
                </c:pt>
                <c:pt idx="2">
                  <c:v>2.6</c:v>
                </c:pt>
                <c:pt idx="3">
                  <c:v>2.9</c:v>
                </c:pt>
                <c:pt idx="4">
                  <c:v>2.8</c:v>
                </c:pt>
              </c:numCache>
            </c:numRef>
          </c:val>
          <c:smooth val="0"/>
          <c:extLst>
            <c:ext xmlns:c16="http://schemas.microsoft.com/office/drawing/2014/chart" uri="{C3380CC4-5D6E-409C-BE32-E72D297353CC}">
              <c16:uniqueId val="{00000000-73B2-42B5-AB0A-2600217B4404}"/>
            </c:ext>
          </c:extLst>
        </c:ser>
        <c:ser>
          <c:idx val="1"/>
          <c:order val="1"/>
          <c:tx>
            <c:strRef>
              <c:f>Sheet1!$C$1</c:f>
              <c:strCache>
                <c:ptCount val="1"/>
                <c:pt idx="0">
                  <c:v>Dr. Reddy's</c:v>
                </c:pt>
              </c:strCache>
            </c:strRef>
          </c:tx>
          <c:spPr>
            <a:ln w="31750" cap="flat">
              <a:solidFill>
                <a:srgbClr val="3F9A90"/>
              </a:solidFill>
              <a:prstDash val="solid"/>
              <a:round/>
            </a:ln>
            <a:effectLst/>
          </c:spPr>
          <c:marker>
            <c:symbol val="circle"/>
            <c:size val="6"/>
            <c:spPr>
              <a:solidFill>
                <a:srgbClr val="3F9A90"/>
              </a:solidFill>
              <a:ln w="9525" cap="flat">
                <a:solidFill>
                  <a:srgbClr val="3F9A90"/>
                </a:solidFill>
                <a:prstDash val="solid"/>
                <a:round/>
              </a:ln>
              <a:effectLst/>
            </c:spPr>
          </c:marker>
          <c:cat>
            <c:strRef>
              <c:f>Sheet1!$A$2:$A$6</c:f>
              <c:strCache>
                <c:ptCount val="5"/>
                <c:pt idx="0">
                  <c:v>FY22</c:v>
                </c:pt>
                <c:pt idx="1">
                  <c:v>FY23</c:v>
                </c:pt>
                <c:pt idx="2">
                  <c:v>FY24</c:v>
                </c:pt>
                <c:pt idx="3">
                  <c:v>FY25</c:v>
                </c:pt>
                <c:pt idx="4">
                  <c:v>FY26</c:v>
                </c:pt>
              </c:strCache>
            </c:strRef>
          </c:cat>
          <c:val>
            <c:numRef>
              <c:f>Sheet1!$C$2:$C$6</c:f>
              <c:numCache>
                <c:formatCode>General</c:formatCode>
                <c:ptCount val="5"/>
                <c:pt idx="0">
                  <c:v>1.8</c:v>
                </c:pt>
                <c:pt idx="1">
                  <c:v>2.4</c:v>
                </c:pt>
                <c:pt idx="2">
                  <c:v>2.6</c:v>
                </c:pt>
                <c:pt idx="3">
                  <c:v>1.9</c:v>
                </c:pt>
                <c:pt idx="4">
                  <c:v>1.8</c:v>
                </c:pt>
              </c:numCache>
            </c:numRef>
          </c:val>
          <c:smooth val="0"/>
          <c:extLst>
            <c:ext xmlns:c16="http://schemas.microsoft.com/office/drawing/2014/chart" uri="{C3380CC4-5D6E-409C-BE32-E72D297353CC}">
              <c16:uniqueId val="{00000001-73B2-42B5-AB0A-2600217B4404}"/>
            </c:ext>
          </c:extLst>
        </c:ser>
        <c:ser>
          <c:idx val="2"/>
          <c:order val="2"/>
          <c:tx>
            <c:strRef>
              <c:f>Sheet1!$D$1</c:f>
              <c:strCache>
                <c:ptCount val="1"/>
                <c:pt idx="0">
                  <c:v>Lupin</c:v>
                </c:pt>
              </c:strCache>
            </c:strRef>
          </c:tx>
          <c:spPr>
            <a:ln w="31750" cap="flat">
              <a:solidFill>
                <a:srgbClr val="B5472A"/>
              </a:solidFill>
              <a:prstDash val="solid"/>
              <a:round/>
            </a:ln>
            <a:effectLst/>
          </c:spPr>
          <c:marker>
            <c:symbol val="circle"/>
            <c:size val="6"/>
            <c:spPr>
              <a:solidFill>
                <a:srgbClr val="B5472A"/>
              </a:solidFill>
              <a:ln w="9525" cap="flat">
                <a:solidFill>
                  <a:srgbClr val="B5472A"/>
                </a:solidFill>
                <a:prstDash val="solid"/>
                <a:round/>
              </a:ln>
              <a:effectLst/>
            </c:spPr>
          </c:marker>
          <c:cat>
            <c:strRef>
              <c:f>Sheet1!$A$2:$A$6</c:f>
              <c:strCache>
                <c:ptCount val="5"/>
                <c:pt idx="0">
                  <c:v>FY22</c:v>
                </c:pt>
                <c:pt idx="1">
                  <c:v>FY23</c:v>
                </c:pt>
                <c:pt idx="2">
                  <c:v>FY24</c:v>
                </c:pt>
                <c:pt idx="3">
                  <c:v>FY25</c:v>
                </c:pt>
                <c:pt idx="4">
                  <c:v>FY26</c:v>
                </c:pt>
              </c:strCache>
            </c:strRef>
          </c:cat>
          <c:val>
            <c:numRef>
              <c:f>Sheet1!$D$2:$D$6</c:f>
              <c:numCache>
                <c:formatCode>General</c:formatCode>
                <c:ptCount val="5"/>
                <c:pt idx="0">
                  <c:v>1.5</c:v>
                </c:pt>
                <c:pt idx="1">
                  <c:v>1.3</c:v>
                </c:pt>
                <c:pt idx="2">
                  <c:v>1.6</c:v>
                </c:pt>
                <c:pt idx="3">
                  <c:v>1.9</c:v>
                </c:pt>
                <c:pt idx="4">
                  <c:v>1.9</c:v>
                </c:pt>
              </c:numCache>
            </c:numRef>
          </c:val>
          <c:smooth val="0"/>
          <c:extLst>
            <c:ext xmlns:c16="http://schemas.microsoft.com/office/drawing/2014/chart" uri="{C3380CC4-5D6E-409C-BE32-E72D297353CC}">
              <c16:uniqueId val="{00000002-73B2-42B5-AB0A-2600217B4404}"/>
            </c:ext>
          </c:extLst>
        </c:ser>
        <c:ser>
          <c:idx val="3"/>
          <c:order val="3"/>
          <c:tx>
            <c:strRef>
              <c:f>Sheet1!$E$1</c:f>
              <c:strCache>
                <c:ptCount val="1"/>
                <c:pt idx="0">
                  <c:v>Cipla</c:v>
                </c:pt>
              </c:strCache>
            </c:strRef>
          </c:tx>
          <c:spPr>
            <a:ln w="31750" cap="flat">
              <a:solidFill>
                <a:srgbClr val="C48A12"/>
              </a:solidFill>
              <a:prstDash val="solid"/>
              <a:round/>
            </a:ln>
            <a:effectLst/>
          </c:spPr>
          <c:marker>
            <c:symbol val="circle"/>
            <c:size val="6"/>
            <c:spPr>
              <a:solidFill>
                <a:srgbClr val="C48A12"/>
              </a:solidFill>
              <a:ln w="9525" cap="flat">
                <a:solidFill>
                  <a:srgbClr val="C48A12"/>
                </a:solidFill>
                <a:prstDash val="solid"/>
                <a:round/>
              </a:ln>
              <a:effectLst/>
            </c:spPr>
          </c:marker>
          <c:cat>
            <c:strRef>
              <c:f>Sheet1!$A$2:$A$6</c:f>
              <c:strCache>
                <c:ptCount val="5"/>
                <c:pt idx="0">
                  <c:v>FY22</c:v>
                </c:pt>
                <c:pt idx="1">
                  <c:v>FY23</c:v>
                </c:pt>
                <c:pt idx="2">
                  <c:v>FY24</c:v>
                </c:pt>
                <c:pt idx="3">
                  <c:v>FY25</c:v>
                </c:pt>
                <c:pt idx="4">
                  <c:v>FY26</c:v>
                </c:pt>
              </c:strCache>
            </c:strRef>
          </c:cat>
          <c:val>
            <c:numRef>
              <c:f>Sheet1!$E$2:$E$6</c:f>
              <c:numCache>
                <c:formatCode>General</c:formatCode>
                <c:ptCount val="5"/>
                <c:pt idx="0">
                  <c:v>3</c:v>
                </c:pt>
                <c:pt idx="1">
                  <c:v>3.3</c:v>
                </c:pt>
                <c:pt idx="2">
                  <c:v>3.7</c:v>
                </c:pt>
                <c:pt idx="3">
                  <c:v>4.2</c:v>
                </c:pt>
                <c:pt idx="4">
                  <c:v>3.4</c:v>
                </c:pt>
              </c:numCache>
            </c:numRef>
          </c:val>
          <c:smooth val="0"/>
          <c:extLst>
            <c:ext xmlns:c16="http://schemas.microsoft.com/office/drawing/2014/chart" uri="{C3380CC4-5D6E-409C-BE32-E72D297353CC}">
              <c16:uniqueId val="{00000003-73B2-42B5-AB0A-2600217B440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B2A"/>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3DDCD"/>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6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0357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numbers in the contents table match the deck order. All four companies are analysed on consolidated figures. EBITDA is shown before forex gains for comparability (Sun Pharma and Lupin report a forex line; Dr. Reddy's and Cipla do not).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Workings (₹ million converted to ₹ crore by dividing by 10).
EBITDA before forex = Revenue from operations - (Total expenses - Finance costs - Depreciation) - net forex gain. Forex gain is shown on its own line because it is a treasury / translation item and not part of core operations.
PBT before exceptional = EBITDA before forex + net forex gain + Other income - Depreciation - Finance costs. This ties to the reported figure for every year.
PAT is the amount attributable to owners of the company, after non-controlling interests and share of associates and JV.
Growth rates are on reported figures; FY23 and FY24 are as restated in the later year's filing.
FY22 exceptional items: US antitrust settlement provisions, write-off of MAT credit, impairment of an intangible asset under development.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the audited consolidated statement of assets and liabilities. Cash and bank balances = cash and cash equivalents + other bank balances. Other current assets include loans, other financial assets, other current assets and assets held for sale. Other liabilities include lease liabilities, other financial liabilities, other current and non-current liabilities, non-current provisions, deferred tax and current tax liabilities.
March 2023 and March 2024 balances are the restated comparatives given in the following year's filing. March 2022 is as originally reported.
Net cash = cash and bank balances + current investments - borrowings (lease liabilities excluded).
Several columns in the source PDFs were printed in reverse order; each year was matched using subtotals, closing cash in the cash flow statement and the A = L + E tally.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Indirect-method cash flow, consolidated. Closing cash = opening + (A+B+C) + cash taken over on acquisitions + forex effect on cash. This roll-forward ties to the balance sheet cash figure in every year.
Free cash flow = Net cash from operating activities - purchase of PPE, capital WIP and intangibles (gross capex).
CFO / PAT = Net cash from operating activities / PAT attributable to owners.
FY22 working capital line "increase in provisions" is ₹4,544 cr (accrual of the US antitrust settlement, a non-cash charge in PBT). FY23 shows the reverse: provisions fell by ₹3,804 cr as it was paid.
Investing flows include large gross purchases and sales of treasury investments (₹30,000+ cr a year), so CFI should be read together with the change in liquid funds.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ratios use consolidated figures. EBIT = PBT before exceptional items + finance costs (so it includes other income). Capital employed = total assets - current liabilities. Net cash used elsewhere = cash and bank + current investments - borrowings. Interest cover is very high because borrowings are small; the ratio will fall sharply if the Organon acquisition is debt funded.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Organon: per note 7 of the FY26 results, definitive agreement dated 27 April 2026 to acquire all outstanding shares for USD 14.00 per share in cash, enterprise value USD 11.75 billion. It is a post-balance-sheet event, so it is not in the March 2026 figures. The financing mix is not stated in the results.
Tax: effective rate on PBT before exceptionals moved from 12.7% (FY22) to 24.0% (FY26). The company will move to the 25.168% concessional regime (Section 115BAA) from FY27 and has remeasured deferred tax at March 2026.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Workings (Rs million in the filings / 10 = Rs crore).
EBITDA = Revenue from operations - (Total expenses - Finance costs - Depreciation and amortisation - Impairment of non-current assets). Dr. Reddy's does not disclose foreign exchange gains and losses separately in the results, so no forex adjustment is made.
PBT before exceptional items = EBITDA + Other income - Depreciation, amortisation and impairment - Finance costs; this equals 'Profit before tax and before share of equity accounted investees' in the filings. The company reports no exceptional items line; impairment is shown within expenses.
PAT is attributable to owners (FY25 and FY26 have non-controlling interests of Rs 701 mn and Rs -384 mn). EPS FY22 and FY23 = reported EPS / 5 for the 1:5 split. FY22 impairment: Rs 9,304 mn.
FY26 revenue is net of Rs 4,530 mn Lenalidomide shelf-stock adjustment.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the audited consolidated balance sheets. Borrowings = non-current + current borrowings (lease liabilities are in other liabilities). Cash and bank balances = cash and cash equivalents + other bank balances. Other current assets = derivative assets, other financial assets and other current assets.
Other liabilities = total assets - total equity - borrowings - trade payables - current provisions.
Haleon NRT (note 10 of FY25 results): upfront cash Rs 51,407 mn (GBP 458 mn); brands Rs 54,920 mn, goodwill Rs 7,170 mn and deferred tax liabilities Rs 8,483 mn recognised.
March 2021 balance sheet includes Rs 151 mn of assets held for sale.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Indirect-method cash flow, consolidated. FY25 uses the presentation in the FY26 filing (equity issued by a subsidiary to non-controlling interest, Rs 7,056 mn, is shown in financing and investments are shown net of bank deposits); totals tie to the FY25 net increase of Rs 7,262 mn.
Free cash flow = net cash from operating activities - purchase of property, plant and equipment - purchase of other intangible assets.
Forex effect and other reconciling items = balance sheet cash - opening cash - net change; it consists of the effect of exchange rates on cash plus bank overdraft adjustments.
Investing flows include gross purchases and sales of investments, so CFI should be read together with the change in liquid funds.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ratios use consolidated figures; averages are (opening + closing) / 2. EBIT = PBT before exceptional items + finance costs. Capital employed = total assets - current liabilities. Days are on revenue because expenses are reported by nature and cost of goods sold is not disclosed. Debtor days are high partly because receivables include licence and service income.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Regulatory: note 11 of the FY26 results records the SEC letter of 23 Feb 2026 (investigation concluded, no enforcement action) and the DOJ letter of 5 Mar 2026 (inquiry closed). FY26 impairments (note 3 to 5): CAR-T programmes Rs 1,291 mn, Immutep Phase III Rs 914 mn, conjugated estrogen Rs 545 mn. Final dividend recommended for FY26: Rs 8 per share.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Workings (Rs million in the filings / 10 = Rs crore).
EBITDA before forex = Revenue from operations - (Total expenses - Finance costs - Depreciation, amortisation and impairment) - net forex gain. Total expenses exclude the FY22 business compensation expense (Rs 18,783.8 mn), which is shown as an exceptional item. The FY26 exceptional items (Rs 5,579.1 mn) are reported below PBT in the filing.
Net forex gain = the 'Net (gain)/loss on foreign currency transactions' line inside expenses.
PBT before exceptional items = EBITDA before forex + forex gain + Other income - Depreciation - Finance costs; ties to reported figures in every year.
FY22 note: the Company paid USD 252.9 mn (Rs 18,783.8 mn) to settle the antitrust class action filed in the US over Glumetza; impairment charges of Rs 8,402.1 mn on acquired IPs are inside depreciation, amortisation and impairment.
PAT is attributable to owners of the company. EPS is basic as reported (FY26 after exceptional items).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the audited consolidated balance sheets. Borrowings = non-current + current borrowings (lease liabilities are excluded and sit in other liabilities). Cash and bank balances = cash and cash equivalents + other bank balances. Other current assets = loans, other financial assets, current tax assets and other current assets.
Other liabilities = total assets - total equity - borrowings - trade payables - current provisions (this includes lease liabilities, other financial liabilities, deferred tax and current tax liabilities).
Net cash = cash, bank balances and current investments - borrowings.
Balance sheet columns use the latest comparative: March 2022 and later dates are taken from the following year's filing, which presents right-of-use assets as a separate line (totals unchanged).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Indirect-method cash flow, consolidated. Cash flow from operations is reconstructed from the printed components where the scan did not carry the subtotal; each year's net change in cash agrees with the printed figure.
Free cash flow = net cash from operating activities - payment for property, plant and equipment and intangibles.
Forex effect and other reconciling items = balance sheet cash - opening cash - net change; it covers the unrealised foreign currency difference that Lupin reconciles between cash flow cash and balance sheet cash.
Investing flows include gross purchases and sales of investments of Rs 10,000 to 19,000 crore a year, so CFI should be read with the change in liquid funds.
FY22 CFO includes the cash settlement of Rs 1,878 crore.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ratios use consolidated figures; averages are (opening + closing) / 2. EBIT = PBT before exceptional items + finance costs. Capital employed = total assets - current liabilities. Days are on revenue because Lupin reports expenses by nature, so cost of goods sold is not disclosed. CFO to PAT and payout are shown as n.m. for FY22 because PAT was a loss. FY22 ROE and ROCE are depressed by the settlement and impairment.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Antitrust: note 6 of the FY26 results records a cumulative provision of Rs 5,816.9 mn (USD 65.8 mn) for US generic pharmaceutical antitrust matters; one matter was settled in April 2026 for USD 30 mn. The same note records the Astellas (mirabegron) settlement and the incremental cost of the new labour codes (Rs 512.2 mn). Acquisition: Renascience Pharma Ltd, UK, acquired in FY26 for Rs 1,361.6 mn. Dividend recommended for FY26: Rs 18 per share (Rs 8,229.2 mn).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Workings (₹ crore as published).
EBITDA = Revenue from operations - (Total expenses - Finance costs - Depreciation, impairment and amortisation). Cipla does not disclose a net forex gain in the P&amp;L, so no forex adjustment is made.
PBT before exceptional items = EBITDA + Other income - Depreciation - Finance costs; ties to reported figures in every year.
Exceptional items: FY22 ₹182.12 cr impairment of investment in Avenue Therapeutics (Tramadol IV); FY23 ₹182.42 cr (Pharmaceuticals segment; nature not described in the results); FY24 ₹194.82 cr impairment of intangibles and wind-down cost of Pulmazole; FY26 ₹275.91 cr New Labour Codes (gratuity and leave).
Tax rate = total tax / PBT after exceptional items. FY25 tax is net of ₹155.61 cr reversal after a favourable ITAT order.
PAT is attributable to owners of the company. EPS is basic as reported.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the audited consolidated statements of assets and liabilities. Borrowings = non-current + current borrowings (lease liabilities excluded and sit in other liabilities). Cash and bank balances = cash and cash equivalents + other bank balances. Other current assets = loans, other financial assets, other current assets and assets held for sale.
Other liabilities = total assets - total equity - borrowings - trade payables - current provisions.
Net cash = cash, bank balances and current investments - borrowings.
March 2022 and March 2023 liabilities include liabilities of disposal groups held for sale (₹0.34 cr and ₹76.40 cr).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Indirect-method cash flow, consolidated. Free cash flow = net cash from operating activities - purchase of property, plant and equipment and intangibles.
Forex effect and other reconciling items = balance sheet cash - opening cash - net change; it covers the foreign currency translation difference and bank overdraft, which cash flow cash is net of.
Acquisitions = business and subsidiary purchase consideration (FY24 ₹300.89 cr; FY25 ₹130.00 cr + ₹75.09 cr; FY26 ₹110.65 cr for Inzpera Healthscience, completed 4 December 2025).
Investing flows include net purchases of current investments (FY25 ₹2,077 cr), so CFI should be read with the change in liquid funds.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ratios use consolidated figures; averages are (opening + closing) / 2. EBIT = PBT before exceptional items + finance costs. Capital employed = total assets - current liabilities. Days are on revenue because Cipla reports expenses by nature, so cost of goods sold is not disclosed. Interest cover is very high because finance costs are small.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results: new Labour Codes effective 21 November 2025 led to ₹275.91 cr exceptional charge. Final dividend of ₹13 per share recommended (face value ₹2). Acquisition: 100% of Inzpera Healthscience Limited for ₹110.65 cr (goodwill ₹66.70 cr). FY25: Cipla's NPPA/DPCO matter remains disclosed as a contingent liability of about ₹2,011 cr with no provision.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 = revenue / FY22 revenue x 100. CAGR = (FY26 / FY22)^(1/4) - 1. Growth figures are on reported consolidated revenue from operations.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EBITDA = revenue - (total expenses - finance costs - depreciation and impairment) - net forex gain (Sun Pharma and Lupin only). PAT is attributable to owners. Cipla FY26: employee benefits expense Rs 5,366.33 cr vs Rs 4,832.83 cr (+11.0%); other expenses Rs 7,322.23 cr vs Rs 6,657.90 cr (+10.0%). Sun effective tax rate = tax on PBT before exceptional items.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CFO = net cash from operating activities. Free cash flow = CFO - purchase of PPE and intangibles. Acquisitions = cash paid for businesses and subsidiaries. Payout = dividends paid / PAT attributable to owners.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 line item / revenue from operations x 100. Expense lines are shown negative. "Associates, minorities and other" = PAT attributable - (PBT before exceptional - exceptional - tax), i.e. share of associates, non-controlling interests and tax on exceptional items. Rounding differences of 0.1 may occur.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 balance-sheet item / total assets x 100. Total equity includes non-controlling interests. Other current assets include assets held for sale. Other liabilities = total assets - equity - borrowings - trade payables - current provisions (lease liabilities, other financial liabilities, deferred tax and other).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Formulas as on each company ratio page. Net cash = cash + bank balances + current investments - borrowings. Net cash / total assets is the average of the five year-end ratios.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ROCE = EBIT / average (total assets - current liabilities), EBIT = PBT before exceptional items + finance costs. Cash conversion cycle = inventory days + debtor days - creditor days, all on revenue.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Ranks are 1 (best) to 4 (worst) on each measure; average rank is the simple mean of nine ranks. Cash conversion cycle is ranked low-to-high. Sources are the metrics on the ratio slides.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are from the company slides: FY26 unless stated. Dr. Reddy's Q4 FY26 regional growth is from Business Standard's report on its Q4 FY26 results. Lupin antitrust provision per note 6 of its FY26 results.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pattern is treated as industry-wide when it appears in at least three of the four companies. Dividends compared FY26 against FY22 (cash flow statement). Capex growth in FY26: Sun, Dr. Reddy's, Lupin and Cipla all positive.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 CAGR FY23 to FY26 is used because FY22 profit at Sun and Lupin was depressed by settlements. Lupin PAT FY23 was only ₹430 cr, so its growth rate is not comparable.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90" name="Accent bar"/>
          <p:cNvSpPr/>
          <p:nvPr userDrawn="1"/>
        </p:nvSpPr>
        <p:spPr>
          <a:xfrm>
            <a:off x="0" y="0"/>
            <a:ext cx="137160" cy="6858000"/>
          </a:xfrm>
          <a:prstGeom prst="rect">
            <a:avLst/>
          </a:prstGeom>
          <a:solidFill>
            <a:srgbClr val="0B4F4A"/>
          </a:solidFill>
          <a:ln>
            <a:noFill/>
          </a:ln>
        </p:spPr>
        <p:txBody>
          <a:bodyPr/>
          <a:lstStyle/>
          <a:p>
            <a:endParaRPr lang="en-US"/>
          </a:p>
        </p:txBody>
      </p:sp>
      <p:sp>
        <p:nvSpPr>
          <p:cNvPr id="91" name="Accent tick"/>
          <p:cNvSpPr/>
          <p:nvPr userDrawn="1"/>
        </p:nvSpPr>
        <p:spPr>
          <a:xfrm>
            <a:off x="0" y="0"/>
            <a:ext cx="137160" cy="914400"/>
          </a:xfrm>
          <a:prstGeom prst="rect">
            <a:avLst/>
          </a:prstGeom>
          <a:solidFill>
            <a:srgbClr val="C48A12"/>
          </a:solidFill>
          <a:ln>
            <a:noFill/>
          </a:ln>
        </p:spPr>
        <p:txBody>
          <a:bodyPr/>
          <a:lstStyle/>
          <a:p>
            <a:endParaRPr lang="en-US"/>
          </a:p>
        </p:txBody>
      </p:sp>
      <p:sp>
        <p:nvSpPr>
          <p:cNvPr id="2" name="Text 0"/>
          <p:cNvSpPr/>
          <p:nvPr/>
        </p:nvSpPr>
        <p:spPr>
          <a:xfrm>
            <a:off x="457200" y="6400800"/>
            <a:ext cx="10424160" cy="274320"/>
          </a:xfrm>
          <a:prstGeom prst="rect">
            <a:avLst/>
          </a:prstGeom>
          <a:noFill/>
          <a:ln/>
        </p:spPr>
        <p:txBody>
          <a:bodyPr wrap="square" lIns="0" tIns="0" rIns="0" bIns="0" rtlCol="0" anchor="ctr"/>
          <a:lstStyle/>
          <a:p>
            <a:pPr marL="0" indent="0">
              <a:buNone/>
            </a:pPr>
            <a:r>
              <a:rPr lang="en-US" sz="1000" dirty="0">
                <a:solidFill>
                  <a:schemeClr val="accent2"/>
                </a:solidFill>
              </a:rPr>
              <a:t>Source: audited consolidated results of the four companies, FY2021-22 to FY2025-26, and group workings. Amounts in ₹ crore (1 crore = 10 million) unless stated.</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0B4F4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chart" Target="../charts/chart12.xml"/><Relationship Id="rId4" Type="http://schemas.openxmlformats.org/officeDocument/2006/relationships/chart" Target="../charts/chart1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chart" Target="../charts/chart18.xml"/><Relationship Id="rId4" Type="http://schemas.openxmlformats.org/officeDocument/2006/relationships/chart" Target="../charts/chart17.xml"/></Relationships>
</file>

<file path=ppt/slides/_rels/slide22.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chart" Target="../charts/chart24.xml"/><Relationship Id="rId4" Type="http://schemas.openxmlformats.org/officeDocument/2006/relationships/chart" Target="../charts/chart23.xml"/></Relationships>
</file>

<file path=ppt/slides/_rels/slide28.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chart" Target="../charts/chart27.xml"/></Relationships>
</file>

<file path=ppt/slides/_rels/slide30.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chart" Target="../charts/chart31.xml"/><Relationship Id="rId4" Type="http://schemas.openxmlformats.org/officeDocument/2006/relationships/chart" Target="../charts/chart3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40080"/>
            <a:ext cx="10698480" cy="365760"/>
          </a:xfrm>
          <a:prstGeom prst="rect">
            <a:avLst/>
          </a:prstGeom>
          <a:noFill/>
          <a:ln/>
        </p:spPr>
        <p:txBody>
          <a:bodyPr wrap="square" lIns="0" tIns="0" rIns="0" bIns="0" rtlCol="0" anchor="ctr"/>
          <a:lstStyle/>
          <a:p>
            <a:pPr marL="0" indent="0">
              <a:buNone/>
            </a:pPr>
            <a:r>
              <a:rPr lang="en-US" sz="1400" b="1" kern="0" spc="400" dirty="0">
                <a:solidFill>
                  <a:srgbClr val="E3DDCD"/>
                </a:solidFill>
              </a:rPr>
              <a:t>ACCOUNTING PROJECT</a:t>
            </a:r>
            <a:endParaRPr lang="en-US" sz="1400" dirty="0"/>
          </a:p>
        </p:txBody>
      </p:sp>
      <p:sp>
        <p:nvSpPr>
          <p:cNvPr id="3" name="Cover title"/>
          <p:cNvSpPr txBox="1"/>
          <p:nvPr/>
        </p:nvSpPr>
        <p:spPr>
          <a:xfrm>
            <a:off x="731520" y="1234440"/>
            <a:ext cx="10241280" cy="1828800"/>
          </a:xfrm>
          <a:prstGeom prst="rect">
            <a:avLst/>
          </a:prstGeom>
          <a:noFill/>
          <a:ln/>
        </p:spPr>
        <p:txBody>
          <a:bodyPr wrap="square" lIns="0" tIns="0" rIns="0" bIns="0" rtlCol="0" anchor="t"/>
          <a:lstStyle/>
          <a:p>
            <a:pPr marL="0" indent="0">
              <a:buNone/>
            </a:pPr>
            <a:r>
              <a:rPr lang="en-US" sz="3800" b="1" dirty="0">
                <a:solidFill>
                  <a:srgbClr val="FFFFFF"/>
                </a:solidFill>
                <a:latin typeface="+mj-lt" pitchFamily="34" charset="0"/>
                <a:ea typeface="+mj-lt" pitchFamily="34" charset="-122"/>
                <a:cs typeface="+mj-lt" pitchFamily="34" charset="-120"/>
              </a:rPr>
              <a:t>Financial Statement Analysis of Listed Indian Pharmaceutical Companies</a:t>
            </a:r>
            <a:endParaRPr lang="en-US" sz="4200" dirty="0"/>
          </a:p>
        </p:txBody>
      </p:sp>
      <p:sp>
        <p:nvSpPr>
          <p:cNvPr id="4" name="Text 2"/>
          <p:cNvSpPr txBox="1"/>
          <p:nvPr/>
        </p:nvSpPr>
        <p:spPr>
          <a:xfrm>
            <a:off x="731520" y="3200400"/>
            <a:ext cx="10241280" cy="731520"/>
          </a:xfrm>
          <a:prstGeom prst="rect">
            <a:avLst/>
          </a:prstGeom>
          <a:noFill/>
          <a:ln/>
        </p:spPr>
        <p:txBody>
          <a:bodyPr wrap="square" lIns="0" tIns="0" rIns="0" bIns="0" rtlCol="0" anchor="t"/>
          <a:lstStyle/>
          <a:p>
            <a:pPr marL="0" indent="0">
              <a:buNone/>
            </a:pPr>
            <a:r>
              <a:rPr lang="en-US" sz="2000" dirty="0">
                <a:solidFill>
                  <a:srgbClr val="E3DDCD"/>
                </a:solidFill>
              </a:rPr>
              <a:t>Trend, vertical and ratio analysis of income statements, balance sheets and cash flows, FY2022 to FY2026</a:t>
            </a:r>
            <a:endParaRPr lang="en-US" sz="2000" dirty="0"/>
          </a:p>
        </p:txBody>
      </p:sp>
      <p:sp>
        <p:nvSpPr>
          <p:cNvPr id="5" name="Text 3"/>
          <p:cNvSpPr txBox="1"/>
          <p:nvPr/>
        </p:nvSpPr>
        <p:spPr>
          <a:xfrm>
            <a:off x="731520" y="4160520"/>
            <a:ext cx="10698480" cy="411480"/>
          </a:xfrm>
          <a:prstGeom prst="rect">
            <a:avLst/>
          </a:prstGeom>
          <a:noFill/>
          <a:ln/>
        </p:spPr>
        <p:txBody>
          <a:bodyPr wrap="square" lIns="0" tIns="0" rIns="0" bIns="0" rtlCol="0" anchor="ctr"/>
          <a:lstStyle/>
          <a:p>
            <a:pPr marL="0" indent="0">
              <a:buNone/>
            </a:pPr>
            <a:r>
              <a:rPr lang="en-US" sz="1800" b="1" dirty="0">
                <a:solidFill>
                  <a:srgbClr val="FFFFFF"/>
                </a:solidFill>
              </a:rPr>
              <a:t>Sun Pharma   |   Dr. Reddy's   |   Lupin   |   Cipla</a:t>
            </a:r>
            <a:endParaRPr lang="en-US" sz="1800" dirty="0"/>
          </a:p>
        </p:txBody>
      </p:sp>
      <p:sp>
        <p:nvSpPr>
          <p:cNvPr id="6" name="Text 4"/>
          <p:cNvSpPr txBox="1"/>
          <p:nvPr/>
        </p:nvSpPr>
        <p:spPr>
          <a:xfrm>
            <a:off x="731520" y="5074920"/>
            <a:ext cx="5486400" cy="274320"/>
          </a:xfrm>
          <a:prstGeom prst="rect">
            <a:avLst/>
          </a:prstGeom>
          <a:noFill/>
          <a:ln/>
        </p:spPr>
        <p:txBody>
          <a:bodyPr wrap="square" lIns="0" tIns="0" rIns="0" bIns="0" rtlCol="0" anchor="ctr"/>
          <a:lstStyle/>
          <a:p>
            <a:pPr marL="0" indent="0">
              <a:buNone/>
            </a:pPr>
            <a:endParaRPr lang="en-US" sz="1200" dirty="0"/>
          </a:p>
        </p:txBody>
      </p:sp>
      <p:sp>
        <p:nvSpPr>
          <p:cNvPr id="7" name="Member 1"/>
          <p:cNvSpPr txBox="1"/>
          <p:nvPr/>
        </p:nvSpPr>
        <p:spPr>
          <a:xfrm>
            <a:off x="731520" y="5440680"/>
            <a:ext cx="2697480" cy="411480"/>
          </a:xfrm>
          <a:prstGeom prst="rect">
            <a:avLst/>
          </a:prstGeom>
          <a:noFill/>
          <a:ln/>
        </p:spPr>
        <p:txBody>
          <a:bodyPr wrap="square" lIns="0" tIns="0" rIns="0" bIns="0" rtlCol="0" anchor="ctr"/>
          <a:lstStyle/>
          <a:p>
            <a:pPr marL="0" indent="0">
              <a:buNone/>
            </a:pPr>
            <a:endParaRPr lang="en-US" sz="1800" dirty="0"/>
          </a:p>
        </p:txBody>
      </p:sp>
      <p:sp>
        <p:nvSpPr>
          <p:cNvPr id="8" name="Member 2"/>
          <p:cNvSpPr txBox="1"/>
          <p:nvPr/>
        </p:nvSpPr>
        <p:spPr>
          <a:xfrm>
            <a:off x="3520440" y="5440680"/>
            <a:ext cx="2697480" cy="411480"/>
          </a:xfrm>
          <a:prstGeom prst="rect">
            <a:avLst/>
          </a:prstGeom>
          <a:noFill/>
          <a:ln/>
        </p:spPr>
        <p:txBody>
          <a:bodyPr wrap="square" lIns="0" tIns="0" rIns="0" bIns="0" rtlCol="0" anchor="ctr"/>
          <a:lstStyle/>
          <a:p>
            <a:pPr marL="0" indent="0">
              <a:buNone/>
            </a:pPr>
            <a:endParaRPr lang="en-US" sz="1800" dirty="0"/>
          </a:p>
        </p:txBody>
      </p:sp>
      <p:sp>
        <p:nvSpPr>
          <p:cNvPr id="9" name="Member 3"/>
          <p:cNvSpPr txBox="1"/>
          <p:nvPr/>
        </p:nvSpPr>
        <p:spPr>
          <a:xfrm>
            <a:off x="6309360" y="5440680"/>
            <a:ext cx="2697480" cy="411480"/>
          </a:xfrm>
          <a:prstGeom prst="rect">
            <a:avLst/>
          </a:prstGeom>
          <a:noFill/>
          <a:ln/>
        </p:spPr>
        <p:txBody>
          <a:bodyPr wrap="square" lIns="0" tIns="0" rIns="0" bIns="0" rtlCol="0" anchor="ctr"/>
          <a:lstStyle/>
          <a:p>
            <a:pPr marL="0" indent="0">
              <a:buNone/>
            </a:pPr>
            <a:endParaRPr lang="en-US" sz="1800" dirty="0"/>
          </a:p>
        </p:txBody>
      </p:sp>
      <p:sp>
        <p:nvSpPr>
          <p:cNvPr id="10" name="Member 4"/>
          <p:cNvSpPr txBox="1"/>
          <p:nvPr/>
        </p:nvSpPr>
        <p:spPr>
          <a:xfrm>
            <a:off x="9098280" y="5440680"/>
            <a:ext cx="2697480" cy="411480"/>
          </a:xfrm>
          <a:prstGeom prst="rect">
            <a:avLst/>
          </a:prstGeom>
          <a:noFill/>
          <a:ln/>
        </p:spPr>
        <p:txBody>
          <a:bodyPr wrap="square" lIns="0" tIns="0" rIns="0" bIns="0" rtlCol="0" anchor="ctr"/>
          <a:lstStyle/>
          <a:p>
            <a:pPr marL="0" indent="0">
              <a:buNone/>
            </a:pPr>
            <a:endParaRPr lang="en-US" sz="1800" dirty="0"/>
          </a:p>
        </p:txBody>
      </p:sp>
      <p:sp>
        <p:nvSpPr>
          <p:cNvPr id="11" name="Accent rule"/>
          <p:cNvSpPr/>
          <p:nvPr/>
        </p:nvSpPr>
        <p:spPr>
          <a:xfrm>
            <a:off x="731520" y="3090672"/>
            <a:ext cx="1280160" cy="54864"/>
          </a:xfrm>
          <a:prstGeom prst="rect">
            <a:avLst/>
          </a:prstGeom>
          <a:solidFill>
            <a:srgbClr val="C48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SCOPE AND APPROACH</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Scope: five years of consolidated statements for four listed pharma companies, studied by trend, vertical and ratio analysis</a:t>
            </a:r>
            <a:endParaRPr lang="en-US" sz="2400" dirty="0"/>
          </a:p>
        </p:txBody>
      </p:sp>
      <p:graphicFrame>
        <p:nvGraphicFramePr>
          <p:cNvPr id="4" name="Contents"/>
          <p:cNvGraphicFramePr>
            <a:graphicFrameLocks noGrp="1"/>
          </p:cNvGraphicFramePr>
          <p:nvPr>
            <p:extLst>
              <p:ext uri="{D42A27DB-BD31-4B8C-83A1-F6EECF244321}">
                <p14:modId xmlns:p14="http://schemas.microsoft.com/office/powerpoint/2010/main" val="1579011935"/>
              </p:ext>
            </p:extLst>
          </p:nvPr>
        </p:nvGraphicFramePr>
        <p:xfrm>
          <a:off x="457200" y="1463040"/>
          <a:ext cx="6035040" cy="4325112"/>
        </p:xfrm>
        <a:graphic>
          <a:graphicData uri="http://schemas.openxmlformats.org/drawingml/2006/table">
            <a:tbl>
              <a:tblPr/>
              <a:tblGrid>
                <a:gridCol w="4846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93192">
                <a:tc>
                  <a:txBody>
                    <a:bodyPr/>
                    <a:lstStyle/>
                    <a:p>
                      <a:pPr marL="0" indent="0" algn="l">
                        <a:buNone/>
                      </a:pPr>
                      <a:r>
                        <a:rPr lang="en-US" sz="1300" b="1" dirty="0">
                          <a:solidFill>
                            <a:srgbClr val="FFFFFF"/>
                          </a:solidFill>
                        </a:rPr>
                        <a:t>Contents</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300" b="1" dirty="0">
                          <a:solidFill>
                            <a:srgbClr val="FFFFFF"/>
                          </a:solidFill>
                        </a:rPr>
                        <a:t>Slides</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93192">
                <a:tc>
                  <a:txBody>
                    <a:bodyPr/>
                    <a:lstStyle/>
                    <a:p>
                      <a:pPr marL="0" indent="0" algn="l">
                        <a:buNone/>
                      </a:pPr>
                      <a:r>
                        <a:rPr lang="en-US" sz="1300" b="1" dirty="0">
                          <a:solidFill>
                            <a:srgbClr val="1D2B2A"/>
                          </a:solidFill>
                        </a:rPr>
                        <a:t>Industry backdrop and company profiles</a:t>
                      </a:r>
                      <a:endParaRPr lang="en-US" sz="13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300" b="1" dirty="0">
                          <a:solidFill>
                            <a:srgbClr val="1D2B2A"/>
                          </a:solidFill>
                        </a:rPr>
                        <a:t>3 - 4</a:t>
                      </a:r>
                      <a:endParaRPr lang="en-US" sz="13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lgn="l">
                        <a:buNone/>
                      </a:pPr>
                      <a:r>
                        <a:rPr lang="en-US" sz="1300" dirty="0">
                          <a:solidFill>
                            <a:srgbClr val="1D2B2A"/>
                          </a:solidFill>
                        </a:rPr>
                        <a:t>Sun Pharma: P&amp;L, balance sheet, cash flow, ratios, trends</a:t>
                      </a:r>
                      <a:endParaRPr lang="en-US" sz="1300" dirty="0"/>
                    </a:p>
                  </a:txBody>
                  <a:tcPr marL="274320"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300" dirty="0">
                          <a:solidFill>
                            <a:srgbClr val="1D2B2A"/>
                          </a:solidFill>
                        </a:rPr>
                        <a:t>5 - 9</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lgn="l">
                        <a:buNone/>
                      </a:pPr>
                      <a:r>
                        <a:rPr lang="en-US" sz="1300" dirty="0">
                          <a:solidFill>
                            <a:srgbClr val="1D2B2A"/>
                          </a:solidFill>
                        </a:rPr>
                        <a:t>Dr. Reddy's: P&amp;L, balance sheet, cash flow, ratios, trends</a:t>
                      </a:r>
                      <a:endParaRPr lang="en-US" sz="1300" dirty="0"/>
                    </a:p>
                  </a:txBody>
                  <a:tcPr marL="274320"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300" dirty="0">
                          <a:solidFill>
                            <a:srgbClr val="1D2B2A"/>
                          </a:solidFill>
                        </a:rPr>
                        <a:t>10 - 14</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lgn="l">
                        <a:buNone/>
                      </a:pPr>
                      <a:r>
                        <a:rPr lang="en-US" sz="1300" dirty="0">
                          <a:solidFill>
                            <a:srgbClr val="1D2B2A"/>
                          </a:solidFill>
                        </a:rPr>
                        <a:t>Lupin: P&amp;L, balance sheet, cash flow, ratios, trends</a:t>
                      </a:r>
                      <a:endParaRPr lang="en-US" sz="1300" dirty="0"/>
                    </a:p>
                  </a:txBody>
                  <a:tcPr marL="274320"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300" dirty="0">
                          <a:solidFill>
                            <a:srgbClr val="1D2B2A"/>
                          </a:solidFill>
                        </a:rPr>
                        <a:t>15 - 19</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lgn="l">
                        <a:buNone/>
                      </a:pPr>
                      <a:r>
                        <a:rPr lang="en-US" sz="1300" dirty="0">
                          <a:solidFill>
                            <a:srgbClr val="1D2B2A"/>
                          </a:solidFill>
                        </a:rPr>
                        <a:t>Cipla: P&amp;L, balance sheet, cash flow, ratios, trends</a:t>
                      </a:r>
                      <a:endParaRPr lang="en-US" sz="1300" dirty="0"/>
                    </a:p>
                  </a:txBody>
                  <a:tcPr marL="274320"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300" dirty="0">
                          <a:solidFill>
                            <a:srgbClr val="1D2B2A"/>
                          </a:solidFill>
                        </a:rPr>
                        <a:t>20 - 24</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lgn="l">
                        <a:buNone/>
                      </a:pPr>
                      <a:r>
                        <a:rPr lang="en-US" sz="1300" b="1" dirty="0">
                          <a:solidFill>
                            <a:srgbClr val="1D2B2A"/>
                          </a:solidFill>
                        </a:rPr>
                        <a:t>Trend analysis (revenue, profit, cash flow)</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300" b="1" dirty="0">
                          <a:solidFill>
                            <a:srgbClr val="1D2B2A"/>
                          </a:solidFill>
                        </a:rPr>
                        <a:t>25 - 27</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93192">
                <a:tc>
                  <a:txBody>
                    <a:bodyPr/>
                    <a:lstStyle/>
                    <a:p>
                      <a:pPr marL="0" indent="0" algn="l">
                        <a:buNone/>
                      </a:pPr>
                      <a:r>
                        <a:rPr lang="en-US" sz="1300" b="1" dirty="0">
                          <a:solidFill>
                            <a:srgbClr val="1D2B2A"/>
                          </a:solidFill>
                        </a:rPr>
                        <a:t>Vertical (common-size) analysis</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300" b="1" dirty="0">
                          <a:solidFill>
                            <a:srgbClr val="1D2B2A"/>
                          </a:solidFill>
                        </a:rPr>
                        <a:t>28 - 29</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lgn="l">
                        <a:buNone/>
                      </a:pPr>
                      <a:r>
                        <a:rPr lang="en-US" sz="1300" b="1" dirty="0">
                          <a:solidFill>
                            <a:srgbClr val="1D2B2A"/>
                          </a:solidFill>
                        </a:rPr>
                        <a:t>Ratio analysis across the four</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300" b="1" dirty="0">
                          <a:solidFill>
                            <a:srgbClr val="1D2B2A"/>
                          </a:solidFill>
                        </a:rPr>
                        <a:t>30 - 31</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93192">
                <a:tc>
                  <a:txBody>
                    <a:bodyPr/>
                    <a:lstStyle/>
                    <a:p>
                      <a:pPr marL="0" indent="0" algn="l">
                        <a:buNone/>
                      </a:pPr>
                      <a:r>
                        <a:rPr lang="en-US" sz="1300" b="1" dirty="0">
                          <a:solidFill>
                            <a:srgbClr val="1D2B2A"/>
                          </a:solidFill>
                        </a:rPr>
                        <a:t>Scorecard, strengths and weaknesses, events, insights</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300" b="1" dirty="0">
                          <a:solidFill>
                            <a:srgbClr val="1D2B2A"/>
                          </a:solidFill>
                        </a:rPr>
                        <a:t>32 - 36</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93192">
                <a:tc>
                  <a:txBody>
                    <a:bodyPr/>
                    <a:lstStyle/>
                    <a:p>
                      <a:pPr marL="0" indent="0" algn="l">
                        <a:buNone/>
                      </a:pPr>
                      <a:r>
                        <a:rPr lang="en-US" sz="1300" b="1" dirty="0">
                          <a:solidFill>
                            <a:srgbClr val="1D2B2A"/>
                          </a:solidFill>
                        </a:rPr>
                        <a:t>Sources and notes</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300" b="1" dirty="0">
                          <a:solidFill>
                            <a:srgbClr val="1D2B2A"/>
                          </a:solidFill>
                        </a:rPr>
                        <a:t>37</a:t>
                      </a:r>
                      <a:endParaRPr lang="en-US" sz="13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2"/>
          <p:cNvSpPr txBox="1"/>
          <p:nvPr/>
        </p:nvSpPr>
        <p:spPr>
          <a:xfrm>
            <a:off x="6949440" y="1463040"/>
            <a:ext cx="4754880" cy="365760"/>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How the analysis was done</a:t>
            </a:r>
            <a:endParaRPr lang="en-US" sz="1800" dirty="0"/>
          </a:p>
        </p:txBody>
      </p:sp>
      <p:sp>
        <p:nvSpPr>
          <p:cNvPr id="6" name="Text 3"/>
          <p:cNvSpPr txBox="1"/>
          <p:nvPr/>
        </p:nvSpPr>
        <p:spPr>
          <a:xfrm>
            <a:off x="6949440" y="1920240"/>
            <a:ext cx="4754880" cy="4206240"/>
          </a:xfrm>
          <a:prstGeom prst="rect">
            <a:avLst/>
          </a:prstGeom>
          <a:noFill/>
          <a:ln/>
        </p:spPr>
        <p:txBody>
          <a:bodyPr wrap="square" lIns="0" tIns="0" rIns="0" bIns="0" rtlCol="0" anchor="t"/>
          <a:lstStyle/>
          <a:p>
            <a:pPr marL="0" indent="0">
              <a:spcAft>
                <a:spcPts val="900"/>
              </a:spcAft>
              <a:buNone/>
            </a:pPr>
            <a:r>
              <a:rPr lang="en-US" sz="1400" b="1" dirty="0">
                <a:solidFill>
                  <a:srgbClr val="0B4F4A"/>
                </a:solidFill>
              </a:rPr>
              <a:t>Data: </a:t>
            </a:r>
            <a:r>
              <a:rPr lang="en-US" sz="1400" dirty="0">
                <a:solidFill>
                  <a:srgbClr val="1D2B2A"/>
                </a:solidFill>
              </a:rPr>
              <a:t>audited consolidated results for FY2021-22 to FY2025-26 (years end 31 March), in ₹ crore.</a:t>
            </a:r>
            <a:endParaRPr lang="en-US" sz="1400" dirty="0"/>
          </a:p>
          <a:p>
            <a:pPr marL="0" indent="0">
              <a:spcAft>
                <a:spcPts val="900"/>
              </a:spcAft>
              <a:buNone/>
            </a:pPr>
            <a:r>
              <a:rPr lang="en-US" sz="1400" b="1" dirty="0">
                <a:solidFill>
                  <a:srgbClr val="0B4F4A"/>
                </a:solidFill>
              </a:rPr>
              <a:t>Trend analysis: </a:t>
            </a:r>
            <a:r>
              <a:rPr lang="en-US" sz="1400" dirty="0">
                <a:solidFill>
                  <a:srgbClr val="1D2B2A"/>
                </a:solidFill>
              </a:rPr>
              <a:t>year-on-year growth, four-year CAGR and index numbers (FY22 = 100).</a:t>
            </a:r>
            <a:endParaRPr lang="en-US" sz="1400" dirty="0"/>
          </a:p>
          <a:p>
            <a:pPr marL="0" indent="0">
              <a:spcAft>
                <a:spcPts val="900"/>
              </a:spcAft>
              <a:buNone/>
            </a:pPr>
            <a:r>
              <a:rPr lang="en-US" sz="1400" b="1" dirty="0">
                <a:solidFill>
                  <a:srgbClr val="0B4F4A"/>
                </a:solidFill>
              </a:rPr>
              <a:t>Vertical analysis: </a:t>
            </a:r>
            <a:r>
              <a:rPr lang="en-US" sz="1400" dirty="0">
                <a:solidFill>
                  <a:srgbClr val="1D2B2A"/>
                </a:solidFill>
              </a:rPr>
              <a:t>each income-statement line as % of revenue and each balance-sheet line as % of total assets.</a:t>
            </a:r>
            <a:endParaRPr lang="en-US" sz="1400" dirty="0"/>
          </a:p>
          <a:p>
            <a:pPr marL="0" indent="0">
              <a:spcAft>
                <a:spcPts val="900"/>
              </a:spcAft>
              <a:buNone/>
            </a:pPr>
            <a:r>
              <a:rPr lang="en-US" sz="1400" b="1" dirty="0">
                <a:solidFill>
                  <a:srgbClr val="0B4F4A"/>
                </a:solidFill>
              </a:rPr>
              <a:t>Ratio analysis: </a:t>
            </a:r>
            <a:r>
              <a:rPr lang="en-US" sz="1400" dirty="0">
                <a:solidFill>
                  <a:srgbClr val="1D2B2A"/>
                </a:solidFill>
              </a:rPr>
              <a:t>liquidity, solvency, efficiency, profitability and cash-flow ratios, with formulas on each company page.</a:t>
            </a:r>
            <a:endParaRPr lang="en-US" sz="1400" dirty="0"/>
          </a:p>
          <a:p>
            <a:pPr marL="0" indent="0">
              <a:spcAft>
                <a:spcPts val="900"/>
              </a:spcAft>
              <a:buNone/>
            </a:pPr>
            <a:r>
              <a:rPr lang="en-US" sz="1400" b="1" dirty="0">
                <a:solidFill>
                  <a:srgbClr val="0B4F4A"/>
                </a:solidFill>
              </a:rPr>
              <a:t>Peer comparison: </a:t>
            </a:r>
            <a:r>
              <a:rPr lang="en-US" sz="1400" dirty="0">
                <a:solidFill>
                  <a:srgbClr val="1D2B2A"/>
                </a:solidFill>
              </a:rPr>
              <a:t>ranks the four companies and links the numbers to events in the industry.</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COMPANY PROFILES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The four companies were founded between 1935 and 1984, are all listed, and had combined FY26 revenue of ₹1,48,283 cr</a:t>
            </a:r>
            <a:endParaRPr lang="en-US" sz="2400" dirty="0"/>
          </a:p>
        </p:txBody>
      </p:sp>
      <p:graphicFrame>
        <p:nvGraphicFramePr>
          <p:cNvPr id="5" name="Profiles"/>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4105656"/>
        </p:xfrm>
        <a:graphic>
          <a:graphicData uri="http://schemas.openxmlformats.org/drawingml/2006/table">
            <a:tbl>
              <a:tblPr/>
              <a:tblGrid>
                <a:gridCol w="16002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gridCol w="2404872">
                  <a:extLst>
                    <a:ext uri="{9D8B030D-6E8A-4147-A177-3AD203B41FA5}">
                      <a16:colId xmlns:a16="http://schemas.microsoft.com/office/drawing/2014/main" val="20004"/>
                    </a:ext>
                  </a:extLst>
                </a:gridCol>
              </a:tblGrid>
              <a:tr h="310896">
                <a:tc>
                  <a:txBody>
                    <a:bodyPr/>
                    <a:lstStyle/>
                    <a:p>
                      <a:pPr marL="0" indent="0" algn="l">
                        <a:buNone/>
                      </a:pP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300" b="1" dirty="0">
                          <a:solidFill>
                            <a:srgbClr val="FFFFFF"/>
                          </a:solidFill>
                        </a:rPr>
                        <a:t>Sun Pharma</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300" b="1" dirty="0">
                          <a:solidFill>
                            <a:srgbClr val="FFFFFF"/>
                          </a:solidFill>
                        </a:rPr>
                        <a:t>Dr. Reddy's</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300" b="1" dirty="0">
                          <a:solidFill>
                            <a:srgbClr val="FFFFFF"/>
                          </a:solidFill>
                        </a:rPr>
                        <a:t>Lupin</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300" b="1" dirty="0">
                          <a:solidFill>
                            <a:srgbClr val="FFFFFF"/>
                          </a:solidFill>
                        </a:rPr>
                        <a:t>Cipla</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65760">
                <a:tc>
                  <a:txBody>
                    <a:bodyPr/>
                    <a:lstStyle/>
                    <a:p>
                      <a:pPr marL="0" indent="0" algn="l">
                        <a:buNone/>
                      </a:pPr>
                      <a:r>
                        <a:rPr lang="en-US" sz="1250" b="1" dirty="0">
                          <a:solidFill>
                            <a:srgbClr val="0B4F4A"/>
                          </a:solidFill>
                        </a:rPr>
                        <a:t>Established</a:t>
                      </a:r>
                      <a:endParaRPr lang="en-US" sz="1250" dirty="0"/>
                    </a:p>
                  </a:txBody>
                  <a:tcPr marL="73152" marR="73152">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250" dirty="0">
                          <a:solidFill>
                            <a:srgbClr val="1D2B2A"/>
                          </a:solidFill>
                        </a:rPr>
                        <a:t>1983, by Dilip Shanghvi</a:t>
                      </a:r>
                      <a:endParaRPr lang="en-US" sz="1250" dirty="0"/>
                    </a:p>
                  </a:txBody>
                  <a:tcPr marL="73152" marR="73152">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1984, by Dr. K. Anji Reddy</a:t>
                      </a:r>
                      <a:endParaRPr lang="en-US" sz="1250" dirty="0"/>
                    </a:p>
                  </a:txBody>
                  <a:tcPr marL="73152" marR="73152">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1968, by Dr. Desh Bandhu Gupta</a:t>
                      </a:r>
                      <a:endParaRPr lang="en-US" sz="1250" dirty="0"/>
                    </a:p>
                  </a:txBody>
                  <a:tcPr marL="73152" marR="73152">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1935, by K. A. Hamied</a:t>
                      </a:r>
                      <a:endParaRPr lang="en-US" sz="1250" dirty="0"/>
                    </a:p>
                  </a:txBody>
                  <a:tcPr marL="73152" marR="73152">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250" b="1" dirty="0">
                          <a:solidFill>
                            <a:srgbClr val="0B4F4A"/>
                          </a:solidFill>
                        </a:rPr>
                        <a:t>Head office</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250" dirty="0">
                          <a:solidFill>
                            <a:srgbClr val="1D2B2A"/>
                          </a:solidFill>
                        </a:rPr>
                        <a:t>Mumbai</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Hyderabad</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Mumbai</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Mumbai</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250" b="1" dirty="0">
                          <a:solidFill>
                            <a:srgbClr val="0B4F4A"/>
                          </a:solidFill>
                        </a:rPr>
                        <a:t>Listed</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250" dirty="0">
                          <a:solidFill>
                            <a:srgbClr val="1D2B2A"/>
                          </a:solidFill>
                        </a:rPr>
                        <a:t>1994 (IPO), BSE and NSE</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1986 (IPO, BSE); NYSE in 2001</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1993 (IPO)</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Public company since 1935; NSE since Feb 1995*</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1143000">
                <a:tc>
                  <a:txBody>
                    <a:bodyPr/>
                    <a:lstStyle/>
                    <a:p>
                      <a:pPr marL="0" indent="0" algn="l">
                        <a:buNone/>
                      </a:pPr>
                      <a:r>
                        <a:rPr lang="en-US" sz="1250" b="1" dirty="0">
                          <a:solidFill>
                            <a:srgbClr val="0B4F4A"/>
                          </a:solidFill>
                        </a:rPr>
                        <a:t>What it does</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250" dirty="0">
                          <a:solidFill>
                            <a:srgbClr val="1D2B2A"/>
                          </a:solidFill>
                        </a:rPr>
                        <a:t>India's largest pharma company and fourth-largest specialty generics company in the world; psychiatry, cardiology, oncology, ophthalmology</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Generics, APIs, branded formulations and biologics; first non-Japanese Asia-Pacific pharma on the NYSE; NRT consumer portfolio since 2024</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Generics (US and India), respiratory, anti-TB, cardiovascular and diabetes medicines, branded formulations and APIs</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Respiratory, antiretroviral, cardiovascular and diabetes medicines, generics, OTC and diagnostics</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685800">
                <a:tc>
                  <a:txBody>
                    <a:bodyPr/>
                    <a:lstStyle/>
                    <a:p>
                      <a:pPr marL="0" indent="0" algn="l">
                        <a:buNone/>
                      </a:pPr>
                      <a:r>
                        <a:rPr lang="en-US" sz="1250" b="1" dirty="0">
                          <a:solidFill>
                            <a:srgbClr val="0B4F4A"/>
                          </a:solidFill>
                        </a:rPr>
                        <a:t>Landmark deals</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250" dirty="0">
                          <a:solidFill>
                            <a:srgbClr val="1D2B2A"/>
                          </a:solidFill>
                        </a:rPr>
                        <a:t>Ranbaxy (2014, about USD 4 bn); Concert (2023); Organon (agreed 2026)</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Haleon NRT portfolio (2024)</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Gavis and Novel Laboratories (2015, USD 880 mn); Medisol (2023)</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dirty="0">
                          <a:solidFill>
                            <a:srgbClr val="1D2B2A"/>
                          </a:solidFill>
                        </a:rPr>
                        <a:t>InvaGen and Exelan (2015, USD 555 mn); Inzpera (2025)</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l">
                        <a:buNone/>
                      </a:pPr>
                      <a:r>
                        <a:rPr lang="en-US" sz="1250" b="1" dirty="0">
                          <a:solidFill>
                            <a:srgbClr val="0B4F4A"/>
                          </a:solidFill>
                        </a:rPr>
                        <a:t>FY26 revenue (₹ cr)</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250" b="1" dirty="0">
                          <a:solidFill>
                            <a:srgbClr val="1D2B2A"/>
                          </a:solidFill>
                        </a:rPr>
                        <a:t>58,462</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b="1" dirty="0">
                          <a:solidFill>
                            <a:srgbClr val="1D2B2A"/>
                          </a:solidFill>
                        </a:rPr>
                        <a:t>33,700</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b="1" dirty="0">
                          <a:solidFill>
                            <a:srgbClr val="1D2B2A"/>
                          </a:solidFill>
                        </a:rPr>
                        <a:t>27,958</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b="1" dirty="0">
                          <a:solidFill>
                            <a:srgbClr val="1D2B2A"/>
                          </a:solidFill>
                        </a:rPr>
                        <a:t>28,163</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l">
                        <a:buNone/>
                      </a:pPr>
                      <a:r>
                        <a:rPr lang="en-US" sz="1250" b="1" dirty="0">
                          <a:solidFill>
                            <a:srgbClr val="0B4F4A"/>
                          </a:solidFill>
                        </a:rPr>
                        <a:t>FY26 PAT (₹ cr)</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250" b="1" dirty="0">
                          <a:solidFill>
                            <a:srgbClr val="1D2B2A"/>
                          </a:solidFill>
                        </a:rPr>
                        <a:t>11,479</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b="1" dirty="0">
                          <a:solidFill>
                            <a:srgbClr val="1D2B2A"/>
                          </a:solidFill>
                        </a:rPr>
                        <a:t>4,196</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b="1" dirty="0">
                          <a:solidFill>
                            <a:srgbClr val="1D2B2A"/>
                          </a:solidFill>
                        </a:rPr>
                        <a:t>5,333</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250" b="1" dirty="0">
                          <a:solidFill>
                            <a:srgbClr val="1D2B2A"/>
                          </a:solidFill>
                        </a:rPr>
                        <a:t>3,879</a:t>
                      </a:r>
                      <a:endParaRPr lang="en-US" sz="1250" dirty="0"/>
                    </a:p>
                  </a:txBody>
                  <a:tcPr marL="73152" marR="73152">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ext 2"/>
          <p:cNvSpPr txBox="1"/>
          <p:nvPr/>
        </p:nvSpPr>
        <p:spPr>
          <a:xfrm>
            <a:off x="457200" y="5989320"/>
            <a:ext cx="11274552" cy="320040"/>
          </a:xfrm>
          <a:prstGeom prst="rect">
            <a:avLst/>
          </a:prstGeom>
          <a:noFill/>
          <a:ln/>
        </p:spPr>
        <p:txBody>
          <a:bodyPr wrap="square" lIns="0" tIns="0" rIns="0" bIns="0" rtlCol="0" anchor="t"/>
          <a:lstStyle/>
          <a:p>
            <a:pPr marL="0" indent="0">
              <a:buNone/>
            </a:pPr>
            <a:r>
              <a:rPr lang="en-US" sz="1000" i="1" dirty="0">
                <a:solidFill>
                  <a:schemeClr val="accent2"/>
                </a:solidFill>
              </a:rPr>
              <a:t>*The BSE listing year of Cipla was not found in the sources used. Sources: company websites and encyclopedia entries (see slide 37); revenue and PAT from the audited consolidated results.</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epicts a minimalistic, circular logo with a gradient of orange and white colors, featuring a central, continuous loop design.&#10;&#10;AI-generated content may be incorrect.">
            <a:extLst>
              <a:ext uri="{FF2B5EF4-FFF2-40B4-BE49-F238E27FC236}">
                <a16:creationId xmlns:a16="http://schemas.microsoft.com/office/drawing/2014/main" id="{0F437C21-7C4E-947E-FE30-06B1891B4746}"/>
              </a:ext>
            </a:extLst>
          </p:cNvPr>
          <p:cNvPicPr>
            <a:picLocks noChangeAspect="1"/>
          </p:cNvPicPr>
          <p:nvPr/>
        </p:nvPicPr>
        <p:blipFill>
          <a:blip r:embed="rId2"/>
          <a:stretch>
            <a:fillRect/>
          </a:stretch>
        </p:blipFill>
        <p:spPr>
          <a:xfrm>
            <a:off x="1367623" y="0"/>
            <a:ext cx="9644933" cy="5735367"/>
          </a:xfrm>
          <a:prstGeom prst="rect">
            <a:avLst/>
          </a:prstGeom>
        </p:spPr>
      </p:pic>
      <p:sp>
        <p:nvSpPr>
          <p:cNvPr id="2" name="Rectangle 1">
            <a:extLst>
              <a:ext uri="{FF2B5EF4-FFF2-40B4-BE49-F238E27FC236}">
                <a16:creationId xmlns:a16="http://schemas.microsoft.com/office/drawing/2014/main" id="{801BC72E-40A5-A41A-9546-4C8881500EEF}"/>
              </a:ext>
            </a:extLst>
          </p:cNvPr>
          <p:cNvSpPr/>
          <p:nvPr/>
        </p:nvSpPr>
        <p:spPr>
          <a:xfrm>
            <a:off x="0" y="731520"/>
            <a:ext cx="127221" cy="61264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EDE1042-0AA7-B3BB-E866-894F2A3C61A2}"/>
              </a:ext>
            </a:extLst>
          </p:cNvPr>
          <p:cNvSpPr/>
          <p:nvPr/>
        </p:nvSpPr>
        <p:spPr>
          <a:xfrm>
            <a:off x="0" y="0"/>
            <a:ext cx="127221" cy="7315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63602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SUN PHARMACEUTICAL INDUSTRIES LIMITED  |  CONSOLIDATED  |  PROFIT AND LOSS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Revenue grew at 10.9% a year; core margin rose 1.4 points, but FY26 profit was helped by a ₹1,240 cr forex gain</a:t>
            </a:r>
            <a:endParaRPr lang="en-US" sz="2400" dirty="0"/>
          </a:p>
        </p:txBody>
      </p:sp>
      <p:graphicFrame>
        <p:nvGraphicFramePr>
          <p:cNvPr id="6" name="PL table"/>
          <p:cNvGraphicFramePr>
            <a:graphicFrameLocks noGrp="1"/>
          </p:cNvGraphicFramePr>
          <p:nvPr>
            <p:extLst>
              <p:ext uri="{D42A27DB-BD31-4B8C-83A1-F6EECF244321}">
                <p14:modId xmlns:p14="http://schemas.microsoft.com/office/powerpoint/2010/main" val="1579011935"/>
              </p:ext>
            </p:extLst>
          </p:nvPr>
        </p:nvGraphicFramePr>
        <p:xfrm>
          <a:off x="457200" y="1463040"/>
          <a:ext cx="6949440" cy="4576572"/>
        </p:xfrm>
        <a:graphic>
          <a:graphicData uri="http://schemas.openxmlformats.org/drawingml/2006/table">
            <a:tbl>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52044">
                <a:tc>
                  <a:txBody>
                    <a:bodyPr/>
                    <a:lstStyle/>
                    <a:p>
                      <a:pPr marL="0" indent="0" algn="l">
                        <a:buNone/>
                      </a:pPr>
                      <a:r>
                        <a:rPr lang="en-US" sz="1200" b="1" dirty="0">
                          <a:solidFill>
                            <a:srgbClr val="FFFFFF"/>
                          </a:solidFill>
                        </a:rPr>
                        <a:t>₹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52044">
                <a:tc>
                  <a:txBody>
                    <a:bodyPr/>
                    <a:lstStyle/>
                    <a:p>
                      <a:pPr marL="0" indent="0" algn="l">
                        <a:buNone/>
                      </a:pPr>
                      <a:r>
                        <a:rPr lang="en-US" sz="1200" b="1" dirty="0">
                          <a:solidFill>
                            <a:srgbClr val="1D2B2A"/>
                          </a:solidFill>
                        </a:rPr>
                        <a:t>Revenue from operations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38,654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43,886</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48,497</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52,578</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58,462</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52044">
                <a:tc>
                  <a:txBody>
                    <a:bodyPr/>
                    <a:lstStyle/>
                    <a:p>
                      <a:pPr marL="0" indent="0" algn="l">
                        <a:buNone/>
                      </a:pPr>
                      <a:r>
                        <a:rPr lang="en-US" sz="1200" i="1" dirty="0">
                          <a:solidFill>
                            <a:srgbClr val="5B6663"/>
                          </a:solidFill>
                        </a:rPr>
                        <a:t>Growth over previous year</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n.m.</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13.5%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8.4%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11.2%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52044">
                <a:tc>
                  <a:txBody>
                    <a:bodyPr/>
                    <a:lstStyle/>
                    <a:p>
                      <a:pPr marL="0" indent="0" algn="l">
                        <a:buNone/>
                      </a:pPr>
                      <a:r>
                        <a:rPr lang="en-US" sz="1200" b="1" dirty="0">
                          <a:solidFill>
                            <a:srgbClr val="1D2B2A"/>
                          </a:solidFill>
                        </a:rPr>
                        <a:t>EBITDA before forex</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10,374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11,773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12,987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15,086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16,491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52044">
                <a:tc>
                  <a:txBody>
                    <a:bodyPr/>
                    <a:lstStyle/>
                    <a:p>
                      <a:pPr marL="0" indent="0" algn="l">
                        <a:buNone/>
                      </a:pPr>
                      <a:r>
                        <a:rPr lang="en-US" sz="1200" i="1" dirty="0">
                          <a:solidFill>
                            <a:srgbClr val="5B6663"/>
                          </a:solidFill>
                        </a:rPr>
                        <a:t>EBITDA margin</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26.8%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26.8%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26.8%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28.7%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52044">
                <a:tc>
                  <a:txBody>
                    <a:bodyPr/>
                    <a:lstStyle/>
                    <a:p>
                      <a:pPr marL="0" indent="0" algn="l">
                        <a:buNone/>
                      </a:pPr>
                      <a:r>
                        <a:rPr lang="en-US" sz="1200" dirty="0">
                          <a:solidFill>
                            <a:srgbClr val="1D2B2A"/>
                          </a:solidFill>
                        </a:rPr>
                        <a:t>Net forex gain / (loss)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1,240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52044">
                <a:tc>
                  <a:txBody>
                    <a:bodyPr/>
                    <a:lstStyle/>
                    <a:p>
                      <a:pPr marL="0" indent="0" algn="l">
                        <a:buNone/>
                      </a:pPr>
                      <a:r>
                        <a:rPr lang="en-US" sz="1200" dirty="0">
                          <a:solidFill>
                            <a:srgbClr val="1D2B2A"/>
                          </a:solidFill>
                        </a:rPr>
                        <a:t>Other income</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922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635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1,354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1,965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1,972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52044">
                <a:tc>
                  <a:txBody>
                    <a:bodyPr/>
                    <a:lstStyle/>
                    <a:p>
                      <a:pPr marL="0" indent="0" algn="l">
                        <a:buNone/>
                      </a:pPr>
                      <a:r>
                        <a:rPr lang="en-US" sz="1200" dirty="0">
                          <a:solidFill>
                            <a:srgbClr val="1D2B2A"/>
                          </a:solidFill>
                        </a:rPr>
                        <a:t>D&amp;A, impairment and finance costs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(2,271)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(2,795)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(2,807)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(3,277)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352044">
                <a:tc>
                  <a:txBody>
                    <a:bodyPr/>
                    <a:lstStyle/>
                    <a:p>
                      <a:pPr marL="0" indent="0" algn="l">
                        <a:buNone/>
                      </a:pPr>
                      <a:r>
                        <a:rPr lang="en-US" sz="1200" b="1" dirty="0">
                          <a:solidFill>
                            <a:srgbClr val="1D2B2A"/>
                          </a:solidFill>
                        </a:rPr>
                        <a:t>PBT before exceptional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9,048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9,580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11,582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14,430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16,426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52044">
                <a:tc>
                  <a:txBody>
                    <a:bodyPr/>
                    <a:lstStyle/>
                    <a:p>
                      <a:pPr marL="0" indent="0" algn="l">
                        <a:buNone/>
                      </a:pPr>
                      <a:r>
                        <a:rPr lang="en-US" sz="1200" dirty="0">
                          <a:solidFill>
                            <a:srgbClr val="1D2B2A"/>
                          </a:solidFill>
                        </a:rPr>
                        <a:t>Exceptional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(4,567)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(171)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(494)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(1,307)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52044">
                <a:tc>
                  <a:txBody>
                    <a:bodyPr/>
                    <a:lstStyle/>
                    <a:p>
                      <a:pPr marL="0" indent="0" algn="l">
                        <a:buNone/>
                      </a:pPr>
                      <a:r>
                        <a:rPr lang="en-US" sz="1200" b="1" dirty="0">
                          <a:solidFill>
                            <a:srgbClr val="1D2B2A"/>
                          </a:solidFill>
                        </a:rPr>
                        <a:t>PAT attributable to owners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3,273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8,474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9,576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10,929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11,479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10"/>
                  </a:ext>
                </a:extLst>
              </a:tr>
              <a:tr h="352044">
                <a:tc>
                  <a:txBody>
                    <a:bodyPr/>
                    <a:lstStyle/>
                    <a:p>
                      <a:pPr marL="0" indent="0" algn="l">
                        <a:buNone/>
                      </a:pPr>
                      <a:r>
                        <a:rPr lang="en-US" sz="1200" i="1" dirty="0">
                          <a:solidFill>
                            <a:srgbClr val="5B6663"/>
                          </a:solidFill>
                        </a:rPr>
                        <a:t>PAT margin</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19.3%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20.8%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352044">
                <a:tc>
                  <a:txBody>
                    <a:bodyPr/>
                    <a:lstStyle/>
                    <a:p>
                      <a:pPr marL="0" indent="0" algn="l">
                        <a:buNone/>
                      </a:pPr>
                      <a:r>
                        <a:rPr lang="en-US" sz="1200" dirty="0">
                          <a:solidFill>
                            <a:srgbClr val="1D2B2A"/>
                          </a:solidFill>
                        </a:rPr>
                        <a:t>Basic EPS (₹)</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35.3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39.9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45.6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Margin: </a:t>
            </a:r>
            <a:r>
              <a:rPr lang="en-US" sz="1400" dirty="0">
                <a:solidFill>
                  <a:srgbClr val="1D2B2A"/>
                </a:solidFill>
              </a:rPr>
              <a:t>core EBITDA margin moved from 26.8% to 28.2%, but is 0.5 pt below the FY25 peak of 28.7%.</a:t>
            </a:r>
            <a:endParaRPr lang="en-US" sz="1400" dirty="0"/>
          </a:p>
          <a:p>
            <a:pPr marL="0" indent="0">
              <a:spcAft>
                <a:spcPts val="800"/>
              </a:spcAft>
              <a:buNone/>
            </a:pPr>
            <a:r>
              <a:rPr lang="en-US" sz="1400" b="1" dirty="0">
                <a:solidFill>
                  <a:srgbClr val="0B4F4A"/>
                </a:solidFill>
              </a:rPr>
              <a:t>Forex: </a:t>
            </a:r>
            <a:r>
              <a:rPr lang="en-US" sz="1400" dirty="0">
                <a:solidFill>
                  <a:srgbClr val="1D2B2A"/>
                </a:solidFill>
              </a:rPr>
              <a:t>FY26 carries a net gain of ₹1,240 cr, 7.5% of PBT before exceptionals; not a repeatable source.</a:t>
            </a:r>
            <a:endParaRPr lang="en-US" sz="1400" dirty="0"/>
          </a:p>
          <a:p>
            <a:pPr marL="0" indent="0">
              <a:spcAft>
                <a:spcPts val="800"/>
              </a:spcAft>
              <a:buNone/>
            </a:pPr>
            <a:r>
              <a:rPr lang="en-US" sz="1400" b="1" dirty="0">
                <a:solidFill>
                  <a:srgbClr val="0B4F4A"/>
                </a:solidFill>
              </a:rPr>
              <a:t>Base year: </a:t>
            </a:r>
            <a:r>
              <a:rPr lang="en-US" sz="1400" dirty="0">
                <a:solidFill>
                  <a:srgbClr val="1D2B2A"/>
                </a:solidFill>
              </a:rPr>
              <a:t>FY22 profit bears ₹4,567 cr of exceptional charges, so PAT margin was 8.5% against about 20% since.</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SUN PHARMACEUTICAL INDUSTRIES LIMITED  |  CONSOLIDATED  |  BALANCE SHEET</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Owners' equity rose 74% in four years; borrowings are 5% of equity and net cash stands at ₹28,455 cr</a:t>
            </a:r>
            <a:endParaRPr lang="en-US" sz="2400" dirty="0"/>
          </a:p>
        </p:txBody>
      </p:sp>
      <p:graphicFrame>
        <p:nvGraphicFramePr>
          <p:cNvPr id="7" name="BS table"/>
          <p:cNvGraphicFramePr>
            <a:graphicFrameLocks noGrp="1"/>
          </p:cNvGraphicFramePr>
          <p:nvPr>
            <p:extLst>
              <p:ext uri="{D42A27DB-BD31-4B8C-83A1-F6EECF244321}">
                <p14:modId xmlns:p14="http://schemas.microsoft.com/office/powerpoint/2010/main" val="1579011935"/>
              </p:ext>
            </p:extLst>
          </p:nvPr>
        </p:nvGraphicFramePr>
        <p:xfrm>
          <a:off x="457200" y="1463040"/>
          <a:ext cx="6949440" cy="4732020"/>
        </p:xfrm>
        <a:graphic>
          <a:graphicData uri="http://schemas.openxmlformats.org/drawingml/2006/table">
            <a:tbl>
              <a:tblPr/>
              <a:tblGrid>
                <a:gridCol w="28346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315468">
                <a:tc>
                  <a:txBody>
                    <a:bodyPr/>
                    <a:lstStyle/>
                    <a:p>
                      <a:pPr marL="0" indent="0" algn="l">
                        <a:buNone/>
                      </a:pPr>
                      <a:r>
                        <a:rPr lang="en-US" sz="1200" b="1" dirty="0">
                          <a:solidFill>
                            <a:srgbClr val="FFFFFF"/>
                          </a:solidFill>
                        </a:rPr>
                        <a:t>As at 31 March, ₹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15468">
                <a:tc>
                  <a:txBody>
                    <a:bodyPr/>
                    <a:lstStyle/>
                    <a:p>
                      <a:pPr marL="0" indent="0" algn="l">
                        <a:buNone/>
                      </a:pPr>
                      <a:r>
                        <a:rPr lang="en-US" sz="1200" dirty="0">
                          <a:solidFill>
                            <a:srgbClr val="1D2B2A"/>
                          </a:solidFill>
                        </a:rPr>
                        <a:t>Non-current assets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34,785</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40,860</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42,025</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39,476</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44,894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15468">
                <a:tc>
                  <a:txBody>
                    <a:bodyPr/>
                    <a:lstStyle/>
                    <a:p>
                      <a:pPr marL="0" indent="0" algn="l">
                        <a:buNone/>
                      </a:pPr>
                      <a:r>
                        <a:rPr lang="en-US" sz="1200" dirty="0">
                          <a:solidFill>
                            <a:srgbClr val="1D2B2A"/>
                          </a:solidFill>
                        </a:rPr>
                        <a:t>Inventories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8,997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10,513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9,868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10,243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11,493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15468">
                <a:tc>
                  <a:txBody>
                    <a:bodyPr/>
                    <a:lstStyle/>
                    <a:p>
                      <a:pPr marL="0" indent="0" algn="l">
                        <a:buNone/>
                      </a:pPr>
                      <a:r>
                        <a:rPr lang="en-US" sz="1200" dirty="0">
                          <a:solidFill>
                            <a:srgbClr val="1D2B2A"/>
                          </a:solidFill>
                        </a:rPr>
                        <a:t>Trade receivables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10,593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11,439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11,249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13,046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15,510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15468">
                <a:tc>
                  <a:txBody>
                    <a:bodyPr/>
                    <a:lstStyle/>
                    <a:p>
                      <a:pPr marL="0" indent="0" algn="l">
                        <a:buNone/>
                      </a:pPr>
                      <a:r>
                        <a:rPr lang="en-US" sz="1200" dirty="0">
                          <a:solidFill>
                            <a:srgbClr val="1D2B2A"/>
                          </a:solidFill>
                        </a:rPr>
                        <a:t>Current investments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7,634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9,373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8,585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13,656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20,933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15468">
                <a:tc>
                  <a:txBody>
                    <a:bodyPr/>
                    <a:lstStyle/>
                    <a:p>
                      <a:pPr marL="0" indent="0" algn="l">
                        <a:buNone/>
                      </a:pPr>
                      <a:r>
                        <a:rPr lang="en-US" sz="1200" dirty="0">
                          <a:solidFill>
                            <a:srgbClr val="1D2B2A"/>
                          </a:solidFill>
                        </a:rPr>
                        <a:t>Cash and bank balances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5,033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5,770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10,521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11,332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11,603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15468">
                <a:tc>
                  <a:txBody>
                    <a:bodyPr/>
                    <a:lstStyle/>
                    <a:p>
                      <a:pPr marL="0" indent="0" algn="l">
                        <a:buNone/>
                      </a:pPr>
                      <a:r>
                        <a:rPr lang="en-US" sz="1200" dirty="0">
                          <a:solidFill>
                            <a:srgbClr val="1D2B2A"/>
                          </a:solidFill>
                        </a:rPr>
                        <a:t>Other current assets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2,789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3,252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4,347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4,352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15468">
                <a:tc>
                  <a:txBody>
                    <a:bodyPr/>
                    <a:lstStyle/>
                    <a:p>
                      <a:pPr marL="0" indent="0" algn="l">
                        <a:buNone/>
                      </a:pPr>
                      <a:r>
                        <a:rPr lang="en-US" sz="1200" b="1" dirty="0">
                          <a:solidFill>
                            <a:srgbClr val="1D2B2A"/>
                          </a:solidFill>
                        </a:rPr>
                        <a:t>Total assets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69,800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80,744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85,500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92,101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1,08,785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7"/>
                  </a:ext>
                </a:extLst>
              </a:tr>
              <a:tr h="315468">
                <a:tc>
                  <a:txBody>
                    <a:bodyPr/>
                    <a:lstStyle/>
                    <a:p>
                      <a:pPr marL="0" indent="0" algn="l">
                        <a:buNone/>
                      </a:pPr>
                      <a:r>
                        <a:rPr lang="en-US" sz="1200" dirty="0">
                          <a:solidFill>
                            <a:srgbClr val="1D2B2A"/>
                          </a:solidFill>
                        </a:rPr>
                        <a:t>Owners' equity</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48,011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55,995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63,667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72,218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83,570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15468">
                <a:tc>
                  <a:txBody>
                    <a:bodyPr/>
                    <a:lstStyle/>
                    <a:p>
                      <a:pPr marL="0" indent="0" algn="l">
                        <a:buNone/>
                      </a:pPr>
                      <a:r>
                        <a:rPr lang="en-US" sz="1200" dirty="0">
                          <a:solidFill>
                            <a:srgbClr val="1D2B2A"/>
                          </a:solidFill>
                        </a:rPr>
                        <a:t>Non-controlling interests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3,055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3,320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3,459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268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15468">
                <a:tc>
                  <a:txBody>
                    <a:bodyPr/>
                    <a:lstStyle/>
                    <a:p>
                      <a:pPr marL="0" indent="0" algn="l">
                        <a:buNone/>
                      </a:pPr>
                      <a:r>
                        <a:rPr lang="en-US" sz="1200" dirty="0">
                          <a:solidFill>
                            <a:srgbClr val="1D2B2A"/>
                          </a:solidFill>
                        </a:rPr>
                        <a:t>Borrowings (current and non-current)</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931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6,198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2,846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1,870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4,082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315468">
                <a:tc>
                  <a:txBody>
                    <a:bodyPr/>
                    <a:lstStyle/>
                    <a:p>
                      <a:pPr marL="0" indent="0" algn="l">
                        <a:buNone/>
                      </a:pPr>
                      <a:r>
                        <a:rPr lang="en-US" sz="1200" dirty="0">
                          <a:solidFill>
                            <a:srgbClr val="1D2B2A"/>
                          </a:solidFill>
                        </a:rPr>
                        <a:t>Trade payables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4,479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5,682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5,653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6,184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7,334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315468">
                <a:tc>
                  <a:txBody>
                    <a:bodyPr/>
                    <a:lstStyle/>
                    <a:p>
                      <a:pPr marL="0" indent="0" algn="l">
                        <a:buNone/>
                      </a:pPr>
                      <a:r>
                        <a:rPr lang="en-US" sz="1200" dirty="0">
                          <a:solidFill>
                            <a:srgbClr val="1D2B2A"/>
                          </a:solidFill>
                        </a:rPr>
                        <a:t>Current provisions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9,148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5,354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5,358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6,155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5,944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r h="315468">
                <a:tc>
                  <a:txBody>
                    <a:bodyPr/>
                    <a:lstStyle/>
                    <a:p>
                      <a:pPr marL="0" indent="0" algn="l">
                        <a:buNone/>
                      </a:pPr>
                      <a:r>
                        <a:rPr lang="en-US" sz="1200" dirty="0">
                          <a:solidFill>
                            <a:srgbClr val="1D2B2A"/>
                          </a:solidFill>
                        </a:rPr>
                        <a:t>Other liabilities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4,176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4,194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4,517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5,406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7,546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3"/>
                  </a:ext>
                </a:extLst>
              </a:tr>
              <a:tr h="315468">
                <a:tc>
                  <a:txBody>
                    <a:bodyPr/>
                    <a:lstStyle/>
                    <a:p>
                      <a:pPr marL="0" indent="0" algn="l">
                        <a:buNone/>
                      </a:pPr>
                      <a:r>
                        <a:rPr lang="en-US" sz="1200" b="1" dirty="0">
                          <a:solidFill>
                            <a:srgbClr val="1D2B2A"/>
                          </a:solidFill>
                        </a:rPr>
                        <a:t>Total equity and liabilities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69,800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80,744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85,500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92,101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1,08,785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14"/>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Net worth: </a:t>
            </a:r>
            <a:r>
              <a:rPr lang="en-US" sz="1400" dirty="0">
                <a:solidFill>
                  <a:srgbClr val="1D2B2A"/>
                </a:solidFill>
              </a:rPr>
              <a:t>owners' equity grew from ₹48,011 cr to ₹83,570 cr. Minority interest fell to ₹310 cr after the Taro buy-out (₹2,900 cr, FY25).</a:t>
            </a:r>
            <a:endParaRPr lang="en-US" sz="1400" dirty="0"/>
          </a:p>
          <a:p>
            <a:pPr marL="0" indent="0">
              <a:spcAft>
                <a:spcPts val="800"/>
              </a:spcAft>
              <a:buNone/>
            </a:pPr>
            <a:r>
              <a:rPr lang="en-US" sz="1400" b="1" dirty="0">
                <a:solidFill>
                  <a:srgbClr val="0B4F4A"/>
                </a:solidFill>
              </a:rPr>
              <a:t>Debt: </a:t>
            </a:r>
            <a:r>
              <a:rPr lang="en-US" sz="1400" dirty="0">
                <a:solidFill>
                  <a:srgbClr val="1D2B2A"/>
                </a:solidFill>
              </a:rPr>
              <a:t>peaked at ₹6,198 cr in FY23 for the Concert acquisition and was repaid within a year.</a:t>
            </a:r>
            <a:endParaRPr lang="en-US" sz="1400" dirty="0"/>
          </a:p>
          <a:p>
            <a:pPr marL="0" indent="0">
              <a:spcAft>
                <a:spcPts val="800"/>
              </a:spcAft>
              <a:buNone/>
            </a:pPr>
            <a:r>
              <a:rPr lang="en-US" sz="1400" b="1" dirty="0">
                <a:solidFill>
                  <a:srgbClr val="0B4F4A"/>
                </a:solidFill>
              </a:rPr>
              <a:t>Intangibles: </a:t>
            </a:r>
            <a:r>
              <a:rPr lang="en-US" sz="1400" dirty="0">
                <a:solidFill>
                  <a:srgbClr val="1D2B2A"/>
                </a:solidFill>
              </a:rPr>
              <a:t>goodwill and intangibles are ₹23,379 cr, 21.5% of total assets.</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SUN PHARMACEUTICAL INDUSTRIES LIMITED  |  CONSOLIDATED  |  CASH FLOW</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Operating cash flow of ₹52,570 cr over five years covered capex and dividends 2.0 times; FY22 and FY23 were distorted by the US settlement</a:t>
            </a:r>
            <a:endParaRPr lang="en-US" sz="2400" dirty="0"/>
          </a:p>
        </p:txBody>
      </p:sp>
      <p:graphicFrame>
        <p:nvGraphicFramePr>
          <p:cNvPr id="8" name="CF table"/>
          <p:cNvGraphicFramePr>
            <a:graphicFrameLocks noGrp="1"/>
          </p:cNvGraphicFramePr>
          <p:nvPr>
            <p:extLst>
              <p:ext uri="{D42A27DB-BD31-4B8C-83A1-F6EECF244321}">
                <p14:modId xmlns:p14="http://schemas.microsoft.com/office/powerpoint/2010/main" val="1579011935"/>
              </p:ext>
            </p:extLst>
          </p:nvPr>
        </p:nvGraphicFramePr>
        <p:xfrm>
          <a:off x="457200" y="1463040"/>
          <a:ext cx="7040880" cy="4224528"/>
        </p:xfrm>
        <a:graphic>
          <a:graphicData uri="http://schemas.openxmlformats.org/drawingml/2006/table">
            <a:tbl>
              <a:tblPr/>
              <a:tblGrid>
                <a:gridCol w="251460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gridCol w="749808">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tblGrid>
              <a:tr h="352044">
                <a:tc>
                  <a:txBody>
                    <a:bodyPr/>
                    <a:lstStyle/>
                    <a:p>
                      <a:pPr marL="0" indent="0" algn="l">
                        <a:buNone/>
                      </a:pPr>
                      <a:r>
                        <a:rPr lang="en-US" sz="1200" b="1" dirty="0">
                          <a:solidFill>
                            <a:srgbClr val="FFFFFF"/>
                          </a:solidFill>
                        </a:rPr>
                        <a:t>₹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5 years</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52044">
                <a:tc>
                  <a:txBody>
                    <a:bodyPr/>
                    <a:lstStyle/>
                    <a:p>
                      <a:pPr marL="0" indent="0" algn="l">
                        <a:buNone/>
                      </a:pPr>
                      <a:r>
                        <a:rPr lang="en-US" sz="1200" dirty="0">
                          <a:solidFill>
                            <a:srgbClr val="5B6663"/>
                          </a:solidFill>
                        </a:rPr>
                        <a:t>Opening cash and equivalents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6,273</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4,508</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4,624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9,286</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10,269</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52044">
                <a:tc>
                  <a:txBody>
                    <a:bodyPr/>
                    <a:lstStyle/>
                    <a:p>
                      <a:pPr marL="0" indent="0" algn="l">
                        <a:buNone/>
                      </a:pPr>
                      <a:r>
                        <a:rPr lang="en-US" sz="1200" b="1" dirty="0">
                          <a:solidFill>
                            <a:srgbClr val="1D2B2A"/>
                          </a:solidFill>
                        </a:rPr>
                        <a:t>Operating activities (A)</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8,985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4,959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12,135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14,072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12,419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52,570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52044">
                <a:tc>
                  <a:txBody>
                    <a:bodyPr/>
                    <a:lstStyle/>
                    <a:p>
                      <a:pPr marL="0" indent="0" algn="l">
                        <a:buNone/>
                      </a:pPr>
                      <a:r>
                        <a:rPr lang="en-US" sz="1200" b="1" dirty="0">
                          <a:solidFill>
                            <a:srgbClr val="1D2B2A"/>
                          </a:solidFill>
                        </a:rPr>
                        <a:t>Investing activities (B)</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(5,725)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(7,944)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(690)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(5,306)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(11,344)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(31,009)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52044">
                <a:tc>
                  <a:txBody>
                    <a:bodyPr/>
                    <a:lstStyle/>
                    <a:p>
                      <a:pPr marL="0" indent="0" algn="l">
                        <a:buNone/>
                      </a:pPr>
                      <a:r>
                        <a:rPr lang="en-US" sz="1200" b="1" dirty="0">
                          <a:solidFill>
                            <a:srgbClr val="1D2B2A"/>
                          </a:solidFill>
                        </a:rPr>
                        <a:t>Financing activities (C)</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(5,193)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2,376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(6,710)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(7,906)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(2,513)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(19,946)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52044">
                <a:tc>
                  <a:txBody>
                    <a:bodyPr/>
                    <a:lstStyle/>
                    <a:p>
                      <a:pPr marL="0" indent="0" algn="l">
                        <a:buNone/>
                      </a:pPr>
                      <a:r>
                        <a:rPr lang="en-US" sz="1200" dirty="0">
                          <a:solidFill>
                            <a:srgbClr val="1D2B2A"/>
                          </a:solidFill>
                        </a:rPr>
                        <a:t>Net change (A+B+C)</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(1,934)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(608)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4,735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860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(1,437)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1,615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52044">
                <a:tc>
                  <a:txBody>
                    <a:bodyPr/>
                    <a:lstStyle/>
                    <a:p>
                      <a:pPr marL="0" indent="0" algn="l">
                        <a:buNone/>
                      </a:pPr>
                      <a:r>
                        <a:rPr lang="en-US" sz="1200" dirty="0">
                          <a:solidFill>
                            <a:srgbClr val="5B6663"/>
                          </a:solidFill>
                        </a:rPr>
                        <a:t>Forex and other reconciling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169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724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123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939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1,882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52044">
                <a:tc>
                  <a:txBody>
                    <a:bodyPr/>
                    <a:lstStyle/>
                    <a:p>
                      <a:pPr marL="0" indent="0" algn="l">
                        <a:buNone/>
                      </a:pPr>
                      <a:r>
                        <a:rPr lang="en-US" sz="1200" b="1" dirty="0">
                          <a:solidFill>
                            <a:srgbClr val="1D2B2A"/>
                          </a:solidFill>
                        </a:rPr>
                        <a:t>Closing cash and equivalents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4,508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4,624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9,286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10,269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9,771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7"/>
                  </a:ext>
                </a:extLst>
              </a:tr>
              <a:tr h="352044">
                <a:tc>
                  <a:txBody>
                    <a:bodyPr/>
                    <a:lstStyle/>
                    <a:p>
                      <a:pPr marL="0" indent="0" algn="l">
                        <a:buNone/>
                      </a:pPr>
                      <a:r>
                        <a:rPr lang="en-US" sz="1200" dirty="0">
                          <a:solidFill>
                            <a:srgbClr val="1D2B2A"/>
                          </a:solidFill>
                        </a:rPr>
                        <a:t>Capital expenditure</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(1,495)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(2,086)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(2,202)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(2,129)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(3,609)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(11,520)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52044">
                <a:tc>
                  <a:txBody>
                    <a:bodyPr/>
                    <a:lstStyle/>
                    <a:p>
                      <a:pPr marL="0" indent="0" algn="l">
                        <a:buNone/>
                      </a:pPr>
                      <a:r>
                        <a:rPr lang="en-US" sz="1200" b="1" dirty="0">
                          <a:solidFill>
                            <a:srgbClr val="1D2B2A"/>
                          </a:solidFill>
                        </a:rPr>
                        <a:t>Free cash flow (A - capex)</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7,490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2,874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9,933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11,944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8,810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41,050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52044">
                <a:tc>
                  <a:txBody>
                    <a:bodyPr/>
                    <a:lstStyle/>
                    <a:p>
                      <a:pPr marL="0" indent="0" algn="l">
                        <a:buNone/>
                      </a:pPr>
                      <a:r>
                        <a:rPr lang="en-US" sz="1200" dirty="0">
                          <a:solidFill>
                            <a:srgbClr val="1D2B2A"/>
                          </a:solidFill>
                        </a:rPr>
                        <a:t>Acquisitions of businesses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(740)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(4,686)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(3,405)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(9,247)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352044">
                <a:tc>
                  <a:txBody>
                    <a:bodyPr/>
                    <a:lstStyle/>
                    <a:p>
                      <a:pPr marL="0" indent="0" algn="l">
                        <a:buNone/>
                      </a:pPr>
                      <a:r>
                        <a:rPr lang="en-US" sz="1200" dirty="0">
                          <a:solidFill>
                            <a:srgbClr val="1D2B2A"/>
                          </a:solidFill>
                        </a:rPr>
                        <a:t>Dividends paid</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(2,159)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(2,519)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(2,898)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(3,614)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(3,934)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(15,124)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FY22 / FY23: </a:t>
            </a:r>
            <a:r>
              <a:rPr lang="en-US" sz="1400" dirty="0">
                <a:solidFill>
                  <a:srgbClr val="1D2B2A"/>
                </a:solidFill>
              </a:rPr>
              <a:t>FY22 CFO includes a ₹4,544 cr provision build-up (unpaid) and a ₹969 cr tax refund; the settlement was paid in FY23, so CFO fell to ₹4,959 cr.</a:t>
            </a:r>
            <a:endParaRPr lang="en-US" sz="1400" dirty="0"/>
          </a:p>
          <a:p>
            <a:pPr marL="0" indent="0">
              <a:spcAft>
                <a:spcPts val="800"/>
              </a:spcAft>
              <a:buNone/>
            </a:pPr>
            <a:r>
              <a:rPr lang="en-US" sz="1400" b="1" dirty="0">
                <a:solidFill>
                  <a:srgbClr val="0B4F4A"/>
                </a:solidFill>
              </a:rPr>
              <a:t>Conversion: </a:t>
            </a:r>
            <a:r>
              <a:rPr lang="en-US" sz="1400" dirty="0">
                <a:solidFill>
                  <a:srgbClr val="1D2B2A"/>
                </a:solidFill>
              </a:rPr>
              <a:t>CFO / PAT was 1.27x, 1.29x and 1.08x in FY24 to FY26.</a:t>
            </a:r>
            <a:endParaRPr lang="en-US" sz="1400" dirty="0"/>
          </a:p>
          <a:p>
            <a:pPr marL="0" indent="0">
              <a:spcAft>
                <a:spcPts val="800"/>
              </a:spcAft>
              <a:buNone/>
            </a:pPr>
            <a:r>
              <a:rPr lang="en-US" sz="1400" b="1" dirty="0">
                <a:solidFill>
                  <a:srgbClr val="0B4F4A"/>
                </a:solidFill>
              </a:rPr>
              <a:t>FY26: </a:t>
            </a:r>
            <a:r>
              <a:rPr lang="en-US" sz="1400" dirty="0">
                <a:solidFill>
                  <a:srgbClr val="1D2B2A"/>
                </a:solidFill>
              </a:rPr>
              <a:t>capex rose 70% to ₹3,609 cr and acquisitions took ₹3,405 cr.</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SUN PHARMACEUTICAL INDUSTRIES LIMITED  |  CONSOLIDATED  |  RATIO ANALYSIS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Liquidity and solvency are strong; ROCE improved from 17.6% to 20.9% while ROE eased to 14.7% in FY26</a:t>
            </a:r>
            <a:endParaRPr lang="en-US" sz="2400" dirty="0"/>
          </a:p>
        </p:txBody>
      </p:sp>
      <p:graphicFrame>
        <p:nvGraphicFramePr>
          <p:cNvPr id="9" name="Ratio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4526280"/>
        </p:xfrm>
        <a:graphic>
          <a:graphicData uri="http://schemas.openxmlformats.org/drawingml/2006/table">
            <a:tbl>
              <a:tblPr/>
              <a:tblGrid>
                <a:gridCol w="1051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005072">
                  <a:extLst>
                    <a:ext uri="{9D8B030D-6E8A-4147-A177-3AD203B41FA5}">
                      <a16:colId xmlns:a16="http://schemas.microsoft.com/office/drawing/2014/main" val="20002"/>
                    </a:ext>
                  </a:extLst>
                </a:gridCol>
                <a:gridCol w="804672">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gridCol w="804672">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251460">
                <a:tc>
                  <a:txBody>
                    <a:bodyPr/>
                    <a:lstStyle/>
                    <a:p>
                      <a:pPr marL="0" indent="0" algn="l">
                        <a:buNone/>
                      </a:pP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100" b="1" dirty="0">
                          <a:solidFill>
                            <a:srgbClr val="FFFFFF"/>
                          </a:solidFill>
                        </a:rPr>
                        <a:t>Ratio</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100" b="1" dirty="0">
                          <a:solidFill>
                            <a:srgbClr val="FFFFFF"/>
                          </a:solidFill>
                        </a:rPr>
                        <a:t>Formula</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FY23</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FY24</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FY25</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51460">
                <a:tc rowSpan="3">
                  <a:txBody>
                    <a:bodyPr/>
                    <a:lstStyle/>
                    <a:p>
                      <a:pPr marL="0" indent="0" algn="l">
                        <a:buNone/>
                      </a:pPr>
                      <a:r>
                        <a:rPr lang="en-US" sz="1100" b="1" dirty="0">
                          <a:solidFill>
                            <a:srgbClr val="0B4F4A"/>
                          </a:solidFill>
                        </a:rPr>
                        <a:t>Liquidity</a:t>
                      </a:r>
                      <a:endParaRPr lang="en-US" sz="11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Current ratio</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Current assets / current liabilities</a:t>
                      </a:r>
                      <a:endParaRPr lang="en-US" sz="10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2.04x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2.00x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2.56x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2.89x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2.82x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51460">
                <a:tc vMerge="1">
                  <a:txBody>
                    <a:bodyPr/>
                    <a:lstStyle/>
                    <a:p>
                      <a:endParaRPr lang="en-US"/>
                    </a:p>
                  </a:txBody>
                  <a:tcPr/>
                </a:tc>
                <a:tc>
                  <a:txBody>
                    <a:bodyPr/>
                    <a:lstStyle/>
                    <a:p>
                      <a:pPr marL="0" indent="0" algn="l">
                        <a:buNone/>
                      </a:pPr>
                      <a:r>
                        <a:rPr lang="en-US" sz="1150" b="1" dirty="0">
                          <a:solidFill>
                            <a:srgbClr val="1D2B2A"/>
                          </a:solidFill>
                        </a:rPr>
                        <a:t>Quick ratio</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(Current assets - inventories)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1.47x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2.33x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51460">
                <a:tc vMerge="1">
                  <a:txBody>
                    <a:bodyPr/>
                    <a:lstStyle/>
                    <a:p>
                      <a:endParaRPr lang="en-US"/>
                    </a:p>
                  </a:txBody>
                  <a:tcPr/>
                </a:tc>
                <a:tc>
                  <a:txBody>
                    <a:bodyPr/>
                    <a:lstStyle/>
                    <a:p>
                      <a:pPr marL="0" indent="0" algn="l">
                        <a:buNone/>
                      </a:pPr>
                      <a:r>
                        <a:rPr lang="en-US" sz="1150" b="1" dirty="0">
                          <a:solidFill>
                            <a:srgbClr val="1D2B2A"/>
                          </a:solidFill>
                        </a:rPr>
                        <a:t>Cash ratio</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(Cash + bank + current investments)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0.74x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0.76x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1.37x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51460">
                <a:tc rowSpan="3">
                  <a:txBody>
                    <a:bodyPr/>
                    <a:lstStyle/>
                    <a:p>
                      <a:pPr marL="0" indent="0" algn="l">
                        <a:buNone/>
                      </a:pPr>
                      <a:r>
                        <a:rPr lang="en-US" sz="1100" b="1" dirty="0">
                          <a:solidFill>
                            <a:srgbClr val="0B4F4A"/>
                          </a:solidFill>
                        </a:rPr>
                        <a:t>Solvency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Debt-equity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Borrowings / total equity</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0.03x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251460">
                <a:tc vMerge="1">
                  <a:txBody>
                    <a:bodyPr/>
                    <a:lstStyle/>
                    <a:p>
                      <a:endParaRPr lang="en-US"/>
                    </a:p>
                  </a:txBody>
                  <a:tcPr/>
                </a:tc>
                <a:tc>
                  <a:txBody>
                    <a:bodyPr/>
                    <a:lstStyle/>
                    <a:p>
                      <a:pPr marL="0" indent="0" algn="l">
                        <a:buNone/>
                      </a:pPr>
                      <a:r>
                        <a:rPr lang="en-US" sz="1150" b="1" dirty="0">
                          <a:solidFill>
                            <a:srgbClr val="1D2B2A"/>
                          </a:solidFill>
                        </a:rPr>
                        <a:t>Interest cover</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(PBT before exceptional + finance cost) / finance cost</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72.0x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56.7x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49.6x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63.4x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49.5x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251460">
                <a:tc vMerge="1">
                  <a:txBody>
                    <a:bodyPr/>
                    <a:lstStyle/>
                    <a:p>
                      <a:endParaRPr lang="en-US"/>
                    </a:p>
                  </a:txBody>
                  <a:tcPr/>
                </a:tc>
                <a:tc>
                  <a:txBody>
                    <a:bodyPr/>
                    <a:lstStyle/>
                    <a:p>
                      <a:pPr marL="0" indent="0" algn="l">
                        <a:buNone/>
                      </a:pPr>
                      <a:r>
                        <a:rPr lang="en-US" sz="1150" b="1" dirty="0">
                          <a:solidFill>
                            <a:srgbClr val="1D2B2A"/>
                          </a:solidFill>
                        </a:rPr>
                        <a:t>Equity to total assets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Total equity / total assets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73.2%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73.5%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78.5%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78.7%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77.1%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251460">
                <a:tc rowSpan="4">
                  <a:txBody>
                    <a:bodyPr/>
                    <a:lstStyle/>
                    <a:p>
                      <a:pPr marL="0" indent="0" algn="l">
                        <a:buNone/>
                      </a:pPr>
                      <a:r>
                        <a:rPr lang="en-US" sz="1100" b="1" dirty="0">
                          <a:solidFill>
                            <a:srgbClr val="0B4F4A"/>
                          </a:solidFill>
                        </a:rPr>
                        <a:t>Efficiency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Inventory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inventory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251460">
                <a:tc vMerge="1">
                  <a:txBody>
                    <a:bodyPr/>
                    <a:lstStyle/>
                    <a:p>
                      <a:endParaRPr lang="en-US"/>
                    </a:p>
                  </a:txBody>
                  <a:tcPr/>
                </a:tc>
                <a:tc>
                  <a:txBody>
                    <a:bodyPr/>
                    <a:lstStyle/>
                    <a:p>
                      <a:pPr marL="0" indent="0" algn="l">
                        <a:buNone/>
                      </a:pPr>
                      <a:r>
                        <a:rPr lang="en-US" sz="1150" b="1" dirty="0">
                          <a:solidFill>
                            <a:srgbClr val="1D2B2A"/>
                          </a:solidFill>
                        </a:rPr>
                        <a:t>Debtor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trade receivables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251460">
                <a:tc vMerge="1">
                  <a:txBody>
                    <a:bodyPr/>
                    <a:lstStyle/>
                    <a:p>
                      <a:endParaRPr lang="en-US"/>
                    </a:p>
                  </a:txBody>
                  <a:tcPr/>
                </a:tc>
                <a:tc>
                  <a:txBody>
                    <a:bodyPr/>
                    <a:lstStyle/>
                    <a:p>
                      <a:pPr marL="0" indent="0" algn="l">
                        <a:buNone/>
                      </a:pPr>
                      <a:r>
                        <a:rPr lang="en-US" sz="1150" b="1" dirty="0">
                          <a:solidFill>
                            <a:srgbClr val="1D2B2A"/>
                          </a:solidFill>
                        </a:rPr>
                        <a:t>Creditor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trade payables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251460">
                <a:tc vMerge="1">
                  <a:txBody>
                    <a:bodyPr/>
                    <a:lstStyle/>
                    <a:p>
                      <a:endParaRPr lang="en-US"/>
                    </a:p>
                  </a:txBody>
                  <a:tcPr/>
                </a:tc>
                <a:tc>
                  <a:txBody>
                    <a:bodyPr/>
                    <a:lstStyle/>
                    <a:p>
                      <a:pPr marL="0" indent="0" algn="l">
                        <a:buNone/>
                      </a:pPr>
                      <a:r>
                        <a:rPr lang="en-US" sz="1150" b="1" dirty="0">
                          <a:solidFill>
                            <a:srgbClr val="1D2B2A"/>
                          </a:solidFill>
                        </a:rPr>
                        <a:t>Cash conversion cycle</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Inventory days + debtor days - creditor days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251460">
                <a:tc rowSpan="4">
                  <a:txBody>
                    <a:bodyPr/>
                    <a:lstStyle/>
                    <a:p>
                      <a:pPr marL="0" indent="0" algn="l">
                        <a:buNone/>
                      </a:pPr>
                      <a:r>
                        <a:rPr lang="en-US" sz="1100" b="1" dirty="0">
                          <a:solidFill>
                            <a:srgbClr val="0B4F4A"/>
                          </a:solidFill>
                        </a:rPr>
                        <a:t>Profitability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EBITDA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EBITDA before forex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251460">
                <a:tc vMerge="1">
                  <a:txBody>
                    <a:bodyPr/>
                    <a:lstStyle/>
                    <a:p>
                      <a:endParaRPr lang="en-US"/>
                    </a:p>
                  </a:txBody>
                  <a:tcPr/>
                </a:tc>
                <a:tc>
                  <a:txBody>
                    <a:bodyPr/>
                    <a:lstStyle/>
                    <a:p>
                      <a:pPr marL="0" indent="0" algn="l">
                        <a:buNone/>
                      </a:pPr>
                      <a:r>
                        <a:rPr lang="en-US" sz="1150" b="1" dirty="0">
                          <a:solidFill>
                            <a:srgbClr val="1D2B2A"/>
                          </a:solidFill>
                        </a:rPr>
                        <a:t>PAT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PAT attributable to owners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r h="251460">
                <a:tc vMerge="1">
                  <a:txBody>
                    <a:bodyPr/>
                    <a:lstStyle/>
                    <a:p>
                      <a:endParaRPr lang="en-US"/>
                    </a:p>
                  </a:txBody>
                  <a:tcPr/>
                </a:tc>
                <a:tc>
                  <a:txBody>
                    <a:bodyPr/>
                    <a:lstStyle/>
                    <a:p>
                      <a:pPr marL="0" indent="0" algn="l">
                        <a:buNone/>
                      </a:pPr>
                      <a:r>
                        <a:rPr lang="en-US" sz="1150" b="1" dirty="0">
                          <a:solidFill>
                            <a:srgbClr val="1D2B2A"/>
                          </a:solidFill>
                        </a:rPr>
                        <a:t>Return on 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PAT attributable / average owners' equity</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3"/>
                  </a:ext>
                </a:extLst>
              </a:tr>
              <a:tr h="251460">
                <a:tc vMerge="1">
                  <a:txBody>
                    <a:bodyPr/>
                    <a:lstStyle/>
                    <a:p>
                      <a:endParaRPr lang="en-US"/>
                    </a:p>
                  </a:txBody>
                  <a:tcPr/>
                </a:tc>
                <a:tc>
                  <a:txBody>
                    <a:bodyPr/>
                    <a:lstStyle/>
                    <a:p>
                      <a:pPr marL="0" indent="0" algn="l">
                        <a:buNone/>
                      </a:pPr>
                      <a:r>
                        <a:rPr lang="en-US" sz="1150" b="1" dirty="0">
                          <a:solidFill>
                            <a:srgbClr val="1D2B2A"/>
                          </a:solidFill>
                        </a:rPr>
                        <a:t>Return on capital employed</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EBIT / average (total assets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4"/>
                  </a:ext>
                </a:extLst>
              </a:tr>
              <a:tr h="251460">
                <a:tc rowSpan="3">
                  <a:txBody>
                    <a:bodyPr/>
                    <a:lstStyle/>
                    <a:p>
                      <a:pPr marL="0" indent="0" algn="l">
                        <a:buNone/>
                      </a:pPr>
                      <a:r>
                        <a:rPr lang="en-US" sz="1100" b="1" dirty="0">
                          <a:solidFill>
                            <a:srgbClr val="0B4F4A"/>
                          </a:solidFill>
                        </a:rPr>
                        <a:t>Cash flow</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CFO to PAT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Net cash from operations / PAT attributable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2.75x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0.59x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1.27x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1.29x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5"/>
                  </a:ext>
                </a:extLst>
              </a:tr>
              <a:tr h="251460">
                <a:tc vMerge="1">
                  <a:txBody>
                    <a:bodyPr/>
                    <a:lstStyle/>
                    <a:p>
                      <a:endParaRPr lang="en-US"/>
                    </a:p>
                  </a:txBody>
                  <a:tcPr/>
                </a:tc>
                <a:tc>
                  <a:txBody>
                    <a:bodyPr/>
                    <a:lstStyle/>
                    <a:p>
                      <a:pPr marL="0" indent="0" algn="l">
                        <a:buNone/>
                      </a:pPr>
                      <a:r>
                        <a:rPr lang="en-US" sz="1150" b="1" dirty="0">
                          <a:solidFill>
                            <a:srgbClr val="1D2B2A"/>
                          </a:solidFill>
                        </a:rPr>
                        <a:t>Free cash flow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(CFO - capex)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6"/>
                  </a:ext>
                </a:extLst>
              </a:tr>
              <a:tr h="251460">
                <a:tc vMerge="1">
                  <a:txBody>
                    <a:bodyPr/>
                    <a:lstStyle/>
                    <a:p>
                      <a:endParaRPr lang="en-US"/>
                    </a:p>
                  </a:txBody>
                  <a:tcPr/>
                </a:tc>
                <a:tc>
                  <a:txBody>
                    <a:bodyPr/>
                    <a:lstStyle/>
                    <a:p>
                      <a:pPr marL="0" indent="0" algn="l">
                        <a:buNone/>
                      </a:pPr>
                      <a:r>
                        <a:rPr lang="en-US" sz="1150" b="1" dirty="0">
                          <a:solidFill>
                            <a:srgbClr val="1D2B2A"/>
                          </a:solidFill>
                        </a:rPr>
                        <a:t>Dividend payout (cash)</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Dividends paid / PAT attributable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29.7%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30.3%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34.3%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5" name="Ratio note"/>
          <p:cNvSpPr txBox="1"/>
          <p:nvPr/>
        </p:nvSpPr>
        <p:spPr>
          <a:xfrm>
            <a:off x="457200" y="5989320"/>
            <a:ext cx="11274552" cy="365760"/>
          </a:xfrm>
          <a:prstGeom prst="rect">
            <a:avLst/>
          </a:prstGeom>
          <a:noFill/>
          <a:ln/>
        </p:spPr>
        <p:txBody>
          <a:bodyPr wrap="square" lIns="0" tIns="0" rIns="0" bIns="0" rtlCol="0" anchor="t"/>
          <a:lstStyle/>
          <a:p>
            <a:pPr marL="0" indent="0">
              <a:buNone/>
            </a:pPr>
            <a:r>
              <a:rPr lang="en-US" sz="1000" i="1" dirty="0">
                <a:solidFill>
                  <a:schemeClr val="accent2"/>
                </a:solidFill>
              </a:rPr>
              <a:t>Averages are (opening + closing) / 2. Days are computed on revenue because the statements are prepared by nature of expense, so cost of goods sold is not disclosed.</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SUN PHARMACEUTICAL INDUSTRIES LIMITED  |  CONSOLIDATED  |  TRENDS AND CONCLUSION</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Margins, returns and working capital have improved; the Organon acquisition is the main change to watch from FY27</a:t>
            </a:r>
            <a:endParaRPr lang="en-US" sz="2400" dirty="0"/>
          </a:p>
        </p:txBody>
      </p:sp>
      <p:graphicFrame>
        <p:nvGraphicFramePr>
          <p:cNvPr id="4" name="Chart 0"/>
          <p:cNvGraphicFramePr/>
          <p:nvPr/>
        </p:nvGraphicFramePr>
        <p:xfrm>
          <a:off x="457200" y="1417320"/>
          <a:ext cx="361188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288536" y="1417320"/>
          <a:ext cx="3611880"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8119872" y="1417320"/>
          <a:ext cx="3611880" cy="228600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2"/>
          <p:cNvSpPr txBox="1"/>
          <p:nvPr/>
        </p:nvSpPr>
        <p:spPr>
          <a:xfrm>
            <a:off x="457200" y="3840480"/>
            <a:ext cx="5486400" cy="365760"/>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Strengths</a:t>
            </a:r>
            <a:endParaRPr lang="en-US" sz="1800" dirty="0"/>
          </a:p>
        </p:txBody>
      </p:sp>
      <p:sp>
        <p:nvSpPr>
          <p:cNvPr id="8" name="Text 3"/>
          <p:cNvSpPr txBox="1"/>
          <p:nvPr/>
        </p:nvSpPr>
        <p:spPr>
          <a:xfrm>
            <a:off x="6245352" y="3840480"/>
            <a:ext cx="5486400" cy="36576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Points to watch</a:t>
            </a:r>
            <a:endParaRPr lang="en-US" sz="1800" dirty="0"/>
          </a:p>
        </p:txBody>
      </p:sp>
      <p:sp>
        <p:nvSpPr>
          <p:cNvPr id="9" name="Text 4"/>
          <p:cNvSpPr txBox="1"/>
          <p:nvPr/>
        </p:nvSpPr>
        <p:spPr>
          <a:xfrm>
            <a:off x="457200" y="4251960"/>
            <a:ext cx="5486400" cy="1600200"/>
          </a:xfrm>
          <a:prstGeom prst="rect">
            <a:avLst/>
          </a:prstGeom>
          <a:noFill/>
          <a:ln/>
        </p:spPr>
        <p:txBody>
          <a:bodyPr wrap="square" lIns="0" tIns="0" rIns="0" bIns="0" rtlCol="0" anchor="t"/>
          <a:lstStyle/>
          <a:p>
            <a:pPr marL="0" indent="0">
              <a:spcAft>
                <a:spcPts val="600"/>
              </a:spcAft>
              <a:buNone/>
            </a:pPr>
            <a:r>
              <a:rPr lang="en-US" sz="1400" b="1" dirty="0">
                <a:solidFill>
                  <a:srgbClr val="0B4F4A"/>
                </a:solidFill>
              </a:rPr>
              <a:t>Cash backed earnings. </a:t>
            </a:r>
            <a:r>
              <a:rPr lang="en-US" sz="1400" dirty="0">
                <a:solidFill>
                  <a:srgbClr val="1D2B2A"/>
                </a:solidFill>
              </a:rPr>
              <a:t>Five-year CFO of ₹52,570 cr was 1.97x capex plus dividends.</a:t>
            </a:r>
            <a:endParaRPr lang="en-US" sz="1400" dirty="0"/>
          </a:p>
          <a:p>
            <a:pPr marL="0" indent="0">
              <a:spcAft>
                <a:spcPts val="600"/>
              </a:spcAft>
              <a:buNone/>
            </a:pPr>
            <a:r>
              <a:rPr lang="en-US" sz="1400" b="1" dirty="0">
                <a:solidFill>
                  <a:srgbClr val="0B4F4A"/>
                </a:solidFill>
              </a:rPr>
              <a:t>Low leverage. </a:t>
            </a:r>
            <a:r>
              <a:rPr lang="en-US" sz="1400" dirty="0">
                <a:solidFill>
                  <a:srgbClr val="1D2B2A"/>
                </a:solidFill>
              </a:rPr>
              <a:t>Net cash is ₹28,455 cr, current ratio 2.82x and debt-equity 0.05x.</a:t>
            </a:r>
            <a:endParaRPr lang="en-US" sz="1400" dirty="0"/>
          </a:p>
          <a:p>
            <a:pPr marL="0" indent="0">
              <a:spcAft>
                <a:spcPts val="600"/>
              </a:spcAft>
              <a:buNone/>
            </a:pPr>
            <a:r>
              <a:rPr lang="en-US" sz="1400" b="1" dirty="0">
                <a:solidFill>
                  <a:srgbClr val="0B4F4A"/>
                </a:solidFill>
              </a:rPr>
              <a:t>Better returns. </a:t>
            </a:r>
            <a:r>
              <a:rPr lang="en-US" sz="1400" dirty="0">
                <a:solidFill>
                  <a:srgbClr val="1D2B2A"/>
                </a:solidFill>
              </a:rPr>
              <a:t>ROCE rose from 17.6% to 20.9%; the cash cycle shortened from 138 to 115 days.</a:t>
            </a:r>
            <a:endParaRPr lang="en-US" sz="1400" dirty="0"/>
          </a:p>
        </p:txBody>
      </p:sp>
      <p:sp>
        <p:nvSpPr>
          <p:cNvPr id="10" name="Text 5"/>
          <p:cNvSpPr txBox="1"/>
          <p:nvPr/>
        </p:nvSpPr>
        <p:spPr>
          <a:xfrm>
            <a:off x="6245352" y="4251960"/>
            <a:ext cx="5486400" cy="1600200"/>
          </a:xfrm>
          <a:prstGeom prst="rect">
            <a:avLst/>
          </a:prstGeom>
          <a:noFill/>
          <a:ln/>
        </p:spPr>
        <p:txBody>
          <a:bodyPr wrap="square" lIns="0" tIns="0" rIns="0" bIns="0" rtlCol="0" anchor="t"/>
          <a:lstStyle/>
          <a:p>
            <a:pPr marL="0" indent="0">
              <a:spcAft>
                <a:spcPts val="600"/>
              </a:spcAft>
              <a:buNone/>
            </a:pPr>
            <a:r>
              <a:rPr lang="en-US" sz="1400" b="1" dirty="0">
                <a:solidFill>
                  <a:srgbClr val="0B4F4A"/>
                </a:solidFill>
              </a:rPr>
              <a:t>Organon &amp; Co. </a:t>
            </a:r>
            <a:r>
              <a:rPr lang="en-US" sz="1400" dirty="0">
                <a:solidFill>
                  <a:srgbClr val="1D2B2A"/>
                </a:solidFill>
              </a:rPr>
              <a:t>(agreed 27 April 2026, EV USD 11.75 bn, all cash, subject to approvals) will change leverage; FY26 ratios will not carry over.</a:t>
            </a:r>
            <a:endParaRPr lang="en-US" sz="1400" dirty="0"/>
          </a:p>
          <a:p>
            <a:pPr marL="0" indent="0">
              <a:spcAft>
                <a:spcPts val="600"/>
              </a:spcAft>
              <a:buNone/>
            </a:pPr>
            <a:r>
              <a:rPr lang="en-US" sz="1400" b="1" dirty="0">
                <a:solidFill>
                  <a:srgbClr val="0B4F4A"/>
                </a:solidFill>
              </a:rPr>
              <a:t>Receivables </a:t>
            </a:r>
            <a:r>
              <a:rPr lang="en-US" sz="1400" dirty="0">
                <a:solidFill>
                  <a:srgbClr val="1D2B2A"/>
                </a:solidFill>
              </a:rPr>
              <a:t>grew 18.9% against revenue growth of 11.2% in FY26; debtor days rose from 84 to 89.</a:t>
            </a:r>
            <a:endParaRPr lang="en-US" sz="1400" dirty="0"/>
          </a:p>
          <a:p>
            <a:pPr marL="0" indent="0">
              <a:spcAft>
                <a:spcPts val="600"/>
              </a:spcAft>
              <a:buNone/>
            </a:pPr>
            <a:r>
              <a:rPr lang="en-US" sz="1400" b="1" dirty="0">
                <a:solidFill>
                  <a:srgbClr val="0B4F4A"/>
                </a:solidFill>
              </a:rPr>
              <a:t>Recurring exceptionals. </a:t>
            </a:r>
            <a:r>
              <a:rPr lang="en-US" sz="1400" dirty="0">
                <a:solidFill>
                  <a:srgbClr val="1D2B2A"/>
                </a:solidFill>
              </a:rPr>
              <a:t>₹7,218 cr over five years; in FY26 other income and the forex gain together are 20% of PBT before exceptionals.</a:t>
            </a:r>
            <a:endParaRPr lang="en-US" sz="1400" dirty="0"/>
          </a:p>
        </p:txBody>
      </p:sp>
      <p:sp>
        <p:nvSpPr>
          <p:cNvPr id="11" name="Data note"/>
          <p:cNvSpPr txBox="1"/>
          <p:nvPr/>
        </p:nvSpPr>
        <p:spPr>
          <a:xfrm>
            <a:off x="457200" y="5852160"/>
            <a:ext cx="11274552" cy="502920"/>
          </a:xfrm>
          <a:prstGeom prst="rect">
            <a:avLst/>
          </a:prstGeom>
          <a:noFill/>
          <a:ln/>
        </p:spPr>
        <p:txBody>
          <a:bodyPr wrap="square" lIns="0" tIns="0" rIns="0" bIns="0" rtlCol="0" anchor="t"/>
          <a:lstStyle/>
          <a:p>
            <a:pPr marL="0" indent="0">
              <a:buNone/>
            </a:pPr>
            <a:r>
              <a:rPr lang="en-US" sz="1000" i="1" dirty="0">
                <a:solidFill>
                  <a:schemeClr val="accent2"/>
                </a:solidFill>
              </a:rPr>
              <a:t>Data note: consolidated figures throughout. FY23 and FY24 balances are the restated comparatives from the following year. Several columns in the source PDFs were out of order and were matched using subtotals, closing cash and the balance sheet tally.</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597A29-5998-A6D4-0159-316016D717C4}"/>
              </a:ext>
            </a:extLst>
          </p:cNvPr>
          <p:cNvPicPr>
            <a:picLocks noChangeAspect="1"/>
          </p:cNvPicPr>
          <p:nvPr/>
        </p:nvPicPr>
        <p:blipFill>
          <a:blip r:embed="rId2"/>
          <a:stretch>
            <a:fillRect/>
          </a:stretch>
        </p:blipFill>
        <p:spPr>
          <a:xfrm>
            <a:off x="2239258" y="319824"/>
            <a:ext cx="7127842" cy="4157908"/>
          </a:xfrm>
          <a:prstGeom prst="rect">
            <a:avLst/>
          </a:prstGeom>
        </p:spPr>
      </p:pic>
    </p:spTree>
    <p:extLst>
      <p:ext uri="{BB962C8B-B14F-4D97-AF65-F5344CB8AC3E}">
        <p14:creationId xmlns:p14="http://schemas.microsoft.com/office/powerpoint/2010/main" val="355727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DR. REDDY'S LABORATORIES LIMITED  |  CONSOLIDATED  |  PROFIT AND LOSS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Revenue grew 11.8% a year, but FY26 growth slowed to 3.2% and EBITDA margin fell to 20.2% from 28.3% in FY24</a:t>
            </a:r>
            <a:endParaRPr lang="en-US" sz="2400" dirty="0"/>
          </a:p>
        </p:txBody>
      </p:sp>
      <p:graphicFrame>
        <p:nvGraphicFramePr>
          <p:cNvPr id="11" name="PL table"/>
          <p:cNvGraphicFramePr>
            <a:graphicFrameLocks noGrp="1"/>
          </p:cNvGraphicFramePr>
          <p:nvPr>
            <p:extLst>
              <p:ext uri="{D42A27DB-BD31-4B8C-83A1-F6EECF244321}">
                <p14:modId xmlns:p14="http://schemas.microsoft.com/office/powerpoint/2010/main" val="1579011935"/>
              </p:ext>
            </p:extLst>
          </p:nvPr>
        </p:nvGraphicFramePr>
        <p:xfrm>
          <a:off x="457200" y="1463040"/>
          <a:ext cx="6949440" cy="3872484"/>
        </p:xfrm>
        <a:graphic>
          <a:graphicData uri="http://schemas.openxmlformats.org/drawingml/2006/table">
            <a:tbl>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52044">
                <a:tc>
                  <a:txBody>
                    <a:bodyPr/>
                    <a:lstStyle/>
                    <a:p>
                      <a:pPr marL="0" indent="0" algn="l">
                        <a:buNone/>
                      </a:pPr>
                      <a:r>
                        <a:rPr lang="en-US" sz="1200" b="1" dirty="0">
                          <a:solidFill>
                            <a:srgbClr val="FFFFFF"/>
                          </a:solidFill>
                        </a:rPr>
                        <a:t>₹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52044">
                <a:tc>
                  <a:txBody>
                    <a:bodyPr/>
                    <a:lstStyle/>
                    <a:p>
                      <a:pPr marL="0" indent="0" algn="l">
                        <a:buNone/>
                      </a:pPr>
                      <a:r>
                        <a:rPr lang="en-US" sz="1200" b="1" dirty="0">
                          <a:solidFill>
                            <a:srgbClr val="1D2B2A"/>
                          </a:solidFill>
                        </a:rPr>
                        <a:t>Revenue from operations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21,545</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24,670</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28,011</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32,644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33,700</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52044">
                <a:tc>
                  <a:txBody>
                    <a:bodyPr/>
                    <a:lstStyle/>
                    <a:p>
                      <a:pPr marL="0" indent="0" algn="l">
                        <a:buNone/>
                      </a:pPr>
                      <a:r>
                        <a:rPr lang="en-US" sz="1200" i="1" dirty="0">
                          <a:solidFill>
                            <a:srgbClr val="5B6663"/>
                          </a:solidFill>
                        </a:rPr>
                        <a:t>Growth over previous year</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13.1%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14.5%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13.5%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3.2%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52044">
                <a:tc>
                  <a:txBody>
                    <a:bodyPr/>
                    <a:lstStyle/>
                    <a:p>
                      <a:pPr marL="0" indent="0" algn="l">
                        <a:buNone/>
                      </a:pPr>
                      <a:r>
                        <a:rPr lang="en-US" sz="1200" b="1" dirty="0">
                          <a:solidFill>
                            <a:srgbClr val="1D2B2A"/>
                          </a:solidFill>
                        </a:rPr>
                        <a:t>EBITDA</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4,698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6,419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7,933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8,716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6,805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52044">
                <a:tc>
                  <a:txBody>
                    <a:bodyPr/>
                    <a:lstStyle/>
                    <a:p>
                      <a:pPr marL="0" indent="0" algn="l">
                        <a:buNone/>
                      </a:pPr>
                      <a:r>
                        <a:rPr lang="en-US" sz="1200" i="1" dirty="0">
                          <a:solidFill>
                            <a:srgbClr val="5B6663"/>
                          </a:solidFill>
                        </a:rPr>
                        <a:t>EBITDA margin</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21.8%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26.0%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26.7%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20.2%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52044">
                <a:tc>
                  <a:txBody>
                    <a:bodyPr/>
                    <a:lstStyle/>
                    <a:p>
                      <a:pPr marL="0" indent="0" algn="l">
                        <a:buNone/>
                      </a:pPr>
                      <a:r>
                        <a:rPr lang="en-US" sz="1200" dirty="0">
                          <a:solidFill>
                            <a:srgbClr val="1D2B2A"/>
                          </a:solidFill>
                        </a:rPr>
                        <a:t>Other income</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484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1,056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894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52044">
                <a:tc>
                  <a:txBody>
                    <a:bodyPr/>
                    <a:lstStyle/>
                    <a:p>
                      <a:pPr marL="0" indent="0" algn="l">
                        <a:buNone/>
                      </a:pPr>
                      <a:r>
                        <a:rPr lang="en-US" sz="1200" dirty="0">
                          <a:solidFill>
                            <a:srgbClr val="1D2B2A"/>
                          </a:solidFill>
                        </a:rPr>
                        <a:t>D&amp;A, impairment and finance costs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(2,191)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(1,463)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(1,641)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(2,156)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(2,784)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52044">
                <a:tc>
                  <a:txBody>
                    <a:bodyPr/>
                    <a:lstStyle/>
                    <a:p>
                      <a:pPr marL="0" indent="0" algn="l">
                        <a:buNone/>
                      </a:pPr>
                      <a:r>
                        <a:rPr lang="en-US" sz="1200" b="1" dirty="0">
                          <a:solidFill>
                            <a:srgbClr val="1D2B2A"/>
                          </a:solidFill>
                        </a:rPr>
                        <a:t>PBT (before equity investees)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2,991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6,012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7,186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7,658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5,379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352044">
                <a:tc>
                  <a:txBody>
                    <a:bodyPr/>
                    <a:lstStyle/>
                    <a:p>
                      <a:pPr marL="0" indent="0" algn="l">
                        <a:buNone/>
                      </a:pPr>
                      <a:r>
                        <a:rPr lang="en-US" sz="1200" b="1" dirty="0">
                          <a:solidFill>
                            <a:srgbClr val="1D2B2A"/>
                          </a:solidFill>
                        </a:rPr>
                        <a:t>PAT attributable to owners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2,183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4,507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5,578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5,655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4,196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8"/>
                  </a:ext>
                </a:extLst>
              </a:tr>
              <a:tr h="352044">
                <a:tc>
                  <a:txBody>
                    <a:bodyPr/>
                    <a:lstStyle/>
                    <a:p>
                      <a:pPr marL="0" indent="0" algn="l">
                        <a:buNone/>
                      </a:pPr>
                      <a:r>
                        <a:rPr lang="en-US" sz="1200" i="1" dirty="0">
                          <a:solidFill>
                            <a:srgbClr val="5B6663"/>
                          </a:solidFill>
                        </a:rPr>
                        <a:t>PAT margin</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19.9%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12.5%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52044">
                <a:tc>
                  <a:txBody>
                    <a:bodyPr/>
                    <a:lstStyle/>
                    <a:p>
                      <a:pPr marL="0" indent="0" algn="l">
                        <a:buNone/>
                      </a:pPr>
                      <a:r>
                        <a:rPr lang="en-US" sz="1200" dirty="0">
                          <a:solidFill>
                            <a:srgbClr val="1D2B2A"/>
                          </a:solidFill>
                        </a:rPr>
                        <a:t>Basic EPS (₹)</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26.3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54.3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67.0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67.9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50.4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Margin: </a:t>
            </a:r>
            <a:r>
              <a:rPr lang="en-US" sz="1400" dirty="0">
                <a:solidFill>
                  <a:srgbClr val="1D2B2A"/>
                </a:solidFill>
              </a:rPr>
              <a:t>EBITDA margin peaked at 28.3% (FY24) and was 20.2% in FY26; revenue growth slowed to 3.2% from 16.5%.</a:t>
            </a:r>
            <a:endParaRPr lang="en-US" sz="1400" dirty="0"/>
          </a:p>
          <a:p>
            <a:pPr marL="0" indent="0">
              <a:spcAft>
                <a:spcPts val="800"/>
              </a:spcAft>
              <a:buNone/>
            </a:pPr>
            <a:r>
              <a:rPr lang="en-US" sz="1400" b="1" dirty="0">
                <a:solidFill>
                  <a:srgbClr val="0B4F4A"/>
                </a:solidFill>
              </a:rPr>
              <a:t>FY26: </a:t>
            </a:r>
            <a:r>
              <a:rPr lang="en-US" sz="1400" dirty="0">
                <a:solidFill>
                  <a:srgbClr val="1D2B2A"/>
                </a:solidFill>
              </a:rPr>
              <a:t>revenue is net of a ₹453 cr Lenalidomide adjustment; impairments were ₹352 cr; other income includes ₹329 cr of one-off gains.</a:t>
            </a:r>
            <a:endParaRPr lang="en-US" sz="1400" dirty="0"/>
          </a:p>
          <a:p>
            <a:pPr marL="0" indent="0">
              <a:spcAft>
                <a:spcPts val="800"/>
              </a:spcAft>
              <a:buNone/>
            </a:pPr>
            <a:r>
              <a:rPr lang="en-US" sz="1400" b="1" dirty="0">
                <a:solidFill>
                  <a:srgbClr val="0B4F4A"/>
                </a:solidFill>
              </a:rPr>
              <a:t>FY22: </a:t>
            </a:r>
            <a:r>
              <a:rPr lang="en-US" sz="1400" dirty="0">
                <a:solidFill>
                  <a:srgbClr val="1D2B2A"/>
                </a:solidFill>
              </a:rPr>
              <a:t>a ₹930 cr impairment cut PBT; PAT margin was 10.1% against 17% to 20% in FY23 to FY25.</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DR. REDDY'S LABORATORIES LIMITED  |  CONSOLIDATED  |  BALANCE SHEET</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Equity rose 97% in four years; the Haleon NRT acquisition cut net cash from ₹5,061 cr (FY23) to ₹879 cr</a:t>
            </a:r>
            <a:endParaRPr lang="en-US" sz="2400" dirty="0"/>
          </a:p>
        </p:txBody>
      </p:sp>
      <p:graphicFrame>
        <p:nvGraphicFramePr>
          <p:cNvPr id="12" name="BS table"/>
          <p:cNvGraphicFramePr>
            <a:graphicFrameLocks noGrp="1"/>
          </p:cNvGraphicFramePr>
          <p:nvPr>
            <p:extLst>
              <p:ext uri="{D42A27DB-BD31-4B8C-83A1-F6EECF244321}">
                <p14:modId xmlns:p14="http://schemas.microsoft.com/office/powerpoint/2010/main" val="1579011935"/>
              </p:ext>
            </p:extLst>
          </p:nvPr>
        </p:nvGraphicFramePr>
        <p:xfrm>
          <a:off x="457200" y="1463040"/>
          <a:ext cx="6949440" cy="4732020"/>
        </p:xfrm>
        <a:graphic>
          <a:graphicData uri="http://schemas.openxmlformats.org/drawingml/2006/table">
            <a:tbl>
              <a:tblPr/>
              <a:tblGrid>
                <a:gridCol w="28346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315468">
                <a:tc>
                  <a:txBody>
                    <a:bodyPr/>
                    <a:lstStyle/>
                    <a:p>
                      <a:pPr marL="0" indent="0" algn="l">
                        <a:buNone/>
                      </a:pPr>
                      <a:r>
                        <a:rPr lang="en-US" sz="1200" b="1" dirty="0">
                          <a:solidFill>
                            <a:srgbClr val="FFFFFF"/>
                          </a:solidFill>
                        </a:rPr>
                        <a:t>As at 31 March, ₹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15468">
                <a:tc>
                  <a:txBody>
                    <a:bodyPr/>
                    <a:lstStyle/>
                    <a:p>
                      <a:pPr marL="0" indent="0" algn="l">
                        <a:buNone/>
                      </a:pPr>
                      <a:r>
                        <a:rPr lang="en-US" sz="1200" dirty="0">
                          <a:solidFill>
                            <a:srgbClr val="1D2B2A"/>
                          </a:solidFill>
                        </a:rPr>
                        <a:t>Non-current assets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11,965</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11,860</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14,059</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24,409</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27,944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15468">
                <a:tc>
                  <a:txBody>
                    <a:bodyPr/>
                    <a:lstStyle/>
                    <a:p>
                      <a:pPr marL="0" indent="0" algn="l">
                        <a:buNone/>
                      </a:pPr>
                      <a:r>
                        <a:rPr lang="en-US" sz="1200" dirty="0">
                          <a:solidFill>
                            <a:srgbClr val="1D2B2A"/>
                          </a:solidFill>
                        </a:rPr>
                        <a:t>Inventories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5,088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4,867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6,355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7,109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7,653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15468">
                <a:tc>
                  <a:txBody>
                    <a:bodyPr/>
                    <a:lstStyle/>
                    <a:p>
                      <a:pPr marL="0" indent="0" algn="l">
                        <a:buNone/>
                      </a:pPr>
                      <a:r>
                        <a:rPr lang="en-US" sz="1200" dirty="0">
                          <a:solidFill>
                            <a:srgbClr val="1D2B2A"/>
                          </a:solidFill>
                        </a:rPr>
                        <a:t>Trade receivables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6,676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7,249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8,030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9,042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10,123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15468">
                <a:tc>
                  <a:txBody>
                    <a:bodyPr/>
                    <a:lstStyle/>
                    <a:p>
                      <a:pPr marL="0" indent="0" algn="l">
                        <a:buNone/>
                      </a:pPr>
                      <a:r>
                        <a:rPr lang="en-US" sz="1200" dirty="0">
                          <a:solidFill>
                            <a:srgbClr val="1D2B2A"/>
                          </a:solidFill>
                        </a:rPr>
                        <a:t>Current investments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2,017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4,450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4,405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3,331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3,823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15468">
                <a:tc>
                  <a:txBody>
                    <a:bodyPr/>
                    <a:lstStyle/>
                    <a:p>
                      <a:pPr marL="0" indent="0" algn="l">
                        <a:buNone/>
                      </a:pPr>
                      <a:r>
                        <a:rPr lang="en-US" sz="1200" dirty="0">
                          <a:solidFill>
                            <a:srgbClr val="1D2B2A"/>
                          </a:solidFill>
                        </a:rPr>
                        <a:t>Cash and bank balances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2,419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1,730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1,728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2,460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3,349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15468">
                <a:tc>
                  <a:txBody>
                    <a:bodyPr/>
                    <a:lstStyle/>
                    <a:p>
                      <a:pPr marL="0" indent="0" algn="l">
                        <a:buNone/>
                      </a:pPr>
                      <a:r>
                        <a:rPr lang="en-US" sz="1200" dirty="0">
                          <a:solidFill>
                            <a:srgbClr val="1D2B2A"/>
                          </a:solidFill>
                        </a:rPr>
                        <a:t>Other current assets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1,581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2,130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4,288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3,077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5,231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15468">
                <a:tc>
                  <a:txBody>
                    <a:bodyPr/>
                    <a:lstStyle/>
                    <a:p>
                      <a:pPr marL="0" indent="0" algn="l">
                        <a:buNone/>
                      </a:pPr>
                      <a:r>
                        <a:rPr lang="en-US" sz="1200" b="1" dirty="0">
                          <a:solidFill>
                            <a:srgbClr val="1D2B2A"/>
                          </a:solidFill>
                        </a:rPr>
                        <a:t>Total assets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29,747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32,285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38,864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49,427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58,123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7"/>
                  </a:ext>
                </a:extLst>
              </a:tr>
              <a:tr h="315468">
                <a:tc>
                  <a:txBody>
                    <a:bodyPr/>
                    <a:lstStyle/>
                    <a:p>
                      <a:pPr marL="0" indent="0" algn="l">
                        <a:buNone/>
                      </a:pPr>
                      <a:r>
                        <a:rPr lang="en-US" sz="1200" dirty="0">
                          <a:solidFill>
                            <a:srgbClr val="1D2B2A"/>
                          </a:solidFill>
                        </a:rPr>
                        <a:t>Owners' equity</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19,212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23,286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28,255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33,550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37,892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15468">
                <a:tc>
                  <a:txBody>
                    <a:bodyPr/>
                    <a:lstStyle/>
                    <a:p>
                      <a:pPr marL="0" indent="0" algn="l">
                        <a:buNone/>
                      </a:pPr>
                      <a:r>
                        <a:rPr lang="en-US" sz="1200" dirty="0">
                          <a:solidFill>
                            <a:srgbClr val="1D2B2A"/>
                          </a:solidFill>
                        </a:rPr>
                        <a:t>Non-controlling interests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339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15468">
                <a:tc>
                  <a:txBody>
                    <a:bodyPr/>
                    <a:lstStyle/>
                    <a:p>
                      <a:pPr marL="0" indent="0" algn="l">
                        <a:buNone/>
                      </a:pPr>
                      <a:r>
                        <a:rPr lang="en-US" sz="1200" dirty="0">
                          <a:solidFill>
                            <a:srgbClr val="1D2B2A"/>
                          </a:solidFill>
                        </a:rPr>
                        <a:t>Borrowings (current and non-current)</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3,088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1,119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1,652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4,185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6,294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315468">
                <a:tc>
                  <a:txBody>
                    <a:bodyPr/>
                    <a:lstStyle/>
                    <a:p>
                      <a:pPr marL="0" indent="0" algn="l">
                        <a:buNone/>
                      </a:pPr>
                      <a:r>
                        <a:rPr lang="en-US" sz="1200" dirty="0">
                          <a:solidFill>
                            <a:srgbClr val="1D2B2A"/>
                          </a:solidFill>
                        </a:rPr>
                        <a:t>Trade payables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2,266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2,268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2,614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2,648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3,038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315468">
                <a:tc>
                  <a:txBody>
                    <a:bodyPr/>
                    <a:lstStyle/>
                    <a:p>
                      <a:pPr marL="0" indent="0" algn="l">
                        <a:buNone/>
                      </a:pPr>
                      <a:r>
                        <a:rPr lang="en-US" sz="1200" dirty="0">
                          <a:solidFill>
                            <a:srgbClr val="1D2B2A"/>
                          </a:solidFill>
                        </a:rPr>
                        <a:t>Current provisions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587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653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692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870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r h="315468">
                <a:tc>
                  <a:txBody>
                    <a:bodyPr/>
                    <a:lstStyle/>
                    <a:p>
                      <a:pPr marL="0" indent="0" algn="l">
                        <a:buNone/>
                      </a:pPr>
                      <a:r>
                        <a:rPr lang="en-US" sz="1200" dirty="0">
                          <a:solidFill>
                            <a:srgbClr val="1D2B2A"/>
                          </a:solidFill>
                        </a:rPr>
                        <a:t>Other liabilities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4,594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4,959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5,650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7,891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9,691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3"/>
                  </a:ext>
                </a:extLst>
              </a:tr>
              <a:tr h="315468">
                <a:tc>
                  <a:txBody>
                    <a:bodyPr/>
                    <a:lstStyle/>
                    <a:p>
                      <a:pPr marL="0" indent="0" algn="l">
                        <a:buNone/>
                      </a:pPr>
                      <a:r>
                        <a:rPr lang="en-US" sz="1200" b="1" dirty="0">
                          <a:solidFill>
                            <a:srgbClr val="1D2B2A"/>
                          </a:solidFill>
                        </a:rPr>
                        <a:t>Total equity and liabilities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29,747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32,285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38,864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49,427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58,123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14"/>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Haleon NRT (Sep 2024): </a:t>
            </a:r>
            <a:r>
              <a:rPr lang="en-US" sz="1400" dirty="0">
                <a:solidFill>
                  <a:srgbClr val="1D2B2A"/>
                </a:solidFill>
              </a:rPr>
              <a:t>other intangibles rose from ₹3,627 cr to ₹9,614 cr and goodwill from ₹550 cr to ₹1,314 cr in FY25.</a:t>
            </a:r>
            <a:endParaRPr lang="en-US" sz="1400" dirty="0"/>
          </a:p>
          <a:p>
            <a:pPr marL="0" indent="0">
              <a:spcAft>
                <a:spcPts val="800"/>
              </a:spcAft>
              <a:buNone/>
            </a:pPr>
            <a:r>
              <a:rPr lang="en-US" sz="1400" b="1" dirty="0">
                <a:solidFill>
                  <a:srgbClr val="0B4F4A"/>
                </a:solidFill>
              </a:rPr>
              <a:t>Debt: </a:t>
            </a:r>
            <a:r>
              <a:rPr lang="en-US" sz="1400" dirty="0">
                <a:solidFill>
                  <a:srgbClr val="1D2B2A"/>
                </a:solidFill>
              </a:rPr>
              <a:t>borrowings of ₹6,294 cr are all current; liquid funds of ₹7,172 cr cover them 1.1 times.</a:t>
            </a:r>
            <a:endParaRPr lang="en-US" sz="1400" dirty="0"/>
          </a:p>
          <a:p>
            <a:pPr marL="0" indent="0">
              <a:spcAft>
                <a:spcPts val="800"/>
              </a:spcAft>
              <a:buNone/>
            </a:pPr>
            <a:r>
              <a:rPr lang="en-US" sz="1400" b="1" dirty="0">
                <a:solidFill>
                  <a:srgbClr val="0B4F4A"/>
                </a:solidFill>
              </a:rPr>
              <a:t>Working capital: </a:t>
            </a:r>
            <a:r>
              <a:rPr lang="en-US" sz="1400" dirty="0">
                <a:solidFill>
                  <a:srgbClr val="1D2B2A"/>
                </a:solidFill>
              </a:rPr>
              <a:t>receivables and inventories are 31% of total assets.</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DR. REDDY'S LABORATORIES LIMITED  |  CONSOLIDATED  |  CASH FLOW</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Operating cash flow of ₹23,558 cr covered capex and dividends 1.4 times; free cash flow fell to ₹1,203 cr in FY25</a:t>
            </a:r>
            <a:endParaRPr lang="en-US" sz="2400" dirty="0"/>
          </a:p>
        </p:txBody>
      </p:sp>
      <p:graphicFrame>
        <p:nvGraphicFramePr>
          <p:cNvPr id="13" name="CF table"/>
          <p:cNvGraphicFramePr>
            <a:graphicFrameLocks noGrp="1"/>
          </p:cNvGraphicFramePr>
          <p:nvPr>
            <p:extLst>
              <p:ext uri="{D42A27DB-BD31-4B8C-83A1-F6EECF244321}">
                <p14:modId xmlns:p14="http://schemas.microsoft.com/office/powerpoint/2010/main" val="1579011935"/>
              </p:ext>
            </p:extLst>
          </p:nvPr>
        </p:nvGraphicFramePr>
        <p:xfrm>
          <a:off x="457200" y="1463040"/>
          <a:ext cx="7040880" cy="4224528"/>
        </p:xfrm>
        <a:graphic>
          <a:graphicData uri="http://schemas.openxmlformats.org/drawingml/2006/table">
            <a:tbl>
              <a:tblPr/>
              <a:tblGrid>
                <a:gridCol w="251460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gridCol w="749808">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tblGrid>
              <a:tr h="352044">
                <a:tc>
                  <a:txBody>
                    <a:bodyPr/>
                    <a:lstStyle/>
                    <a:p>
                      <a:pPr marL="0" indent="0" algn="l">
                        <a:buNone/>
                      </a:pPr>
                      <a:r>
                        <a:rPr lang="en-US" sz="1200" b="1" dirty="0">
                          <a:solidFill>
                            <a:srgbClr val="FFFFFF"/>
                          </a:solidFill>
                        </a:rPr>
                        <a:t>₹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5 years</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52044">
                <a:tc>
                  <a:txBody>
                    <a:bodyPr/>
                    <a:lstStyle/>
                    <a:p>
                      <a:pPr marL="0" indent="0" algn="l">
                        <a:buNone/>
                      </a:pPr>
                      <a:r>
                        <a:rPr lang="en-US" sz="1200" dirty="0">
                          <a:solidFill>
                            <a:srgbClr val="5B6663"/>
                          </a:solidFill>
                        </a:rPr>
                        <a:t>Opening cash and equivalents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1,482</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1,485</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578</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711</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1,459</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52044">
                <a:tc>
                  <a:txBody>
                    <a:bodyPr/>
                    <a:lstStyle/>
                    <a:p>
                      <a:pPr marL="0" indent="0" algn="l">
                        <a:buNone/>
                      </a:pPr>
                      <a:r>
                        <a:rPr lang="en-US" sz="1200" b="1" dirty="0">
                          <a:solidFill>
                            <a:srgbClr val="1D2B2A"/>
                          </a:solidFill>
                        </a:rPr>
                        <a:t>Operating activities (A)</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2,811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5,887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4,543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4,643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5,674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23,558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52044">
                <a:tc>
                  <a:txBody>
                    <a:bodyPr/>
                    <a:lstStyle/>
                    <a:p>
                      <a:pPr marL="0" indent="0" algn="l">
                        <a:buNone/>
                      </a:pPr>
                      <a:r>
                        <a:rPr lang="en-US" sz="1200" b="1" dirty="0">
                          <a:solidFill>
                            <a:srgbClr val="1D2B2A"/>
                          </a:solidFill>
                        </a:rPr>
                        <a:t>Investing activities (B)</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(2,639)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(4,137)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(4,028)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(5,808)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(6,549)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(23,161)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52044">
                <a:tc>
                  <a:txBody>
                    <a:bodyPr/>
                    <a:lstStyle/>
                    <a:p>
                      <a:pPr marL="0" indent="0" algn="l">
                        <a:buNone/>
                      </a:pPr>
                      <a:r>
                        <a:rPr lang="en-US" sz="1200" b="1" dirty="0">
                          <a:solidFill>
                            <a:srgbClr val="1D2B2A"/>
                          </a:solidFill>
                        </a:rPr>
                        <a:t>Financing activities (C)</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(242)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(2,686)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1,891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829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52044">
                <a:tc>
                  <a:txBody>
                    <a:bodyPr/>
                    <a:lstStyle/>
                    <a:p>
                      <a:pPr marL="0" indent="0" algn="l">
                        <a:buNone/>
                      </a:pPr>
                      <a:r>
                        <a:rPr lang="en-US" sz="1200" dirty="0">
                          <a:solidFill>
                            <a:srgbClr val="1D2B2A"/>
                          </a:solidFill>
                        </a:rPr>
                        <a:t>Net change (A+B+C)</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(936)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726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52044">
                <a:tc>
                  <a:txBody>
                    <a:bodyPr/>
                    <a:lstStyle/>
                    <a:p>
                      <a:pPr marL="0" indent="0" algn="l">
                        <a:buNone/>
                      </a:pPr>
                      <a:r>
                        <a:rPr lang="en-US" sz="1200" dirty="0">
                          <a:solidFill>
                            <a:srgbClr val="5B6663"/>
                          </a:solidFill>
                        </a:rPr>
                        <a:t>Forex and other reconciling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29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29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249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52044">
                <a:tc>
                  <a:txBody>
                    <a:bodyPr/>
                    <a:lstStyle/>
                    <a:p>
                      <a:pPr marL="0" indent="0" algn="l">
                        <a:buNone/>
                      </a:pPr>
                      <a:r>
                        <a:rPr lang="en-US" sz="1200" b="1" dirty="0">
                          <a:solidFill>
                            <a:srgbClr val="1D2B2A"/>
                          </a:solidFill>
                        </a:rPr>
                        <a:t>Closing cash and equivalents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1,485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578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711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1,465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1,537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7"/>
                  </a:ext>
                </a:extLst>
              </a:tr>
              <a:tr h="352044">
                <a:tc>
                  <a:txBody>
                    <a:bodyPr/>
                    <a:lstStyle/>
                    <a:p>
                      <a:pPr marL="0" indent="0" algn="l">
                        <a:buNone/>
                      </a:pPr>
                      <a:r>
                        <a:rPr lang="en-US" sz="1200" dirty="0">
                          <a:solidFill>
                            <a:srgbClr val="1D2B2A"/>
                          </a:solidFill>
                        </a:rPr>
                        <a:t>Capital expenditure</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(1,905)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(3,440)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(3,841)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(13,815)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52044">
                <a:tc>
                  <a:txBody>
                    <a:bodyPr/>
                    <a:lstStyle/>
                    <a:p>
                      <a:pPr marL="0" indent="0" algn="l">
                        <a:buNone/>
                      </a:pPr>
                      <a:r>
                        <a:rPr lang="en-US" sz="1200" b="1" dirty="0">
                          <a:solidFill>
                            <a:srgbClr val="1D2B2A"/>
                          </a:solidFill>
                        </a:rPr>
                        <a:t>Free cash flow (A - capex)</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906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4,001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1,800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1,203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1,833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9,743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52044">
                <a:tc>
                  <a:txBody>
                    <a:bodyPr/>
                    <a:lstStyle/>
                    <a:p>
                      <a:pPr marL="0" indent="0" algn="l">
                        <a:buNone/>
                      </a:pPr>
                      <a:r>
                        <a:rPr lang="en-US" sz="1200" dirty="0">
                          <a:solidFill>
                            <a:srgbClr val="1D2B2A"/>
                          </a:solidFill>
                        </a:rPr>
                        <a:t>Acquisitions of businesses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(5,310)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(315)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(5,657)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352044">
                <a:tc>
                  <a:txBody>
                    <a:bodyPr/>
                    <a:lstStyle/>
                    <a:p>
                      <a:pPr marL="0" indent="0" algn="l">
                        <a:buNone/>
                      </a:pPr>
                      <a:r>
                        <a:rPr lang="en-US" sz="1200" dirty="0">
                          <a:solidFill>
                            <a:srgbClr val="1D2B2A"/>
                          </a:solidFill>
                        </a:rPr>
                        <a:t>Dividends paid</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(415)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(498)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(666)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(666)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(2,909)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Conversion: </a:t>
            </a:r>
            <a:r>
              <a:rPr lang="en-US" sz="1400" dirty="0">
                <a:solidFill>
                  <a:srgbClr val="1D2B2A"/>
                </a:solidFill>
              </a:rPr>
              <a:t>CFO / PAT was 0.81x and 0.82x in FY24 and FY25 as inventories and receivables built up; 1.35x in FY26.</a:t>
            </a:r>
            <a:endParaRPr lang="en-US" sz="1400" dirty="0"/>
          </a:p>
          <a:p>
            <a:pPr marL="0" indent="0">
              <a:spcAft>
                <a:spcPts val="800"/>
              </a:spcAft>
              <a:buNone/>
            </a:pPr>
            <a:r>
              <a:rPr lang="en-US" sz="1400" b="1" dirty="0">
                <a:solidFill>
                  <a:srgbClr val="0B4F4A"/>
                </a:solidFill>
              </a:rPr>
              <a:t>FY25: </a:t>
            </a:r>
            <a:r>
              <a:rPr lang="en-US" sz="1400" dirty="0">
                <a:solidFill>
                  <a:srgbClr val="1D2B2A"/>
                </a:solidFill>
              </a:rPr>
              <a:t>₹5,310 cr paid for acquisitions (mainly Haleon NRT), funded by ₹2,449 cr of short-term borrowings and liquid funds.</a:t>
            </a:r>
            <a:endParaRPr lang="en-US" sz="1400" dirty="0"/>
          </a:p>
          <a:p>
            <a:pPr marL="0" indent="0">
              <a:spcAft>
                <a:spcPts val="800"/>
              </a:spcAft>
              <a:buNone/>
            </a:pPr>
            <a:r>
              <a:rPr lang="en-US" sz="1400" b="1" dirty="0">
                <a:solidFill>
                  <a:srgbClr val="0B4F4A"/>
                </a:solidFill>
              </a:rPr>
              <a:t>Capex: </a:t>
            </a:r>
            <a:r>
              <a:rPr lang="en-US" sz="1400" dirty="0">
                <a:solidFill>
                  <a:srgbClr val="1D2B2A"/>
                </a:solidFill>
              </a:rPr>
              <a:t>rose from ₹1,905 cr (FY22) to ₹3,841 cr (FY26); dividends steady at about ₹665 cr.</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DR. REDDY'S LABORATORIES LIMITED  |  CONSOLIDATED  |  RATIO ANALYSIS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Liquidity and solvency remain sound; ROCE fell from a 28.2% peak in FY23 to 14.8% in FY26</a:t>
            </a:r>
            <a:endParaRPr lang="en-US" sz="2400" dirty="0"/>
          </a:p>
        </p:txBody>
      </p:sp>
      <p:graphicFrame>
        <p:nvGraphicFramePr>
          <p:cNvPr id="14" name="Ratio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4526280"/>
        </p:xfrm>
        <a:graphic>
          <a:graphicData uri="http://schemas.openxmlformats.org/drawingml/2006/table">
            <a:tbl>
              <a:tblPr/>
              <a:tblGrid>
                <a:gridCol w="1051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005072">
                  <a:extLst>
                    <a:ext uri="{9D8B030D-6E8A-4147-A177-3AD203B41FA5}">
                      <a16:colId xmlns:a16="http://schemas.microsoft.com/office/drawing/2014/main" val="20002"/>
                    </a:ext>
                  </a:extLst>
                </a:gridCol>
                <a:gridCol w="804672">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gridCol w="804672">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251460">
                <a:tc>
                  <a:txBody>
                    <a:bodyPr/>
                    <a:lstStyle/>
                    <a:p>
                      <a:pPr marL="0" indent="0" algn="l">
                        <a:buNone/>
                      </a:pP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100" b="1" dirty="0">
                          <a:solidFill>
                            <a:srgbClr val="FFFFFF"/>
                          </a:solidFill>
                        </a:rPr>
                        <a:t>Ratio</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100" b="1" dirty="0">
                          <a:solidFill>
                            <a:srgbClr val="FFFFFF"/>
                          </a:solidFill>
                        </a:rPr>
                        <a:t>Formula</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FY23</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FY24</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FY25</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51460">
                <a:tc rowSpan="3">
                  <a:txBody>
                    <a:bodyPr/>
                    <a:lstStyle/>
                    <a:p>
                      <a:pPr marL="0" indent="0" algn="l">
                        <a:buNone/>
                      </a:pPr>
                      <a:r>
                        <a:rPr lang="en-US" sz="1100" b="1" dirty="0">
                          <a:solidFill>
                            <a:srgbClr val="0B4F4A"/>
                          </a:solidFill>
                        </a:rPr>
                        <a:t>Liquidity</a:t>
                      </a:r>
                      <a:endParaRPr lang="en-US" sz="11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Current ratio</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Current assets / current liabilities</a:t>
                      </a:r>
                      <a:endParaRPr lang="en-US" sz="10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1.82x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2.38x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2.59x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1.92x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1.80x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51460">
                <a:tc vMerge="1">
                  <a:txBody>
                    <a:bodyPr/>
                    <a:lstStyle/>
                    <a:p>
                      <a:endParaRPr lang="en-US"/>
                    </a:p>
                  </a:txBody>
                  <a:tcPr/>
                </a:tc>
                <a:tc>
                  <a:txBody>
                    <a:bodyPr/>
                    <a:lstStyle/>
                    <a:p>
                      <a:pPr marL="0" indent="0" algn="l">
                        <a:buNone/>
                      </a:pPr>
                      <a:r>
                        <a:rPr lang="en-US" sz="1150" b="1" dirty="0">
                          <a:solidFill>
                            <a:srgbClr val="1D2B2A"/>
                          </a:solidFill>
                        </a:rPr>
                        <a:t>Quick ratio</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(Current assets - inventories)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1.37x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51460">
                <a:tc vMerge="1">
                  <a:txBody>
                    <a:bodyPr/>
                    <a:lstStyle/>
                    <a:p>
                      <a:endParaRPr lang="en-US"/>
                    </a:p>
                  </a:txBody>
                  <a:tcPr/>
                </a:tc>
                <a:tc>
                  <a:txBody>
                    <a:bodyPr/>
                    <a:lstStyle/>
                    <a:p>
                      <a:pPr marL="0" indent="0" algn="l">
                        <a:buNone/>
                      </a:pPr>
                      <a:r>
                        <a:rPr lang="en-US" sz="1150" b="1" dirty="0">
                          <a:solidFill>
                            <a:srgbClr val="1D2B2A"/>
                          </a:solidFill>
                        </a:rPr>
                        <a:t>Cash ratio</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(Cash + bank + current investments)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0.45x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0.72x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0.64x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0.44x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0.43x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51460">
                <a:tc rowSpan="3">
                  <a:txBody>
                    <a:bodyPr/>
                    <a:lstStyle/>
                    <a:p>
                      <a:pPr marL="0" indent="0" algn="l">
                        <a:buNone/>
                      </a:pPr>
                      <a:r>
                        <a:rPr lang="en-US" sz="1100" b="1" dirty="0">
                          <a:solidFill>
                            <a:srgbClr val="0B4F4A"/>
                          </a:solidFill>
                        </a:rPr>
                        <a:t>Solvency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Debt-equity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Borrowings / total equity</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251460">
                <a:tc vMerge="1">
                  <a:txBody>
                    <a:bodyPr/>
                    <a:lstStyle/>
                    <a:p>
                      <a:endParaRPr lang="en-US"/>
                    </a:p>
                  </a:txBody>
                  <a:tcPr/>
                </a:tc>
                <a:tc>
                  <a:txBody>
                    <a:bodyPr/>
                    <a:lstStyle/>
                    <a:p>
                      <a:pPr marL="0" indent="0" algn="l">
                        <a:buNone/>
                      </a:pPr>
                      <a:r>
                        <a:rPr lang="en-US" sz="1150" b="1" dirty="0">
                          <a:solidFill>
                            <a:srgbClr val="1D2B2A"/>
                          </a:solidFill>
                        </a:rPr>
                        <a:t>Interest cover</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(PBT before exceptional + finance cost) / finance cost</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32.2x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43.1x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43.0x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251460">
                <a:tc vMerge="1">
                  <a:txBody>
                    <a:bodyPr/>
                    <a:lstStyle/>
                    <a:p>
                      <a:endParaRPr lang="en-US"/>
                    </a:p>
                  </a:txBody>
                  <a:tcPr/>
                </a:tc>
                <a:tc>
                  <a:txBody>
                    <a:bodyPr/>
                    <a:lstStyle/>
                    <a:p>
                      <a:pPr marL="0" indent="0" algn="l">
                        <a:buNone/>
                      </a:pPr>
                      <a:r>
                        <a:rPr lang="en-US" sz="1150" b="1" dirty="0">
                          <a:solidFill>
                            <a:srgbClr val="1D2B2A"/>
                          </a:solidFill>
                        </a:rPr>
                        <a:t>Equity to total assets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Total equity / total assets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64.6%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72.1%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72.7%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68.6%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65.8%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251460">
                <a:tc rowSpan="4">
                  <a:txBody>
                    <a:bodyPr/>
                    <a:lstStyle/>
                    <a:p>
                      <a:pPr marL="0" indent="0" algn="l">
                        <a:buNone/>
                      </a:pPr>
                      <a:r>
                        <a:rPr lang="en-US" sz="1100" b="1" dirty="0">
                          <a:solidFill>
                            <a:srgbClr val="0B4F4A"/>
                          </a:solidFill>
                        </a:rPr>
                        <a:t>Efficiency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Inventory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inventory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251460">
                <a:tc vMerge="1">
                  <a:txBody>
                    <a:bodyPr/>
                    <a:lstStyle/>
                    <a:p>
                      <a:endParaRPr lang="en-US"/>
                    </a:p>
                  </a:txBody>
                  <a:tcPr/>
                </a:tc>
                <a:tc>
                  <a:txBody>
                    <a:bodyPr/>
                    <a:lstStyle/>
                    <a:p>
                      <a:pPr marL="0" indent="0" algn="l">
                        <a:buNone/>
                      </a:pPr>
                      <a:r>
                        <a:rPr lang="en-US" sz="1150" b="1" dirty="0">
                          <a:solidFill>
                            <a:srgbClr val="1D2B2A"/>
                          </a:solidFill>
                        </a:rPr>
                        <a:t>Debtor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trade receivables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251460">
                <a:tc vMerge="1">
                  <a:txBody>
                    <a:bodyPr/>
                    <a:lstStyle/>
                    <a:p>
                      <a:endParaRPr lang="en-US"/>
                    </a:p>
                  </a:txBody>
                  <a:tcPr/>
                </a:tc>
                <a:tc>
                  <a:txBody>
                    <a:bodyPr/>
                    <a:lstStyle/>
                    <a:p>
                      <a:pPr marL="0" indent="0" algn="l">
                        <a:buNone/>
                      </a:pPr>
                      <a:r>
                        <a:rPr lang="en-US" sz="1150" b="1" dirty="0">
                          <a:solidFill>
                            <a:srgbClr val="1D2B2A"/>
                          </a:solidFill>
                        </a:rPr>
                        <a:t>Creditor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trade payables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251460">
                <a:tc vMerge="1">
                  <a:txBody>
                    <a:bodyPr/>
                    <a:lstStyle/>
                    <a:p>
                      <a:endParaRPr lang="en-US"/>
                    </a:p>
                  </a:txBody>
                  <a:tcPr/>
                </a:tc>
                <a:tc>
                  <a:txBody>
                    <a:bodyPr/>
                    <a:lstStyle/>
                    <a:p>
                      <a:pPr marL="0" indent="0" algn="l">
                        <a:buNone/>
                      </a:pPr>
                      <a:r>
                        <a:rPr lang="en-US" sz="1150" b="1" dirty="0">
                          <a:solidFill>
                            <a:srgbClr val="1D2B2A"/>
                          </a:solidFill>
                        </a:rPr>
                        <a:t>Cash conversion cycle</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Inventory days + debtor days - creditor days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251460">
                <a:tc rowSpan="4">
                  <a:txBody>
                    <a:bodyPr/>
                    <a:lstStyle/>
                    <a:p>
                      <a:pPr marL="0" indent="0" algn="l">
                        <a:buNone/>
                      </a:pPr>
                      <a:r>
                        <a:rPr lang="en-US" sz="1100" b="1" dirty="0">
                          <a:solidFill>
                            <a:srgbClr val="0B4F4A"/>
                          </a:solidFill>
                        </a:rPr>
                        <a:t>Profitability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EBITDA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EBITDA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251460">
                <a:tc vMerge="1">
                  <a:txBody>
                    <a:bodyPr/>
                    <a:lstStyle/>
                    <a:p>
                      <a:endParaRPr lang="en-US"/>
                    </a:p>
                  </a:txBody>
                  <a:tcPr/>
                </a:tc>
                <a:tc>
                  <a:txBody>
                    <a:bodyPr/>
                    <a:lstStyle/>
                    <a:p>
                      <a:pPr marL="0" indent="0" algn="l">
                        <a:buNone/>
                      </a:pPr>
                      <a:r>
                        <a:rPr lang="en-US" sz="1150" b="1" dirty="0">
                          <a:solidFill>
                            <a:srgbClr val="1D2B2A"/>
                          </a:solidFill>
                        </a:rPr>
                        <a:t>PAT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PAT attributable to owners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r h="251460">
                <a:tc vMerge="1">
                  <a:txBody>
                    <a:bodyPr/>
                    <a:lstStyle/>
                    <a:p>
                      <a:endParaRPr lang="en-US"/>
                    </a:p>
                  </a:txBody>
                  <a:tcPr/>
                </a:tc>
                <a:tc>
                  <a:txBody>
                    <a:bodyPr/>
                    <a:lstStyle/>
                    <a:p>
                      <a:pPr marL="0" indent="0" algn="l">
                        <a:buNone/>
                      </a:pPr>
                      <a:r>
                        <a:rPr lang="en-US" sz="1150" b="1" dirty="0">
                          <a:solidFill>
                            <a:srgbClr val="1D2B2A"/>
                          </a:solidFill>
                        </a:rPr>
                        <a:t>Return on 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PAT attributable / average owners' equity</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3"/>
                  </a:ext>
                </a:extLst>
              </a:tr>
              <a:tr h="251460">
                <a:tc vMerge="1">
                  <a:txBody>
                    <a:bodyPr/>
                    <a:lstStyle/>
                    <a:p>
                      <a:endParaRPr lang="en-US"/>
                    </a:p>
                  </a:txBody>
                  <a:tcPr/>
                </a:tc>
                <a:tc>
                  <a:txBody>
                    <a:bodyPr/>
                    <a:lstStyle/>
                    <a:p>
                      <a:pPr marL="0" indent="0" algn="l">
                        <a:buNone/>
                      </a:pPr>
                      <a:r>
                        <a:rPr lang="en-US" sz="1150" b="1" dirty="0">
                          <a:solidFill>
                            <a:srgbClr val="1D2B2A"/>
                          </a:solidFill>
                        </a:rPr>
                        <a:t>Return on capital employed</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EBIT / average (total assets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27.8%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4"/>
                  </a:ext>
                </a:extLst>
              </a:tr>
              <a:tr h="251460">
                <a:tc rowSpan="3">
                  <a:txBody>
                    <a:bodyPr/>
                    <a:lstStyle/>
                    <a:p>
                      <a:pPr marL="0" indent="0" algn="l">
                        <a:buNone/>
                      </a:pPr>
                      <a:r>
                        <a:rPr lang="en-US" sz="1100" b="1" dirty="0">
                          <a:solidFill>
                            <a:srgbClr val="0B4F4A"/>
                          </a:solidFill>
                        </a:rPr>
                        <a:t>Cash flow</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CFO to PAT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Net cash from operations / PAT attributable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1.29x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0.81x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0.82x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5"/>
                  </a:ext>
                </a:extLst>
              </a:tr>
              <a:tr h="251460">
                <a:tc vMerge="1">
                  <a:txBody>
                    <a:bodyPr/>
                    <a:lstStyle/>
                    <a:p>
                      <a:endParaRPr lang="en-US"/>
                    </a:p>
                  </a:txBody>
                  <a:tcPr/>
                </a:tc>
                <a:tc>
                  <a:txBody>
                    <a:bodyPr/>
                    <a:lstStyle/>
                    <a:p>
                      <a:pPr marL="0" indent="0" algn="l">
                        <a:buNone/>
                      </a:pPr>
                      <a:r>
                        <a:rPr lang="en-US" sz="1150" b="1" dirty="0">
                          <a:solidFill>
                            <a:srgbClr val="1D2B2A"/>
                          </a:solidFill>
                        </a:rPr>
                        <a:t>Free cash flow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(CFO - capex)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6"/>
                  </a:ext>
                </a:extLst>
              </a:tr>
              <a:tr h="251460">
                <a:tc vMerge="1">
                  <a:txBody>
                    <a:bodyPr/>
                    <a:lstStyle/>
                    <a:p>
                      <a:endParaRPr lang="en-US"/>
                    </a:p>
                  </a:txBody>
                  <a:tcPr/>
                </a:tc>
                <a:tc>
                  <a:txBody>
                    <a:bodyPr/>
                    <a:lstStyle/>
                    <a:p>
                      <a:pPr marL="0" indent="0" algn="l">
                        <a:buNone/>
                      </a:pPr>
                      <a:r>
                        <a:rPr lang="en-US" sz="1150" b="1" dirty="0">
                          <a:solidFill>
                            <a:srgbClr val="1D2B2A"/>
                          </a:solidFill>
                        </a:rPr>
                        <a:t>Dividend payout (cash)</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Dividends paid / PAT attributable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5" name="Ratio note"/>
          <p:cNvSpPr txBox="1"/>
          <p:nvPr/>
        </p:nvSpPr>
        <p:spPr>
          <a:xfrm>
            <a:off x="457200" y="5989320"/>
            <a:ext cx="11274552" cy="365760"/>
          </a:xfrm>
          <a:prstGeom prst="rect">
            <a:avLst/>
          </a:prstGeom>
          <a:noFill/>
          <a:ln/>
        </p:spPr>
        <p:txBody>
          <a:bodyPr wrap="square" lIns="0" tIns="0" rIns="0" bIns="0" rtlCol="0" anchor="t"/>
          <a:lstStyle/>
          <a:p>
            <a:pPr marL="0" indent="0">
              <a:buNone/>
            </a:pPr>
            <a:r>
              <a:rPr lang="en-US" sz="1000" i="1" dirty="0">
                <a:solidFill>
                  <a:schemeClr val="accent2"/>
                </a:solidFill>
              </a:rPr>
              <a:t>Averages are (opening + closing) / 2. Days are computed on revenue because the statements are prepared by nature of expense, so cost of goods sold is not disclosed.</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DR. REDDY'S LABORATORIES LIMITED  |  CONSOLIDATED  |  TRENDS AND CONCLUSION</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The balance sheet is strong, but FY26 earnings and returns fell; margins and the Haleon integration are the watch-points</a:t>
            </a:r>
            <a:endParaRPr lang="en-US" sz="2400" dirty="0"/>
          </a:p>
        </p:txBody>
      </p:sp>
      <p:graphicFrame>
        <p:nvGraphicFramePr>
          <p:cNvPr id="4" name="Chart 0"/>
          <p:cNvGraphicFramePr/>
          <p:nvPr/>
        </p:nvGraphicFramePr>
        <p:xfrm>
          <a:off x="457200" y="1417320"/>
          <a:ext cx="361188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288536" y="1417320"/>
          <a:ext cx="3611880"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8119872" y="1417320"/>
          <a:ext cx="3611880" cy="228600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2"/>
          <p:cNvSpPr txBox="1"/>
          <p:nvPr/>
        </p:nvSpPr>
        <p:spPr>
          <a:xfrm>
            <a:off x="457200" y="3840480"/>
            <a:ext cx="5486400" cy="365760"/>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Strengths</a:t>
            </a:r>
            <a:endParaRPr lang="en-US" sz="1800" dirty="0"/>
          </a:p>
        </p:txBody>
      </p:sp>
      <p:sp>
        <p:nvSpPr>
          <p:cNvPr id="8" name="Text 3"/>
          <p:cNvSpPr txBox="1"/>
          <p:nvPr/>
        </p:nvSpPr>
        <p:spPr>
          <a:xfrm>
            <a:off x="6245352" y="3840480"/>
            <a:ext cx="5486400" cy="36576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Points to watch</a:t>
            </a:r>
            <a:endParaRPr lang="en-US" sz="1800" dirty="0"/>
          </a:p>
        </p:txBody>
      </p:sp>
      <p:sp>
        <p:nvSpPr>
          <p:cNvPr id="9" name="Text 4"/>
          <p:cNvSpPr txBox="1"/>
          <p:nvPr/>
        </p:nvSpPr>
        <p:spPr>
          <a:xfrm>
            <a:off x="457200" y="4251960"/>
            <a:ext cx="5486400" cy="1600200"/>
          </a:xfrm>
          <a:prstGeom prst="rect">
            <a:avLst/>
          </a:prstGeom>
          <a:noFill/>
          <a:ln/>
        </p:spPr>
        <p:txBody>
          <a:bodyPr wrap="square" lIns="0" tIns="0" rIns="0" bIns="0" rtlCol="0" anchor="t"/>
          <a:lstStyle/>
          <a:p>
            <a:pPr marL="0" indent="0">
              <a:spcAft>
                <a:spcPts val="600"/>
              </a:spcAft>
              <a:buNone/>
            </a:pPr>
            <a:r>
              <a:rPr lang="en-US" sz="1400" b="1" dirty="0">
                <a:solidFill>
                  <a:srgbClr val="0B4F4A"/>
                </a:solidFill>
              </a:rPr>
              <a:t>Leverage: </a:t>
            </a:r>
            <a:r>
              <a:rPr lang="en-US" sz="1400" dirty="0">
                <a:solidFill>
                  <a:srgbClr val="1D2B2A"/>
                </a:solidFill>
              </a:rPr>
              <a:t>debt-equity 0.16x, interest cover 15.4x; net cash ₹879 cr after the acquisition.</a:t>
            </a:r>
            <a:endParaRPr lang="en-US" sz="1400" dirty="0"/>
          </a:p>
          <a:p>
            <a:pPr marL="0" indent="0">
              <a:spcAft>
                <a:spcPts val="600"/>
              </a:spcAft>
              <a:buNone/>
            </a:pPr>
            <a:r>
              <a:rPr lang="en-US" sz="1400" b="1" dirty="0">
                <a:solidFill>
                  <a:srgbClr val="0B4F4A"/>
                </a:solidFill>
              </a:rPr>
              <a:t>Cash generation: </a:t>
            </a:r>
            <a:r>
              <a:rPr lang="en-US" sz="1400" dirty="0">
                <a:solidFill>
                  <a:srgbClr val="1D2B2A"/>
                </a:solidFill>
              </a:rPr>
              <a:t>five-year CFO was 1.4x capex plus dividends; FCF positive every year.</a:t>
            </a:r>
            <a:endParaRPr lang="en-US" sz="1400" dirty="0"/>
          </a:p>
          <a:p>
            <a:pPr marL="0" indent="0">
              <a:spcAft>
                <a:spcPts val="600"/>
              </a:spcAft>
              <a:buNone/>
            </a:pPr>
            <a:r>
              <a:rPr lang="en-US" sz="1400" b="1" dirty="0">
                <a:solidFill>
                  <a:srgbClr val="0B4F4A"/>
                </a:solidFill>
              </a:rPr>
              <a:t>Regulatory: </a:t>
            </a:r>
            <a:r>
              <a:rPr lang="en-US" sz="1400" dirty="0">
                <a:solidFill>
                  <a:srgbClr val="1D2B2A"/>
                </a:solidFill>
              </a:rPr>
              <a:t>SEC (Feb 2026) and DOJ (Mar 2026) closed their inquiries without enforcement action.</a:t>
            </a:r>
            <a:endParaRPr lang="en-US" sz="1400" dirty="0"/>
          </a:p>
        </p:txBody>
      </p:sp>
      <p:sp>
        <p:nvSpPr>
          <p:cNvPr id="10" name="Text 5"/>
          <p:cNvSpPr txBox="1"/>
          <p:nvPr/>
        </p:nvSpPr>
        <p:spPr>
          <a:xfrm>
            <a:off x="6245352" y="4251960"/>
            <a:ext cx="5486400" cy="1600200"/>
          </a:xfrm>
          <a:prstGeom prst="rect">
            <a:avLst/>
          </a:prstGeom>
          <a:noFill/>
          <a:ln/>
        </p:spPr>
        <p:txBody>
          <a:bodyPr wrap="square" lIns="0" tIns="0" rIns="0" bIns="0" rtlCol="0" anchor="t"/>
          <a:lstStyle/>
          <a:p>
            <a:pPr marL="0" indent="0">
              <a:spcAft>
                <a:spcPts val="600"/>
              </a:spcAft>
              <a:buNone/>
            </a:pPr>
            <a:r>
              <a:rPr lang="en-US" sz="1400" b="1" dirty="0">
                <a:solidFill>
                  <a:srgbClr val="0B4F4A"/>
                </a:solidFill>
              </a:rPr>
              <a:t>Margins: </a:t>
            </a:r>
            <a:r>
              <a:rPr lang="en-US" sz="1400" dirty="0">
                <a:solidFill>
                  <a:srgbClr val="1D2B2A"/>
                </a:solidFill>
              </a:rPr>
              <a:t>EBITDA margin 20.2% against 28.3% in FY24; PAT fell 26% in FY26.</a:t>
            </a:r>
            <a:endParaRPr lang="en-US" sz="1400" dirty="0"/>
          </a:p>
          <a:p>
            <a:pPr marL="0" indent="0">
              <a:spcAft>
                <a:spcPts val="600"/>
              </a:spcAft>
              <a:buNone/>
            </a:pPr>
            <a:r>
              <a:rPr lang="en-US" sz="1400" b="1" dirty="0">
                <a:solidFill>
                  <a:srgbClr val="0B4F4A"/>
                </a:solidFill>
              </a:rPr>
              <a:t>Working capital: </a:t>
            </a:r>
            <a:r>
              <a:rPr lang="en-US" sz="1400" dirty="0">
                <a:solidFill>
                  <a:srgbClr val="1D2B2A"/>
                </a:solidFill>
              </a:rPr>
              <a:t>debtor days rose from 95 to 104; cash cycle of 153 days is the longest in five years.</a:t>
            </a:r>
            <a:endParaRPr lang="en-US" sz="1400" dirty="0"/>
          </a:p>
          <a:p>
            <a:pPr marL="0" indent="0">
              <a:spcAft>
                <a:spcPts val="600"/>
              </a:spcAft>
              <a:buNone/>
            </a:pPr>
            <a:r>
              <a:rPr lang="en-US" sz="1400" b="1" dirty="0">
                <a:solidFill>
                  <a:srgbClr val="0B4F4A"/>
                </a:solidFill>
              </a:rPr>
              <a:t>Profit quality: </a:t>
            </a:r>
            <a:r>
              <a:rPr lang="en-US" sz="1400" dirty="0">
                <a:solidFill>
                  <a:srgbClr val="1D2B2A"/>
                </a:solidFill>
              </a:rPr>
              <a:t>other income is 25% of FY26 PBT; impairments of ₹352 cr in FY26.</a:t>
            </a:r>
            <a:endParaRPr lang="en-US" sz="1400" dirty="0"/>
          </a:p>
        </p:txBody>
      </p:sp>
      <p:sp>
        <p:nvSpPr>
          <p:cNvPr id="11" name="Data note"/>
          <p:cNvSpPr txBox="1"/>
          <p:nvPr/>
        </p:nvSpPr>
        <p:spPr>
          <a:xfrm>
            <a:off x="457200" y="5852160"/>
            <a:ext cx="11274552" cy="502920"/>
          </a:xfrm>
          <a:prstGeom prst="rect">
            <a:avLst/>
          </a:prstGeom>
          <a:noFill/>
          <a:ln/>
        </p:spPr>
        <p:txBody>
          <a:bodyPr wrap="square" lIns="0" tIns="0" rIns="0" bIns="0" rtlCol="0" anchor="t"/>
          <a:lstStyle/>
          <a:p>
            <a:pPr marL="0" indent="0">
              <a:buNone/>
            </a:pPr>
            <a:r>
              <a:rPr lang="en-US" sz="1000" i="1" dirty="0">
                <a:solidFill>
                  <a:schemeClr val="accent2"/>
                </a:solidFill>
              </a:rPr>
              <a:t>Data note: consolidated figures. Foreign exchange gains and losses are not separately disclosed in the results, so EBITDA is as reported. Depreciation includes impairment. EPS for FY22 and FY23 is adjusted for the 1:5 share split (FY25). Source PDFs are scans; subtotals were recomputed and tie to the reported totals.</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E1397B-8199-88DE-EA89-5CD89961CBB5}"/>
              </a:ext>
            </a:extLst>
          </p:cNvPr>
          <p:cNvPicPr>
            <a:picLocks noChangeAspect="1"/>
          </p:cNvPicPr>
          <p:nvPr/>
        </p:nvPicPr>
        <p:blipFill>
          <a:blip r:embed="rId2"/>
          <a:stretch>
            <a:fillRect/>
          </a:stretch>
        </p:blipFill>
        <p:spPr>
          <a:xfrm>
            <a:off x="4072919" y="100701"/>
            <a:ext cx="3857625" cy="4235630"/>
          </a:xfrm>
          <a:prstGeom prst="rect">
            <a:avLst/>
          </a:prstGeom>
        </p:spPr>
      </p:pic>
    </p:spTree>
    <p:extLst>
      <p:ext uri="{BB962C8B-B14F-4D97-AF65-F5344CB8AC3E}">
        <p14:creationId xmlns:p14="http://schemas.microsoft.com/office/powerpoint/2010/main" val="2451245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LUPIN LIMITED  |  CONSOLIDATED  |  PROFIT AND LOSS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Revenue grew 14.3% a year and core EBITDA margin rose to 29.2%; FY26 profit includes a ₹656 cr forex gain</a:t>
            </a:r>
            <a:endParaRPr lang="en-US" sz="2400" dirty="0"/>
          </a:p>
        </p:txBody>
      </p:sp>
      <p:graphicFrame>
        <p:nvGraphicFramePr>
          <p:cNvPr id="16" name="PL table"/>
          <p:cNvGraphicFramePr>
            <a:graphicFrameLocks noGrp="1"/>
          </p:cNvGraphicFramePr>
          <p:nvPr>
            <p:extLst>
              <p:ext uri="{D42A27DB-BD31-4B8C-83A1-F6EECF244321}">
                <p14:modId xmlns:p14="http://schemas.microsoft.com/office/powerpoint/2010/main" val="1579011935"/>
              </p:ext>
            </p:extLst>
          </p:nvPr>
        </p:nvGraphicFramePr>
        <p:xfrm>
          <a:off x="457200" y="1463040"/>
          <a:ext cx="6949440" cy="4576572"/>
        </p:xfrm>
        <a:graphic>
          <a:graphicData uri="http://schemas.openxmlformats.org/drawingml/2006/table">
            <a:tbl>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52044">
                <a:tc>
                  <a:txBody>
                    <a:bodyPr/>
                    <a:lstStyle/>
                    <a:p>
                      <a:pPr marL="0" indent="0" algn="l">
                        <a:buNone/>
                      </a:pPr>
                      <a:r>
                        <a:rPr lang="en-US" sz="1200" b="1" dirty="0">
                          <a:solidFill>
                            <a:srgbClr val="FFFFFF"/>
                          </a:solidFill>
                        </a:rPr>
                        <a:t>₹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52044">
                <a:tc>
                  <a:txBody>
                    <a:bodyPr/>
                    <a:lstStyle/>
                    <a:p>
                      <a:pPr marL="0" indent="0" algn="l">
                        <a:buNone/>
                      </a:pPr>
                      <a:r>
                        <a:rPr lang="en-US" sz="1200" b="1" dirty="0">
                          <a:solidFill>
                            <a:srgbClr val="1D2B2A"/>
                          </a:solidFill>
                        </a:rPr>
                        <a:t>Revenue from operations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16,405</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16,642</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20,011</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22,708</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27,958</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52044">
                <a:tc>
                  <a:txBody>
                    <a:bodyPr/>
                    <a:lstStyle/>
                    <a:p>
                      <a:pPr marL="0" indent="0" algn="l">
                        <a:buNone/>
                      </a:pPr>
                      <a:r>
                        <a:rPr lang="en-US" sz="1200" i="1" dirty="0">
                          <a:solidFill>
                            <a:srgbClr val="5B6663"/>
                          </a:solidFill>
                        </a:rPr>
                        <a:t>Growth over previous year</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20.2%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13.5%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23.1%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52044">
                <a:tc>
                  <a:txBody>
                    <a:bodyPr/>
                    <a:lstStyle/>
                    <a:p>
                      <a:pPr marL="0" indent="0" algn="l">
                        <a:buNone/>
                      </a:pPr>
                      <a:r>
                        <a:rPr lang="en-US" sz="1200" b="1" dirty="0">
                          <a:solidFill>
                            <a:srgbClr val="1D2B2A"/>
                          </a:solidFill>
                        </a:rPr>
                        <a:t>EBITDA before forex</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2,097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1,721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3,800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5,278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8,160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52044">
                <a:tc>
                  <a:txBody>
                    <a:bodyPr/>
                    <a:lstStyle/>
                    <a:p>
                      <a:pPr marL="0" indent="0" algn="l">
                        <a:buNone/>
                      </a:pPr>
                      <a:r>
                        <a:rPr lang="en-US" sz="1200" i="1" dirty="0">
                          <a:solidFill>
                            <a:srgbClr val="5B6663"/>
                          </a:solidFill>
                        </a:rPr>
                        <a:t>EBITDA margin</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12.8%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10.3%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19.0%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23.2%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29.2%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52044">
                <a:tc>
                  <a:txBody>
                    <a:bodyPr/>
                    <a:lstStyle/>
                    <a:p>
                      <a:pPr marL="0" indent="0" algn="l">
                        <a:buNone/>
                      </a:pPr>
                      <a:r>
                        <a:rPr lang="en-US" sz="1200" dirty="0">
                          <a:solidFill>
                            <a:srgbClr val="1D2B2A"/>
                          </a:solidFill>
                        </a:rPr>
                        <a:t>Net forex gain / (loss)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656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52044">
                <a:tc>
                  <a:txBody>
                    <a:bodyPr/>
                    <a:lstStyle/>
                    <a:p>
                      <a:pPr marL="0" indent="0" algn="l">
                        <a:buNone/>
                      </a:pPr>
                      <a:r>
                        <a:rPr lang="en-US" sz="1200" dirty="0">
                          <a:solidFill>
                            <a:srgbClr val="1D2B2A"/>
                          </a:solidFill>
                        </a:rPr>
                        <a:t>Other income</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52044">
                <a:tc>
                  <a:txBody>
                    <a:bodyPr/>
                    <a:lstStyle/>
                    <a:p>
                      <a:pPr marL="0" indent="0" algn="l">
                        <a:buNone/>
                      </a:pPr>
                      <a:r>
                        <a:rPr lang="en-US" sz="1200" dirty="0">
                          <a:solidFill>
                            <a:srgbClr val="1D2B2A"/>
                          </a:solidFill>
                        </a:rPr>
                        <a:t>D&amp;A, impairment and finance costs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(1,508)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(1,464)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352044">
                <a:tc>
                  <a:txBody>
                    <a:bodyPr/>
                    <a:lstStyle/>
                    <a:p>
                      <a:pPr marL="0" indent="0" algn="l">
                        <a:buNone/>
                      </a:pPr>
                      <a:r>
                        <a:rPr lang="en-US" sz="1200" b="1" dirty="0">
                          <a:solidFill>
                            <a:srgbClr val="1D2B2A"/>
                          </a:solidFill>
                        </a:rPr>
                        <a:t>PBT before exceptional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506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716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2,422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4,015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7,430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52044">
                <a:tc>
                  <a:txBody>
                    <a:bodyPr/>
                    <a:lstStyle/>
                    <a:p>
                      <a:pPr marL="0" indent="0" algn="l">
                        <a:buNone/>
                      </a:pPr>
                      <a:r>
                        <a:rPr lang="en-US" sz="1200" dirty="0">
                          <a:solidFill>
                            <a:srgbClr val="1D2B2A"/>
                          </a:solidFill>
                        </a:rPr>
                        <a:t>Exceptional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52044">
                <a:tc>
                  <a:txBody>
                    <a:bodyPr/>
                    <a:lstStyle/>
                    <a:p>
                      <a:pPr marL="0" indent="0" algn="l">
                        <a:buNone/>
                      </a:pPr>
                      <a:r>
                        <a:rPr lang="en-US" sz="1200" b="1" dirty="0">
                          <a:solidFill>
                            <a:srgbClr val="1D2B2A"/>
                          </a:solidFill>
                        </a:rPr>
                        <a:t>PAT attributable to owners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(1,528)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430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1,914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3,282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5,333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10"/>
                  </a:ext>
                </a:extLst>
              </a:tr>
              <a:tr h="352044">
                <a:tc>
                  <a:txBody>
                    <a:bodyPr/>
                    <a:lstStyle/>
                    <a:p>
                      <a:pPr marL="0" indent="0" algn="l">
                        <a:buNone/>
                      </a:pPr>
                      <a:r>
                        <a:rPr lang="en-US" sz="1200" i="1" dirty="0">
                          <a:solidFill>
                            <a:srgbClr val="5B6663"/>
                          </a:solidFill>
                        </a:rPr>
                        <a:t>PAT margin</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(9.3%)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14.5%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352044">
                <a:tc>
                  <a:txBody>
                    <a:bodyPr/>
                    <a:lstStyle/>
                    <a:p>
                      <a:pPr marL="0" indent="0" algn="l">
                        <a:buNone/>
                      </a:pPr>
                      <a:r>
                        <a:rPr lang="en-US" sz="1200" dirty="0">
                          <a:solidFill>
                            <a:srgbClr val="1D2B2A"/>
                          </a:solidFill>
                        </a:rPr>
                        <a:t>Basic EPS (₹)</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(33.6)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42.0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72.0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116.8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Margin: </a:t>
            </a:r>
            <a:r>
              <a:rPr lang="en-US" sz="1400" dirty="0">
                <a:solidFill>
                  <a:srgbClr val="1D2B2A"/>
                </a:solidFill>
              </a:rPr>
              <a:t>core EBITDA margin was 10.3% in FY23 and 29.2% in FY26 (31.5% including forex gains).</a:t>
            </a:r>
            <a:endParaRPr lang="en-US" sz="1400" dirty="0"/>
          </a:p>
          <a:p>
            <a:pPr marL="0" indent="0">
              <a:spcAft>
                <a:spcPts val="800"/>
              </a:spcAft>
              <a:buNone/>
            </a:pPr>
            <a:r>
              <a:rPr lang="en-US" sz="1400" b="1" dirty="0">
                <a:solidFill>
                  <a:srgbClr val="0B4F4A"/>
                </a:solidFill>
              </a:rPr>
              <a:t>Forex: </a:t>
            </a:r>
            <a:r>
              <a:rPr lang="en-US" sz="1400" dirty="0">
                <a:solidFill>
                  <a:srgbClr val="1D2B2A"/>
                </a:solidFill>
              </a:rPr>
              <a:t>the FY26 gain of ₹656 cr is 8.8% of PBT before exceptionals; earlier years were ₹6 cr to ₹78 cr.</a:t>
            </a:r>
            <a:endParaRPr lang="en-US" sz="1400" dirty="0"/>
          </a:p>
          <a:p>
            <a:pPr marL="0" indent="0">
              <a:spcAft>
                <a:spcPts val="800"/>
              </a:spcAft>
              <a:buNone/>
            </a:pPr>
            <a:r>
              <a:rPr lang="en-US" sz="1400" b="1" dirty="0">
                <a:solidFill>
                  <a:srgbClr val="0B4F4A"/>
                </a:solidFill>
              </a:rPr>
              <a:t>FY22: </a:t>
            </a:r>
            <a:r>
              <a:rPr lang="en-US" sz="1400" dirty="0">
                <a:solidFill>
                  <a:srgbClr val="1D2B2A"/>
                </a:solidFill>
              </a:rPr>
              <a:t>a ₹1,878 cr US antitrust settlement and ₹840 cr of impairment led to a ₹1,528 cr loss.</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LUPIN LIMITED  |  CONSOLIDATED  |  BALANCE SHEET</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Equity rose 85% in four years; net cash turned positive at ₹3,320 cr in FY26 after four years of net borrowing</a:t>
            </a:r>
            <a:endParaRPr lang="en-US" sz="2400" dirty="0"/>
          </a:p>
        </p:txBody>
      </p:sp>
      <p:graphicFrame>
        <p:nvGraphicFramePr>
          <p:cNvPr id="17" name="BS table"/>
          <p:cNvGraphicFramePr>
            <a:graphicFrameLocks noGrp="1"/>
          </p:cNvGraphicFramePr>
          <p:nvPr>
            <p:extLst>
              <p:ext uri="{D42A27DB-BD31-4B8C-83A1-F6EECF244321}">
                <p14:modId xmlns:p14="http://schemas.microsoft.com/office/powerpoint/2010/main" val="1579011935"/>
              </p:ext>
            </p:extLst>
          </p:nvPr>
        </p:nvGraphicFramePr>
        <p:xfrm>
          <a:off x="457200" y="1463040"/>
          <a:ext cx="6949440" cy="4732020"/>
        </p:xfrm>
        <a:graphic>
          <a:graphicData uri="http://schemas.openxmlformats.org/drawingml/2006/table">
            <a:tbl>
              <a:tblPr/>
              <a:tblGrid>
                <a:gridCol w="28346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315468">
                <a:tc>
                  <a:txBody>
                    <a:bodyPr/>
                    <a:lstStyle/>
                    <a:p>
                      <a:pPr marL="0" indent="0" algn="l">
                        <a:buNone/>
                      </a:pPr>
                      <a:r>
                        <a:rPr lang="en-US" sz="1200" b="1" dirty="0">
                          <a:solidFill>
                            <a:srgbClr val="FFFFFF"/>
                          </a:solidFill>
                        </a:rPr>
                        <a:t>As at 31 March, ₹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15468">
                <a:tc>
                  <a:txBody>
                    <a:bodyPr/>
                    <a:lstStyle/>
                    <a:p>
                      <a:pPr marL="0" indent="0" algn="l">
                        <a:buNone/>
                      </a:pPr>
                      <a:r>
                        <a:rPr lang="en-US" sz="1200" dirty="0">
                          <a:solidFill>
                            <a:srgbClr val="1D2B2A"/>
                          </a:solidFill>
                        </a:rPr>
                        <a:t>Non-current assets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9,364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10,505</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10,550</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12,406</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14,337</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15468">
                <a:tc>
                  <a:txBody>
                    <a:bodyPr/>
                    <a:lstStyle/>
                    <a:p>
                      <a:pPr marL="0" indent="0" algn="l">
                        <a:buNone/>
                      </a:pPr>
                      <a:r>
                        <a:rPr lang="en-US" sz="1200" dirty="0">
                          <a:solidFill>
                            <a:srgbClr val="1D2B2A"/>
                          </a:solidFill>
                        </a:rPr>
                        <a:t>Inventories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4,631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4,492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4,954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5,476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6,083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15468">
                <a:tc>
                  <a:txBody>
                    <a:bodyPr/>
                    <a:lstStyle/>
                    <a:p>
                      <a:pPr marL="0" indent="0" algn="l">
                        <a:buNone/>
                      </a:pPr>
                      <a:r>
                        <a:rPr lang="en-US" sz="1200" dirty="0">
                          <a:solidFill>
                            <a:srgbClr val="1D2B2A"/>
                          </a:solidFill>
                        </a:rPr>
                        <a:t>Trade receivables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4,262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4,481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4,692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5,497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6,604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15468">
                <a:tc>
                  <a:txBody>
                    <a:bodyPr/>
                    <a:lstStyle/>
                    <a:p>
                      <a:pPr marL="0" indent="0" algn="l">
                        <a:buNone/>
                      </a:pPr>
                      <a:r>
                        <a:rPr lang="en-US" sz="1200" dirty="0">
                          <a:solidFill>
                            <a:srgbClr val="1D2B2A"/>
                          </a:solidFill>
                        </a:rPr>
                        <a:t>Current investments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822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440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1,059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3,577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15468">
                <a:tc>
                  <a:txBody>
                    <a:bodyPr/>
                    <a:lstStyle/>
                    <a:p>
                      <a:pPr marL="0" indent="0" algn="l">
                        <a:buNone/>
                      </a:pPr>
                      <a:r>
                        <a:rPr lang="en-US" sz="1200" dirty="0">
                          <a:solidFill>
                            <a:srgbClr val="1D2B2A"/>
                          </a:solidFill>
                        </a:rPr>
                        <a:t>Cash and bank balances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1,098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1,293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1,203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3,142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5,653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15468">
                <a:tc>
                  <a:txBody>
                    <a:bodyPr/>
                    <a:lstStyle/>
                    <a:p>
                      <a:pPr marL="0" indent="0" algn="l">
                        <a:buNone/>
                      </a:pPr>
                      <a:r>
                        <a:rPr lang="en-US" sz="1200" dirty="0">
                          <a:solidFill>
                            <a:srgbClr val="1D2B2A"/>
                          </a:solidFill>
                        </a:rPr>
                        <a:t>Other current assets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1,644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1,746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1,752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1,624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2,110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15468">
                <a:tc>
                  <a:txBody>
                    <a:bodyPr/>
                    <a:lstStyle/>
                    <a:p>
                      <a:pPr marL="0" indent="0" algn="l">
                        <a:buNone/>
                      </a:pPr>
                      <a:r>
                        <a:rPr lang="en-US" sz="1200" b="1" dirty="0">
                          <a:solidFill>
                            <a:srgbClr val="1D2B2A"/>
                          </a:solidFill>
                        </a:rPr>
                        <a:t>Total assets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21,821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22,956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23,997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29,205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38,365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7"/>
                  </a:ext>
                </a:extLst>
              </a:tr>
              <a:tr h="315468">
                <a:tc>
                  <a:txBody>
                    <a:bodyPr/>
                    <a:lstStyle/>
                    <a:p>
                      <a:pPr marL="0" indent="0" algn="l">
                        <a:buNone/>
                      </a:pPr>
                      <a:r>
                        <a:rPr lang="en-US" sz="1200" dirty="0">
                          <a:solidFill>
                            <a:srgbClr val="1D2B2A"/>
                          </a:solidFill>
                        </a:rPr>
                        <a:t>Owners' equity</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12,153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12,465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14,290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17,204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22,448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15468">
                <a:tc>
                  <a:txBody>
                    <a:bodyPr/>
                    <a:lstStyle/>
                    <a:p>
                      <a:pPr marL="0" indent="0" algn="l">
                        <a:buNone/>
                      </a:pPr>
                      <a:r>
                        <a:rPr lang="en-US" sz="1200" dirty="0">
                          <a:solidFill>
                            <a:srgbClr val="1D2B2A"/>
                          </a:solidFill>
                        </a:rPr>
                        <a:t>Non-controlling interests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15468">
                <a:tc>
                  <a:txBody>
                    <a:bodyPr/>
                    <a:lstStyle/>
                    <a:p>
                      <a:pPr marL="0" indent="0" algn="l">
                        <a:buNone/>
                      </a:pPr>
                      <a:r>
                        <a:rPr lang="en-US" sz="1200" dirty="0">
                          <a:solidFill>
                            <a:srgbClr val="1D2B2A"/>
                          </a:solidFill>
                        </a:rPr>
                        <a:t>Borrowings (current and non-current)</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3,844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4,244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2,670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5,077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5,910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315468">
                <a:tc>
                  <a:txBody>
                    <a:bodyPr/>
                    <a:lstStyle/>
                    <a:p>
                      <a:pPr marL="0" indent="0" algn="l">
                        <a:buNone/>
                      </a:pPr>
                      <a:r>
                        <a:rPr lang="en-US" sz="1200" dirty="0">
                          <a:solidFill>
                            <a:srgbClr val="1D2B2A"/>
                          </a:solidFill>
                        </a:rPr>
                        <a:t>Trade payables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2,283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2,532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2,958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2,958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4,173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315468">
                <a:tc>
                  <a:txBody>
                    <a:bodyPr/>
                    <a:lstStyle/>
                    <a:p>
                      <a:pPr marL="0" indent="0" algn="l">
                        <a:buNone/>
                      </a:pPr>
                      <a:r>
                        <a:rPr lang="en-US" sz="1200" dirty="0">
                          <a:solidFill>
                            <a:srgbClr val="1D2B2A"/>
                          </a:solidFill>
                        </a:rPr>
                        <a:t>Current provisions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515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525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561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r h="315468">
                <a:tc>
                  <a:txBody>
                    <a:bodyPr/>
                    <a:lstStyle/>
                    <a:p>
                      <a:pPr marL="0" indent="0" algn="l">
                        <a:buNone/>
                      </a:pPr>
                      <a:r>
                        <a:rPr lang="en-US" sz="1200" dirty="0">
                          <a:solidFill>
                            <a:srgbClr val="1D2B2A"/>
                          </a:solidFill>
                        </a:rPr>
                        <a:t>Other liabilities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2,989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3,122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3,471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3,603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5,207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3"/>
                  </a:ext>
                </a:extLst>
              </a:tr>
              <a:tr h="315468">
                <a:tc>
                  <a:txBody>
                    <a:bodyPr/>
                    <a:lstStyle/>
                    <a:p>
                      <a:pPr marL="0" indent="0" algn="l">
                        <a:buNone/>
                      </a:pPr>
                      <a:r>
                        <a:rPr lang="en-US" sz="1200" b="1" dirty="0">
                          <a:solidFill>
                            <a:srgbClr val="1D2B2A"/>
                          </a:solidFill>
                        </a:rPr>
                        <a:t>Total equity and liabilities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21,821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22,956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23,997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29,205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38,365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14"/>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Net worth: </a:t>
            </a:r>
            <a:r>
              <a:rPr lang="en-US" sz="1400" dirty="0">
                <a:solidFill>
                  <a:srgbClr val="1D2B2A"/>
                </a:solidFill>
              </a:rPr>
              <a:t>owners' equity grew from ₹12,153 cr to ₹22,448 cr; minority interest is only ₹65 cr.</a:t>
            </a:r>
            <a:endParaRPr lang="en-US" sz="1400" dirty="0"/>
          </a:p>
          <a:p>
            <a:pPr marL="0" indent="0">
              <a:spcAft>
                <a:spcPts val="800"/>
              </a:spcAft>
              <a:buNone/>
            </a:pPr>
            <a:r>
              <a:rPr lang="en-US" sz="1400" b="1" dirty="0">
                <a:solidFill>
                  <a:srgbClr val="0B4F4A"/>
                </a:solidFill>
              </a:rPr>
              <a:t>Debt: </a:t>
            </a:r>
            <a:r>
              <a:rPr lang="en-US" sz="1400" dirty="0">
                <a:solidFill>
                  <a:srgbClr val="1D2B2A"/>
                </a:solidFill>
              </a:rPr>
              <a:t>borrowings of ₹5,910 cr include ₹4,267 cr current; liquid funds of ₹9,230 cr cover them 1.6 times.</a:t>
            </a:r>
            <a:endParaRPr lang="en-US" sz="1400" dirty="0"/>
          </a:p>
          <a:p>
            <a:pPr marL="0" indent="0">
              <a:spcAft>
                <a:spcPts val="800"/>
              </a:spcAft>
              <a:buNone/>
            </a:pPr>
            <a:r>
              <a:rPr lang="en-US" sz="1400" b="1" dirty="0">
                <a:solidFill>
                  <a:srgbClr val="0B4F4A"/>
                </a:solidFill>
              </a:rPr>
              <a:t>Intangibles: </a:t>
            </a:r>
            <a:r>
              <a:rPr lang="en-US" sz="1400" dirty="0">
                <a:solidFill>
                  <a:srgbClr val="1D2B2A"/>
                </a:solidFill>
              </a:rPr>
              <a:t>goodwill and intangibles are ₹5,866 cr, 15.3% of total assets.</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LUPIN LIMITED  |  CONSOLIDATED  |  CASH FLOW</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Operating cash flow of ₹16,247 cr covered capex and dividends 1.9 times; FY22 was hit by the ₹1,878 cr US settlement</a:t>
            </a:r>
            <a:endParaRPr lang="en-US" sz="2400" dirty="0"/>
          </a:p>
        </p:txBody>
      </p:sp>
      <p:graphicFrame>
        <p:nvGraphicFramePr>
          <p:cNvPr id="18" name="CF table"/>
          <p:cNvGraphicFramePr>
            <a:graphicFrameLocks noGrp="1"/>
          </p:cNvGraphicFramePr>
          <p:nvPr>
            <p:extLst>
              <p:ext uri="{D42A27DB-BD31-4B8C-83A1-F6EECF244321}">
                <p14:modId xmlns:p14="http://schemas.microsoft.com/office/powerpoint/2010/main" val="1579011935"/>
              </p:ext>
            </p:extLst>
          </p:nvPr>
        </p:nvGraphicFramePr>
        <p:xfrm>
          <a:off x="457200" y="1463040"/>
          <a:ext cx="7040880" cy="914400"/>
        </p:xfrm>
        <a:graphic>
          <a:graphicData uri="http://schemas.openxmlformats.org/drawingml/2006/table">
            <a:tbl>
              <a:tblPr/>
              <a:tblGrid>
                <a:gridCol w="251460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gridCol w="749808">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tblGrid>
              <a:tr h="352044">
                <a:tc>
                  <a:txBody>
                    <a:bodyPr/>
                    <a:lstStyle/>
                    <a:p>
                      <a:pPr marL="0" indent="0" algn="l">
                        <a:buNone/>
                      </a:pPr>
                      <a:r>
                        <a:rPr lang="en-US" sz="1200" b="1" dirty="0">
                          <a:solidFill>
                            <a:srgbClr val="FFFFFF"/>
                          </a:solidFill>
                        </a:rPr>
                        <a:t>₹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5 years</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52044">
                <a:tc>
                  <a:txBody>
                    <a:bodyPr/>
                    <a:lstStyle/>
                    <a:p>
                      <a:pPr marL="0" indent="0" algn="l">
                        <a:buNone/>
                      </a:pPr>
                      <a:r>
                        <a:rPr lang="en-US" sz="1200" dirty="0">
                          <a:solidFill>
                            <a:srgbClr val="5B6663"/>
                          </a:solidFill>
                        </a:rPr>
                        <a:t>Opening cash and equivalents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926</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991</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1,232</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984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1,544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52044">
                <a:tc>
                  <a:txBody>
                    <a:bodyPr/>
                    <a:lstStyle/>
                    <a:p>
                      <a:pPr marL="0" indent="0" algn="l">
                        <a:buNone/>
                      </a:pPr>
                      <a:r>
                        <a:rPr lang="en-US" sz="1200" b="1" dirty="0">
                          <a:solidFill>
                            <a:srgbClr val="1D2B2A"/>
                          </a:solidFill>
                        </a:rPr>
                        <a:t>Operating activities (A)</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367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1,897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3,648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3,000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7,335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16,247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52044">
                <a:tc>
                  <a:txBody>
                    <a:bodyPr/>
                    <a:lstStyle/>
                    <a:p>
                      <a:pPr marL="0" indent="0" algn="l">
                        <a:buNone/>
                      </a:pPr>
                      <a:r>
                        <a:rPr lang="en-US" sz="1200" b="1" dirty="0">
                          <a:solidFill>
                            <a:srgbClr val="1D2B2A"/>
                          </a:solidFill>
                        </a:rPr>
                        <a:t>Investing activities (B)</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1,292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(1,287)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(1,712)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(4,172)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(3,865)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(9,743)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52044">
                <a:tc>
                  <a:txBody>
                    <a:bodyPr/>
                    <a:lstStyle/>
                    <a:p>
                      <a:pPr marL="0" indent="0" algn="l">
                        <a:buNone/>
                      </a:pPr>
                      <a:r>
                        <a:rPr lang="en-US" sz="1200" b="1" dirty="0">
                          <a:solidFill>
                            <a:srgbClr val="1D2B2A"/>
                          </a:solidFill>
                        </a:rPr>
                        <a:t>Financing activities (C)</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(1,572)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(337)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(2,184)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1,732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(846)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(3,208)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52044">
                <a:tc>
                  <a:txBody>
                    <a:bodyPr/>
                    <a:lstStyle/>
                    <a:p>
                      <a:pPr marL="0" indent="0" algn="l">
                        <a:buNone/>
                      </a:pPr>
                      <a:r>
                        <a:rPr lang="en-US" sz="1200" dirty="0">
                          <a:solidFill>
                            <a:srgbClr val="1D2B2A"/>
                          </a:solidFill>
                        </a:rPr>
                        <a:t>Net change (A+B+C)</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(248)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560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2,624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3,296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52044">
                <a:tc>
                  <a:txBody>
                    <a:bodyPr/>
                    <a:lstStyle/>
                    <a:p>
                      <a:pPr marL="0" indent="0" algn="l">
                        <a:buNone/>
                      </a:pPr>
                      <a:r>
                        <a:rPr lang="en-US" sz="1200" dirty="0">
                          <a:solidFill>
                            <a:srgbClr val="5B6663"/>
                          </a:solidFill>
                        </a:rPr>
                        <a:t>Forex and other reconciling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(22)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52044">
                <a:tc>
                  <a:txBody>
                    <a:bodyPr/>
                    <a:lstStyle/>
                    <a:p>
                      <a:pPr marL="0" indent="0" algn="l">
                        <a:buNone/>
                      </a:pPr>
                      <a:r>
                        <a:rPr lang="en-US" sz="1200" b="1" dirty="0">
                          <a:solidFill>
                            <a:srgbClr val="1D2B2A"/>
                          </a:solidFill>
                        </a:rPr>
                        <a:t>Closing cash and equivalents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991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1,232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983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1,544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4,168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7"/>
                  </a:ext>
                </a:extLst>
              </a:tr>
              <a:tr h="352044">
                <a:tc>
                  <a:txBody>
                    <a:bodyPr/>
                    <a:lstStyle/>
                    <a:p>
                      <a:pPr marL="0" indent="0" algn="l">
                        <a:buNone/>
                      </a:pPr>
                      <a:r>
                        <a:rPr lang="en-US" sz="1200" dirty="0">
                          <a:solidFill>
                            <a:srgbClr val="1D2B2A"/>
                          </a:solidFill>
                        </a:rPr>
                        <a:t>Capital expenditure</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(1,500)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(929)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(1,682)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(2,055)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(7,071)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52044">
                <a:tc>
                  <a:txBody>
                    <a:bodyPr/>
                    <a:lstStyle/>
                    <a:p>
                      <a:pPr marL="0" indent="0" algn="l">
                        <a:buNone/>
                      </a:pPr>
                      <a:r>
                        <a:rPr lang="en-US" sz="1200" b="1" dirty="0">
                          <a:solidFill>
                            <a:srgbClr val="1D2B2A"/>
                          </a:solidFill>
                        </a:rPr>
                        <a:t>Free cash flow (A - capex)</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(538)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2,719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1,318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5,280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9,176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52044">
                <a:tc>
                  <a:txBody>
                    <a:bodyPr/>
                    <a:lstStyle/>
                    <a:p>
                      <a:pPr marL="0" indent="0" algn="l">
                        <a:buNone/>
                      </a:pPr>
                      <a:r>
                        <a:rPr lang="en-US" sz="1200" dirty="0">
                          <a:solidFill>
                            <a:srgbClr val="1D2B2A"/>
                          </a:solidFill>
                        </a:rPr>
                        <a:t>Acquisitions of businesses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(766)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352044">
                <a:tc>
                  <a:txBody>
                    <a:bodyPr/>
                    <a:lstStyle/>
                    <a:p>
                      <a:pPr marL="0" indent="0" algn="l">
                        <a:buNone/>
                      </a:pPr>
                      <a:r>
                        <a:rPr lang="en-US" sz="1200" dirty="0">
                          <a:solidFill>
                            <a:srgbClr val="1D2B2A"/>
                          </a:solidFill>
                        </a:rPr>
                        <a:t>Dividends paid</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(295)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(548)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(1,574)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FY22: </a:t>
            </a:r>
            <a:r>
              <a:rPr lang="en-US" sz="1400" dirty="0">
                <a:solidFill>
                  <a:srgbClr val="1D2B2A"/>
                </a:solidFill>
              </a:rPr>
              <a:t>CFO was ₹367 cr after the settlement was paid in cash; FY23 CFO was ₹1,897 cr.</a:t>
            </a:r>
            <a:endParaRPr lang="en-US" sz="1400" dirty="0"/>
          </a:p>
          <a:p>
            <a:pPr marL="0" indent="0">
              <a:spcAft>
                <a:spcPts val="800"/>
              </a:spcAft>
              <a:buNone/>
            </a:pPr>
            <a:r>
              <a:rPr lang="en-US" sz="1400" b="1" dirty="0">
                <a:solidFill>
                  <a:srgbClr val="0B4F4A"/>
                </a:solidFill>
              </a:rPr>
              <a:t>Conversion: </a:t>
            </a:r>
            <a:r>
              <a:rPr lang="en-US" sz="1400" dirty="0">
                <a:solidFill>
                  <a:srgbClr val="1D2B2A"/>
                </a:solidFill>
              </a:rPr>
              <a:t>CFO / PAT was 1.91x, 0.91x and 1.38x in FY24 to FY26; in FY25 receivables and inventories absorbed ₹1,322 cr.</a:t>
            </a:r>
            <a:endParaRPr lang="en-US" sz="1400" dirty="0"/>
          </a:p>
          <a:p>
            <a:pPr marL="0" indent="0">
              <a:spcAft>
                <a:spcPts val="800"/>
              </a:spcAft>
              <a:buNone/>
            </a:pPr>
            <a:r>
              <a:rPr lang="en-US" sz="1400" b="1" dirty="0">
                <a:solidFill>
                  <a:srgbClr val="0B4F4A"/>
                </a:solidFill>
              </a:rPr>
              <a:t>FY26: </a:t>
            </a:r>
            <a:r>
              <a:rPr lang="en-US" sz="1400" dirty="0">
                <a:solidFill>
                  <a:srgbClr val="1D2B2A"/>
                </a:solidFill>
              </a:rPr>
              <a:t>capex rose 22% to ₹2,055 cr; free cash flow ₹5,280 cr; dividends ₹548 cr.</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LUPIN LIMITED  |  CONSOLIDATED  |  RATIO ANALYSIS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Liquidity and interest cover improved sharply; ROCE rose from 7.3% in FY23 to 34.2% in FY26</a:t>
            </a:r>
            <a:endParaRPr lang="en-US" sz="2400" dirty="0"/>
          </a:p>
        </p:txBody>
      </p:sp>
      <p:graphicFrame>
        <p:nvGraphicFramePr>
          <p:cNvPr id="19" name="Ratio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4526280"/>
        </p:xfrm>
        <a:graphic>
          <a:graphicData uri="http://schemas.openxmlformats.org/drawingml/2006/table">
            <a:tbl>
              <a:tblPr/>
              <a:tblGrid>
                <a:gridCol w="1051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005072">
                  <a:extLst>
                    <a:ext uri="{9D8B030D-6E8A-4147-A177-3AD203B41FA5}">
                      <a16:colId xmlns:a16="http://schemas.microsoft.com/office/drawing/2014/main" val="20002"/>
                    </a:ext>
                  </a:extLst>
                </a:gridCol>
                <a:gridCol w="804672">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gridCol w="804672">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251460">
                <a:tc>
                  <a:txBody>
                    <a:bodyPr/>
                    <a:lstStyle/>
                    <a:p>
                      <a:pPr marL="0" indent="0" algn="l">
                        <a:buNone/>
                      </a:pP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100" b="1" dirty="0">
                          <a:solidFill>
                            <a:srgbClr val="FFFFFF"/>
                          </a:solidFill>
                        </a:rPr>
                        <a:t>Ratio</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100" b="1" dirty="0">
                          <a:solidFill>
                            <a:srgbClr val="FFFFFF"/>
                          </a:solidFill>
                        </a:rPr>
                        <a:t>Formula</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FY23</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FY24</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FY25</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51460">
                <a:tc rowSpan="3">
                  <a:txBody>
                    <a:bodyPr/>
                    <a:lstStyle/>
                    <a:p>
                      <a:pPr marL="0" indent="0" algn="l">
                        <a:buNone/>
                      </a:pPr>
                      <a:r>
                        <a:rPr lang="en-US" sz="1100" b="1" dirty="0">
                          <a:solidFill>
                            <a:srgbClr val="0B4F4A"/>
                          </a:solidFill>
                        </a:rPr>
                        <a:t>Liquidity</a:t>
                      </a:r>
                      <a:endParaRPr lang="en-US" sz="11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Current ratio</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Current assets / current liabilities</a:t>
                      </a:r>
                      <a:endParaRPr lang="en-US" sz="10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1.51x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1.34x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1.58x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1.87x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1.90x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51460">
                <a:tc vMerge="1">
                  <a:txBody>
                    <a:bodyPr/>
                    <a:lstStyle/>
                    <a:p>
                      <a:endParaRPr lang="en-US"/>
                    </a:p>
                  </a:txBody>
                  <a:tcPr/>
                </a:tc>
                <a:tc>
                  <a:txBody>
                    <a:bodyPr/>
                    <a:lstStyle/>
                    <a:p>
                      <a:pPr marL="0" indent="0" algn="l">
                        <a:buNone/>
                      </a:pPr>
                      <a:r>
                        <a:rPr lang="en-US" sz="1150" b="1" dirty="0">
                          <a:solidFill>
                            <a:srgbClr val="1D2B2A"/>
                          </a:solidFill>
                        </a:rPr>
                        <a:t>Quick ratio</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(Current assets - inventories)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0.95x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0.86x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51460">
                <a:tc vMerge="1">
                  <a:txBody>
                    <a:bodyPr/>
                    <a:lstStyle/>
                    <a:p>
                      <a:endParaRPr lang="en-US"/>
                    </a:p>
                  </a:txBody>
                  <a:tcPr/>
                </a:tc>
                <a:tc>
                  <a:txBody>
                    <a:bodyPr/>
                    <a:lstStyle/>
                    <a:p>
                      <a:pPr marL="0" indent="0" algn="l">
                        <a:buNone/>
                      </a:pPr>
                      <a:r>
                        <a:rPr lang="en-US" sz="1150" b="1" dirty="0">
                          <a:solidFill>
                            <a:srgbClr val="1D2B2A"/>
                          </a:solidFill>
                        </a:rPr>
                        <a:t>Cash ratio</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(Cash + bank + current investments)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0.23x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0.19x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0.24x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0.47x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0.73x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51460">
                <a:tc rowSpan="3">
                  <a:txBody>
                    <a:bodyPr/>
                    <a:lstStyle/>
                    <a:p>
                      <a:pPr marL="0" indent="0" algn="l">
                        <a:buNone/>
                      </a:pPr>
                      <a:r>
                        <a:rPr lang="en-US" sz="1100" b="1" dirty="0">
                          <a:solidFill>
                            <a:srgbClr val="0B4F4A"/>
                          </a:solidFill>
                        </a:rPr>
                        <a:t>Solvency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Debt-equity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Borrowings / total equity</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0.31x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0.34x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0.19x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0.29x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0.26x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251460">
                <a:tc vMerge="1">
                  <a:txBody>
                    <a:bodyPr/>
                    <a:lstStyle/>
                    <a:p>
                      <a:endParaRPr lang="en-US"/>
                    </a:p>
                  </a:txBody>
                  <a:tcPr/>
                </a:tc>
                <a:tc>
                  <a:txBody>
                    <a:bodyPr/>
                    <a:lstStyle/>
                    <a:p>
                      <a:pPr marL="0" indent="0" algn="l">
                        <a:buNone/>
                      </a:pPr>
                      <a:r>
                        <a:rPr lang="en-US" sz="1150" b="1" dirty="0">
                          <a:solidFill>
                            <a:srgbClr val="1D2B2A"/>
                          </a:solidFill>
                        </a:rPr>
                        <a:t>Interest cover</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(PBT before exceptional + finance cost) / finance cost</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251460">
                <a:tc vMerge="1">
                  <a:txBody>
                    <a:bodyPr/>
                    <a:lstStyle/>
                    <a:p>
                      <a:endParaRPr lang="en-US"/>
                    </a:p>
                  </a:txBody>
                  <a:tcPr/>
                </a:tc>
                <a:tc>
                  <a:txBody>
                    <a:bodyPr/>
                    <a:lstStyle/>
                    <a:p>
                      <a:pPr marL="0" indent="0" algn="l">
                        <a:buNone/>
                      </a:pPr>
                      <a:r>
                        <a:rPr lang="en-US" sz="1150" b="1" dirty="0">
                          <a:solidFill>
                            <a:srgbClr val="1D2B2A"/>
                          </a:solidFill>
                        </a:rPr>
                        <a:t>Equity to total assets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Total equity / total assets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54.6%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59.9%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59.2%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58.7%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251460">
                <a:tc rowSpan="4">
                  <a:txBody>
                    <a:bodyPr/>
                    <a:lstStyle/>
                    <a:p>
                      <a:pPr marL="0" indent="0" algn="l">
                        <a:buNone/>
                      </a:pPr>
                      <a:r>
                        <a:rPr lang="en-US" sz="1100" b="1" dirty="0">
                          <a:solidFill>
                            <a:srgbClr val="0B4F4A"/>
                          </a:solidFill>
                        </a:rPr>
                        <a:t>Efficiency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Inventory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inventory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251460">
                <a:tc vMerge="1">
                  <a:txBody>
                    <a:bodyPr/>
                    <a:lstStyle/>
                    <a:p>
                      <a:endParaRPr lang="en-US"/>
                    </a:p>
                  </a:txBody>
                  <a:tcPr/>
                </a:tc>
                <a:tc>
                  <a:txBody>
                    <a:bodyPr/>
                    <a:lstStyle/>
                    <a:p>
                      <a:pPr marL="0" indent="0" algn="l">
                        <a:buNone/>
                      </a:pPr>
                      <a:r>
                        <a:rPr lang="en-US" sz="1150" b="1" dirty="0">
                          <a:solidFill>
                            <a:srgbClr val="1D2B2A"/>
                          </a:solidFill>
                        </a:rPr>
                        <a:t>Debtor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trade receivables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251460">
                <a:tc vMerge="1">
                  <a:txBody>
                    <a:bodyPr/>
                    <a:lstStyle/>
                    <a:p>
                      <a:endParaRPr lang="en-US"/>
                    </a:p>
                  </a:txBody>
                  <a:tcPr/>
                </a:tc>
                <a:tc>
                  <a:txBody>
                    <a:bodyPr/>
                    <a:lstStyle/>
                    <a:p>
                      <a:pPr marL="0" indent="0" algn="l">
                        <a:buNone/>
                      </a:pPr>
                      <a:r>
                        <a:rPr lang="en-US" sz="1150" b="1" dirty="0">
                          <a:solidFill>
                            <a:srgbClr val="1D2B2A"/>
                          </a:solidFill>
                        </a:rPr>
                        <a:t>Creditor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trade payables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251460">
                <a:tc vMerge="1">
                  <a:txBody>
                    <a:bodyPr/>
                    <a:lstStyle/>
                    <a:p>
                      <a:endParaRPr lang="en-US"/>
                    </a:p>
                  </a:txBody>
                  <a:tcPr/>
                </a:tc>
                <a:tc>
                  <a:txBody>
                    <a:bodyPr/>
                    <a:lstStyle/>
                    <a:p>
                      <a:pPr marL="0" indent="0" algn="l">
                        <a:buNone/>
                      </a:pPr>
                      <a:r>
                        <a:rPr lang="en-US" sz="1150" b="1" dirty="0">
                          <a:solidFill>
                            <a:srgbClr val="1D2B2A"/>
                          </a:solidFill>
                        </a:rPr>
                        <a:t>Cash conversion cycle</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Inventory days + debtor days - creditor days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251460">
                <a:tc rowSpan="4">
                  <a:txBody>
                    <a:bodyPr/>
                    <a:lstStyle/>
                    <a:p>
                      <a:pPr marL="0" indent="0" algn="l">
                        <a:buNone/>
                      </a:pPr>
                      <a:r>
                        <a:rPr lang="en-US" sz="1100" b="1" dirty="0">
                          <a:solidFill>
                            <a:srgbClr val="0B4F4A"/>
                          </a:solidFill>
                        </a:rPr>
                        <a:t>Profitability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EBITDA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EBITDA before forex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29.2%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251460">
                <a:tc vMerge="1">
                  <a:txBody>
                    <a:bodyPr/>
                    <a:lstStyle/>
                    <a:p>
                      <a:endParaRPr lang="en-US"/>
                    </a:p>
                  </a:txBody>
                  <a:tcPr/>
                </a:tc>
                <a:tc>
                  <a:txBody>
                    <a:bodyPr/>
                    <a:lstStyle/>
                    <a:p>
                      <a:pPr marL="0" indent="0" algn="l">
                        <a:buNone/>
                      </a:pPr>
                      <a:r>
                        <a:rPr lang="en-US" sz="1150" b="1" dirty="0">
                          <a:solidFill>
                            <a:srgbClr val="1D2B2A"/>
                          </a:solidFill>
                        </a:rPr>
                        <a:t>PAT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PAT attributable to owners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r h="251460">
                <a:tc vMerge="1">
                  <a:txBody>
                    <a:bodyPr/>
                    <a:lstStyle/>
                    <a:p>
                      <a:endParaRPr lang="en-US"/>
                    </a:p>
                  </a:txBody>
                  <a:tcPr/>
                </a:tc>
                <a:tc>
                  <a:txBody>
                    <a:bodyPr/>
                    <a:lstStyle/>
                    <a:p>
                      <a:pPr marL="0" indent="0" algn="l">
                        <a:buNone/>
                      </a:pPr>
                      <a:r>
                        <a:rPr lang="en-US" sz="1150" b="1" dirty="0">
                          <a:solidFill>
                            <a:srgbClr val="1D2B2A"/>
                          </a:solidFill>
                        </a:rPr>
                        <a:t>Return on 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PAT attributable / average owners' equity</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3"/>
                  </a:ext>
                </a:extLst>
              </a:tr>
              <a:tr h="251460">
                <a:tc vMerge="1">
                  <a:txBody>
                    <a:bodyPr/>
                    <a:lstStyle/>
                    <a:p>
                      <a:endParaRPr lang="en-US"/>
                    </a:p>
                  </a:txBody>
                  <a:tcPr/>
                </a:tc>
                <a:tc>
                  <a:txBody>
                    <a:bodyPr/>
                    <a:lstStyle/>
                    <a:p>
                      <a:pPr marL="0" indent="0" algn="l">
                        <a:buNone/>
                      </a:pPr>
                      <a:r>
                        <a:rPr lang="en-US" sz="1150" b="1" dirty="0">
                          <a:solidFill>
                            <a:srgbClr val="1D2B2A"/>
                          </a:solidFill>
                        </a:rPr>
                        <a:t>Return on capital employed</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EBIT / average (total assets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24.1%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4"/>
                  </a:ext>
                </a:extLst>
              </a:tr>
              <a:tr h="251460">
                <a:tc rowSpan="3">
                  <a:txBody>
                    <a:bodyPr/>
                    <a:lstStyle/>
                    <a:p>
                      <a:pPr marL="0" indent="0" algn="l">
                        <a:buNone/>
                      </a:pPr>
                      <a:r>
                        <a:rPr lang="en-US" sz="1100" b="1" dirty="0">
                          <a:solidFill>
                            <a:srgbClr val="0B4F4A"/>
                          </a:solidFill>
                        </a:rPr>
                        <a:t>Cash flow</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CFO to PAT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Net cash from operations / PAT attributable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n.m.</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4.41x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0.91x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5"/>
                  </a:ext>
                </a:extLst>
              </a:tr>
              <a:tr h="251460">
                <a:tc vMerge="1">
                  <a:txBody>
                    <a:bodyPr/>
                    <a:lstStyle/>
                    <a:p>
                      <a:endParaRPr lang="en-US"/>
                    </a:p>
                  </a:txBody>
                  <a:tcPr/>
                </a:tc>
                <a:tc>
                  <a:txBody>
                    <a:bodyPr/>
                    <a:lstStyle/>
                    <a:p>
                      <a:pPr marL="0" indent="0" algn="l">
                        <a:buNone/>
                      </a:pPr>
                      <a:r>
                        <a:rPr lang="en-US" sz="1150" b="1" dirty="0">
                          <a:solidFill>
                            <a:srgbClr val="1D2B2A"/>
                          </a:solidFill>
                        </a:rPr>
                        <a:t>Free cash flow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(CFO - capex)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6"/>
                  </a:ext>
                </a:extLst>
              </a:tr>
              <a:tr h="251460">
                <a:tc vMerge="1">
                  <a:txBody>
                    <a:bodyPr/>
                    <a:lstStyle/>
                    <a:p>
                      <a:endParaRPr lang="en-US"/>
                    </a:p>
                  </a:txBody>
                  <a:tcPr/>
                </a:tc>
                <a:tc>
                  <a:txBody>
                    <a:bodyPr/>
                    <a:lstStyle/>
                    <a:p>
                      <a:pPr marL="0" indent="0" algn="l">
                        <a:buNone/>
                      </a:pPr>
                      <a:r>
                        <a:rPr lang="en-US" sz="1150" b="1" dirty="0">
                          <a:solidFill>
                            <a:srgbClr val="1D2B2A"/>
                          </a:solidFill>
                        </a:rPr>
                        <a:t>Dividend payout (cash)</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Dividends paid / PAT attributable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n.m.</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42.4%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5" name="Ratio note"/>
          <p:cNvSpPr txBox="1"/>
          <p:nvPr/>
        </p:nvSpPr>
        <p:spPr>
          <a:xfrm>
            <a:off x="457200" y="5989320"/>
            <a:ext cx="11274552" cy="365760"/>
          </a:xfrm>
          <a:prstGeom prst="rect">
            <a:avLst/>
          </a:prstGeom>
          <a:noFill/>
          <a:ln/>
        </p:spPr>
        <p:txBody>
          <a:bodyPr wrap="square" lIns="0" tIns="0" rIns="0" bIns="0" rtlCol="0" anchor="t"/>
          <a:lstStyle/>
          <a:p>
            <a:pPr marL="0" indent="0">
              <a:buNone/>
            </a:pPr>
            <a:r>
              <a:rPr lang="en-US" sz="1000" i="1" dirty="0">
                <a:solidFill>
                  <a:schemeClr val="accent2"/>
                </a:solidFill>
              </a:rPr>
              <a:t>Averages are (opening + closing) / 2. Days are computed on revenue because the statements are prepared by nature of expense, so cost of goods sold is not disclosed. n.m. = not meaningful (loss year).</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LUPIN LIMITED  |  CONSOLIDATED  |  TRENDS AND CONCLUSION</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Returns and cash flows have turned around; short-term borrowings and US litigation are the points to watch</a:t>
            </a:r>
            <a:endParaRPr lang="en-US" sz="2400" dirty="0"/>
          </a:p>
        </p:txBody>
      </p:sp>
      <p:graphicFrame>
        <p:nvGraphicFramePr>
          <p:cNvPr id="4" name="Chart 0"/>
          <p:cNvGraphicFramePr/>
          <p:nvPr/>
        </p:nvGraphicFramePr>
        <p:xfrm>
          <a:off x="457200" y="1417320"/>
          <a:ext cx="361188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288536" y="1417320"/>
          <a:ext cx="3611880"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8119872" y="1417320"/>
          <a:ext cx="3611880" cy="228600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2"/>
          <p:cNvSpPr txBox="1"/>
          <p:nvPr/>
        </p:nvSpPr>
        <p:spPr>
          <a:xfrm>
            <a:off x="457200" y="3840480"/>
            <a:ext cx="5486400" cy="365760"/>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Strengths</a:t>
            </a:r>
            <a:endParaRPr lang="en-US" sz="1800" dirty="0"/>
          </a:p>
        </p:txBody>
      </p:sp>
      <p:sp>
        <p:nvSpPr>
          <p:cNvPr id="8" name="Text 3"/>
          <p:cNvSpPr txBox="1"/>
          <p:nvPr/>
        </p:nvSpPr>
        <p:spPr>
          <a:xfrm>
            <a:off x="6245352" y="3840480"/>
            <a:ext cx="5486400" cy="36576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Points to watch</a:t>
            </a:r>
            <a:endParaRPr lang="en-US" sz="1800" dirty="0"/>
          </a:p>
        </p:txBody>
      </p:sp>
      <p:sp>
        <p:nvSpPr>
          <p:cNvPr id="9" name="Text 4"/>
          <p:cNvSpPr txBox="1"/>
          <p:nvPr/>
        </p:nvSpPr>
        <p:spPr>
          <a:xfrm>
            <a:off x="457200" y="4251960"/>
            <a:ext cx="5486400" cy="1600200"/>
          </a:xfrm>
          <a:prstGeom prst="rect">
            <a:avLst/>
          </a:prstGeom>
          <a:noFill/>
          <a:ln/>
        </p:spPr>
        <p:txBody>
          <a:bodyPr wrap="square" lIns="0" tIns="0" rIns="0" bIns="0" rtlCol="0" anchor="t"/>
          <a:lstStyle/>
          <a:p>
            <a:pPr marL="0" indent="0">
              <a:spcAft>
                <a:spcPts val="600"/>
              </a:spcAft>
              <a:buNone/>
            </a:pPr>
            <a:r>
              <a:rPr lang="en-US" sz="1400" b="1" dirty="0">
                <a:solidFill>
                  <a:srgbClr val="0B4F4A"/>
                </a:solidFill>
              </a:rPr>
              <a:t>Earnings: </a:t>
            </a:r>
            <a:r>
              <a:rPr lang="en-US" sz="1400" dirty="0">
                <a:solidFill>
                  <a:srgbClr val="1D2B2A"/>
                </a:solidFill>
              </a:rPr>
              <a:t>PAT margin rose from 2.6% (FY23) to 19.1%; ROE is 26.9%.</a:t>
            </a:r>
            <a:endParaRPr lang="en-US" sz="1400" dirty="0"/>
          </a:p>
          <a:p>
            <a:pPr marL="0" indent="0">
              <a:spcAft>
                <a:spcPts val="600"/>
              </a:spcAft>
              <a:buNone/>
            </a:pPr>
            <a:r>
              <a:rPr lang="en-US" sz="1400" b="1" dirty="0">
                <a:solidFill>
                  <a:srgbClr val="0B4F4A"/>
                </a:solidFill>
              </a:rPr>
              <a:t>Cash cycle: </a:t>
            </a:r>
            <a:r>
              <a:rPr lang="en-US" sz="1400" dirty="0">
                <a:solidFill>
                  <a:srgbClr val="1D2B2A"/>
                </a:solidFill>
              </a:rPr>
              <a:t>shortened from 146 days (FY22) to 108 days (FY26).</a:t>
            </a:r>
            <a:endParaRPr lang="en-US" sz="1400" dirty="0"/>
          </a:p>
          <a:p>
            <a:pPr marL="0" indent="0">
              <a:spcAft>
                <a:spcPts val="600"/>
              </a:spcAft>
              <a:buNone/>
            </a:pPr>
            <a:r>
              <a:rPr lang="en-US" sz="1400" b="1" dirty="0">
                <a:solidFill>
                  <a:srgbClr val="0B4F4A"/>
                </a:solidFill>
              </a:rPr>
              <a:t>Free cash flow: </a:t>
            </a:r>
            <a:r>
              <a:rPr lang="en-US" sz="1400" dirty="0">
                <a:solidFill>
                  <a:srgbClr val="1D2B2A"/>
                </a:solidFill>
              </a:rPr>
              <a:t>positive from FY23; ₹9,176 cr over five years.</a:t>
            </a:r>
            <a:endParaRPr lang="en-US" sz="1400" dirty="0"/>
          </a:p>
        </p:txBody>
      </p:sp>
      <p:sp>
        <p:nvSpPr>
          <p:cNvPr id="10" name="Text 5"/>
          <p:cNvSpPr txBox="1"/>
          <p:nvPr/>
        </p:nvSpPr>
        <p:spPr>
          <a:xfrm>
            <a:off x="6245352" y="4251960"/>
            <a:ext cx="5486400" cy="1600200"/>
          </a:xfrm>
          <a:prstGeom prst="rect">
            <a:avLst/>
          </a:prstGeom>
          <a:noFill/>
          <a:ln/>
        </p:spPr>
        <p:txBody>
          <a:bodyPr wrap="square" lIns="0" tIns="0" rIns="0" bIns="0" rtlCol="0" anchor="t"/>
          <a:lstStyle/>
          <a:p>
            <a:pPr marL="0" indent="0">
              <a:spcAft>
                <a:spcPts val="600"/>
              </a:spcAft>
              <a:buNone/>
            </a:pPr>
            <a:r>
              <a:rPr lang="en-US" sz="1400" b="1" dirty="0">
                <a:solidFill>
                  <a:srgbClr val="0B4F4A"/>
                </a:solidFill>
              </a:rPr>
              <a:t>Short-term debt: </a:t>
            </a:r>
            <a:r>
              <a:rPr lang="en-US" sz="1400" dirty="0">
                <a:solidFill>
                  <a:srgbClr val="1D2B2A"/>
                </a:solidFill>
              </a:rPr>
              <a:t>₹4,267 cr of ₹5,910 cr borrowings is current; cash ratio is 0.73x.</a:t>
            </a:r>
            <a:endParaRPr lang="en-US" sz="1400" dirty="0"/>
          </a:p>
          <a:p>
            <a:pPr marL="0" indent="0">
              <a:spcAft>
                <a:spcPts val="600"/>
              </a:spcAft>
              <a:buNone/>
            </a:pPr>
            <a:r>
              <a:rPr lang="en-US" sz="1400" b="1" dirty="0">
                <a:solidFill>
                  <a:srgbClr val="0B4F4A"/>
                </a:solidFill>
              </a:rPr>
              <a:t>US litigation: </a:t>
            </a:r>
            <a:r>
              <a:rPr lang="en-US" sz="1400" dirty="0">
                <a:solidFill>
                  <a:srgbClr val="1D2B2A"/>
                </a:solidFill>
              </a:rPr>
              <a:t>exceptional costs of ₹1,878 cr (FY22) and ₹558 cr (FY26); an antitrust provision remains open.</a:t>
            </a:r>
            <a:endParaRPr lang="en-US" sz="1400" dirty="0"/>
          </a:p>
          <a:p>
            <a:pPr marL="0" indent="0">
              <a:spcAft>
                <a:spcPts val="600"/>
              </a:spcAft>
              <a:buNone/>
            </a:pPr>
            <a:r>
              <a:rPr lang="en-US" sz="1400" b="1" dirty="0">
                <a:solidFill>
                  <a:srgbClr val="0B4F4A"/>
                </a:solidFill>
              </a:rPr>
              <a:t>Profit quality: </a:t>
            </a:r>
            <a:r>
              <a:rPr lang="en-US" sz="1400" dirty="0">
                <a:solidFill>
                  <a:srgbClr val="1D2B2A"/>
                </a:solidFill>
              </a:rPr>
              <a:t>FY26 other income plus forex gain is 14.5% of PBT before exceptionals.</a:t>
            </a:r>
            <a:endParaRPr lang="en-US" sz="1400" dirty="0"/>
          </a:p>
        </p:txBody>
      </p:sp>
      <p:sp>
        <p:nvSpPr>
          <p:cNvPr id="11" name="Data note"/>
          <p:cNvSpPr txBox="1"/>
          <p:nvPr/>
        </p:nvSpPr>
        <p:spPr>
          <a:xfrm>
            <a:off x="457200" y="5852160"/>
            <a:ext cx="11274552" cy="502920"/>
          </a:xfrm>
          <a:prstGeom prst="rect">
            <a:avLst/>
          </a:prstGeom>
          <a:noFill/>
          <a:ln/>
        </p:spPr>
        <p:txBody>
          <a:bodyPr wrap="square" lIns="0" tIns="0" rIns="0" bIns="0" rtlCol="0" anchor="t"/>
          <a:lstStyle/>
          <a:p>
            <a:pPr marL="0" indent="0">
              <a:buNone/>
            </a:pPr>
            <a:r>
              <a:rPr lang="en-US" sz="1000" i="1" dirty="0">
                <a:solidFill>
                  <a:schemeClr val="accent2"/>
                </a:solidFill>
              </a:rPr>
              <a:t>Data note: consolidated figures. FY22 depreciation includes impairment of acquired IPs, and the Glumetza settlement is shown as an exceptional item. Balance sheet dates use the latest comparative given in the following year's filing. Source PDFs are scans; subtotals were recomputed and tie to the reported totals.</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DC2370-C0BB-55E4-76A2-371D7E6EE57E}"/>
              </a:ext>
            </a:extLst>
          </p:cNvPr>
          <p:cNvPicPr>
            <a:picLocks noChangeAspect="1"/>
          </p:cNvPicPr>
          <p:nvPr/>
        </p:nvPicPr>
        <p:blipFill>
          <a:blip r:embed="rId2"/>
          <a:stretch>
            <a:fillRect/>
          </a:stretch>
        </p:blipFill>
        <p:spPr>
          <a:xfrm>
            <a:off x="2383312" y="439230"/>
            <a:ext cx="7029450" cy="3943350"/>
          </a:xfrm>
          <a:prstGeom prst="rect">
            <a:avLst/>
          </a:prstGeom>
        </p:spPr>
      </p:pic>
    </p:spTree>
    <p:extLst>
      <p:ext uri="{BB962C8B-B14F-4D97-AF65-F5344CB8AC3E}">
        <p14:creationId xmlns:p14="http://schemas.microsoft.com/office/powerpoint/2010/main" val="549679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CIPLA LIMITED  |  CONSOLIDATED  |  PROFIT AND LOSS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Revenue grew 6.7% a year; EBITDA margin peaked at 25.9% in FY25 and fell to 21.0% in FY26 as growth slowed to 2.2%</a:t>
            </a:r>
            <a:endParaRPr lang="en-US" sz="2400" dirty="0"/>
          </a:p>
        </p:txBody>
      </p:sp>
      <p:graphicFrame>
        <p:nvGraphicFramePr>
          <p:cNvPr id="21" name="PL table"/>
          <p:cNvGraphicFramePr>
            <a:graphicFrameLocks noGrp="1"/>
          </p:cNvGraphicFramePr>
          <p:nvPr>
            <p:extLst>
              <p:ext uri="{D42A27DB-BD31-4B8C-83A1-F6EECF244321}">
                <p14:modId xmlns:p14="http://schemas.microsoft.com/office/powerpoint/2010/main" val="1579011935"/>
              </p:ext>
            </p:extLst>
          </p:nvPr>
        </p:nvGraphicFramePr>
        <p:xfrm>
          <a:off x="457200" y="1463040"/>
          <a:ext cx="6949440" cy="4224528"/>
        </p:xfrm>
        <a:graphic>
          <a:graphicData uri="http://schemas.openxmlformats.org/drawingml/2006/table">
            <a:tbl>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52044">
                <a:tc>
                  <a:txBody>
                    <a:bodyPr/>
                    <a:lstStyle/>
                    <a:p>
                      <a:pPr marL="0" indent="0" algn="l">
                        <a:buNone/>
                      </a:pPr>
                      <a:r>
                        <a:rPr lang="en-US" sz="1200" b="1" dirty="0">
                          <a:solidFill>
                            <a:srgbClr val="FFFFFF"/>
                          </a:solidFill>
                        </a:rPr>
                        <a:t>₹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52044">
                <a:tc>
                  <a:txBody>
                    <a:bodyPr/>
                    <a:lstStyle/>
                    <a:p>
                      <a:pPr marL="0" indent="0" algn="l">
                        <a:buNone/>
                      </a:pPr>
                      <a:r>
                        <a:rPr lang="en-US" sz="1200" b="1" dirty="0">
                          <a:solidFill>
                            <a:srgbClr val="1D2B2A"/>
                          </a:solidFill>
                        </a:rPr>
                        <a:t>Revenue from operations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21,763</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22,753</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25,774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27,548</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28,163</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52044">
                <a:tc>
                  <a:txBody>
                    <a:bodyPr/>
                    <a:lstStyle/>
                    <a:p>
                      <a:pPr marL="0" indent="0" algn="l">
                        <a:buNone/>
                      </a:pPr>
                      <a:r>
                        <a:rPr lang="en-US" sz="1200" i="1" dirty="0">
                          <a:solidFill>
                            <a:srgbClr val="5B6663"/>
                          </a:solidFill>
                        </a:rPr>
                        <a:t>Growth over previous year</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13.6%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4.5%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6.9%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52044">
                <a:tc>
                  <a:txBody>
                    <a:bodyPr/>
                    <a:lstStyle/>
                    <a:p>
                      <a:pPr marL="0" indent="0" algn="l">
                        <a:buNone/>
                      </a:pPr>
                      <a:r>
                        <a:rPr lang="en-US" sz="1200" b="1" dirty="0">
                          <a:solidFill>
                            <a:srgbClr val="1D2B2A"/>
                          </a:solidFill>
                        </a:rPr>
                        <a:t>EBITDA</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4,553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5,027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6,291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7,128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5,925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52044">
                <a:tc>
                  <a:txBody>
                    <a:bodyPr/>
                    <a:lstStyle/>
                    <a:p>
                      <a:pPr marL="0" indent="0" algn="l">
                        <a:buNone/>
                      </a:pPr>
                      <a:r>
                        <a:rPr lang="en-US" sz="1200" i="1" dirty="0">
                          <a:solidFill>
                            <a:srgbClr val="5B6663"/>
                          </a:solidFill>
                        </a:rPr>
                        <a:t>EBITDA margin</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20.9%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22.1%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24.4%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25.9%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21.0%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52044">
                <a:tc>
                  <a:txBody>
                    <a:bodyPr/>
                    <a:lstStyle/>
                    <a:p>
                      <a:pPr marL="0" indent="0" algn="l">
                        <a:buNone/>
                      </a:pPr>
                      <a:r>
                        <a:rPr lang="en-US" sz="1200" dirty="0">
                          <a:solidFill>
                            <a:srgbClr val="1D2B2A"/>
                          </a:solidFill>
                        </a:rPr>
                        <a:t>Other income</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281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475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862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52044">
                <a:tc>
                  <a:txBody>
                    <a:bodyPr/>
                    <a:lstStyle/>
                    <a:p>
                      <a:pPr marL="0" indent="0" algn="l">
                        <a:buNone/>
                      </a:pPr>
                      <a:r>
                        <a:rPr lang="en-US" sz="1200" dirty="0">
                          <a:solidFill>
                            <a:srgbClr val="1D2B2A"/>
                          </a:solidFill>
                        </a:rPr>
                        <a:t>D&amp;A, impairment and finance costs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(1,141)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(1,169)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(1,307)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52044">
                <a:tc>
                  <a:txBody>
                    <a:bodyPr/>
                    <a:lstStyle/>
                    <a:p>
                      <a:pPr marL="0" indent="0" algn="l">
                        <a:buNone/>
                      </a:pPr>
                      <a:r>
                        <a:rPr lang="en-US" sz="1200" b="1" dirty="0">
                          <a:solidFill>
                            <a:srgbClr val="1D2B2A"/>
                          </a:solidFill>
                        </a:rPr>
                        <a:t>PBT before exceptional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3,675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4,221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5,897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6,821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5,500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352044">
                <a:tc>
                  <a:txBody>
                    <a:bodyPr/>
                    <a:lstStyle/>
                    <a:p>
                      <a:pPr marL="0" indent="0" algn="l">
                        <a:buNone/>
                      </a:pPr>
                      <a:r>
                        <a:rPr lang="en-US" sz="1200" dirty="0">
                          <a:solidFill>
                            <a:srgbClr val="1D2B2A"/>
                          </a:solidFill>
                        </a:rPr>
                        <a:t>Exceptional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(195)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52044">
                <a:tc>
                  <a:txBody>
                    <a:bodyPr/>
                    <a:lstStyle/>
                    <a:p>
                      <a:pPr marL="0" indent="0" algn="l">
                        <a:buNone/>
                      </a:pPr>
                      <a:r>
                        <a:rPr lang="en-US" sz="1200" b="1" dirty="0">
                          <a:solidFill>
                            <a:srgbClr val="1D2B2A"/>
                          </a:solidFill>
                        </a:rPr>
                        <a:t>PAT attributable to owners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2,517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2,802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4,122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5,273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3,879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9"/>
                  </a:ext>
                </a:extLst>
              </a:tr>
              <a:tr h="352044">
                <a:tc>
                  <a:txBody>
                    <a:bodyPr/>
                    <a:lstStyle/>
                    <a:p>
                      <a:pPr marL="0" indent="0" algn="l">
                        <a:buNone/>
                      </a:pPr>
                      <a:r>
                        <a:rPr lang="en-US" sz="1200" i="1" dirty="0">
                          <a:solidFill>
                            <a:srgbClr val="5B6663"/>
                          </a:solidFill>
                        </a:rPr>
                        <a:t>PAT margin</a:t>
                      </a:r>
                      <a:endParaRPr lang="en-US" sz="1200" dirty="0"/>
                    </a:p>
                  </a:txBody>
                  <a:tcPr marL="201168"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11.6%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12.3%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16.0%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i="1" dirty="0">
                          <a:solidFill>
                            <a:srgbClr val="5B6663"/>
                          </a:solidFill>
                        </a:rPr>
                        <a:t>13.8%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352044">
                <a:tc>
                  <a:txBody>
                    <a:bodyPr/>
                    <a:lstStyle/>
                    <a:p>
                      <a:pPr marL="0" indent="0" algn="l">
                        <a:buNone/>
                      </a:pPr>
                      <a:r>
                        <a:rPr lang="en-US" sz="1200" dirty="0">
                          <a:solidFill>
                            <a:srgbClr val="1D2B2A"/>
                          </a:solidFill>
                        </a:rPr>
                        <a:t>Basic EPS (₹)</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31.2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51.0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65.3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48.0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Margin: </a:t>
            </a:r>
            <a:r>
              <a:rPr lang="en-US" sz="1400" dirty="0">
                <a:solidFill>
                  <a:srgbClr val="1D2B2A"/>
                </a:solidFill>
              </a:rPr>
              <a:t>EBITDA margin was 20.9% in FY22, 25.9% in FY25 and 21.0% in FY26; PAT fell 26% in FY26.</a:t>
            </a:r>
            <a:endParaRPr lang="en-US" sz="1400" dirty="0"/>
          </a:p>
          <a:p>
            <a:pPr marL="0" indent="0">
              <a:spcAft>
                <a:spcPts val="800"/>
              </a:spcAft>
              <a:buNone/>
            </a:pPr>
            <a:r>
              <a:rPr lang="en-US" sz="1400" b="1" dirty="0">
                <a:solidFill>
                  <a:srgbClr val="0B4F4A"/>
                </a:solidFill>
              </a:rPr>
              <a:t>Exceptionals: </a:t>
            </a:r>
            <a:r>
              <a:rPr lang="en-US" sz="1400" dirty="0">
                <a:solidFill>
                  <a:srgbClr val="1D2B2A"/>
                </a:solidFill>
              </a:rPr>
              <a:t>FY26 ₹276 cr is the new Labour Codes cost; FY22 was the Avenue impairment and FY24 Pulmazole.</a:t>
            </a:r>
            <a:endParaRPr lang="en-US" sz="1400" dirty="0"/>
          </a:p>
          <a:p>
            <a:pPr marL="0" indent="0">
              <a:spcAft>
                <a:spcPts val="800"/>
              </a:spcAft>
              <a:buNone/>
            </a:pPr>
            <a:r>
              <a:rPr lang="en-US" sz="1400" b="1" dirty="0">
                <a:solidFill>
                  <a:srgbClr val="0B4F4A"/>
                </a:solidFill>
              </a:rPr>
              <a:t>Tax: </a:t>
            </a:r>
            <a:r>
              <a:rPr lang="en-US" sz="1400" dirty="0">
                <a:solidFill>
                  <a:srgbClr val="1D2B2A"/>
                </a:solidFill>
              </a:rPr>
              <a:t>the FY25 rate of 22.4% is low as ₹156 cr of old tax provisions were reversed; other years were 26% to 30%.</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CIPLA LIMITED  |  CONSOLIDATED  |  BALANCE SHEET</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Equity rose 65% in four years; net cash grew from ₹3,299 cr (FY22) to ₹8,729 cr (FY26) with almost no debt</a:t>
            </a:r>
            <a:endParaRPr lang="en-US" sz="2400" dirty="0"/>
          </a:p>
        </p:txBody>
      </p:sp>
      <p:graphicFrame>
        <p:nvGraphicFramePr>
          <p:cNvPr id="22" name="BS table"/>
          <p:cNvGraphicFramePr>
            <a:graphicFrameLocks noGrp="1"/>
          </p:cNvGraphicFramePr>
          <p:nvPr>
            <p:extLst>
              <p:ext uri="{D42A27DB-BD31-4B8C-83A1-F6EECF244321}">
                <p14:modId xmlns:p14="http://schemas.microsoft.com/office/powerpoint/2010/main" val="1579011935"/>
              </p:ext>
            </p:extLst>
          </p:nvPr>
        </p:nvGraphicFramePr>
        <p:xfrm>
          <a:off x="457200" y="1463040"/>
          <a:ext cx="6949440" cy="4732020"/>
        </p:xfrm>
        <a:graphic>
          <a:graphicData uri="http://schemas.openxmlformats.org/drawingml/2006/table">
            <a:tbl>
              <a:tblPr/>
              <a:tblGrid>
                <a:gridCol w="28346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315468">
                <a:tc>
                  <a:txBody>
                    <a:bodyPr/>
                    <a:lstStyle/>
                    <a:p>
                      <a:pPr marL="0" indent="0" algn="l">
                        <a:buNone/>
                      </a:pPr>
                      <a:r>
                        <a:rPr lang="en-US" sz="1200" b="1" dirty="0">
                          <a:solidFill>
                            <a:srgbClr val="FFFFFF"/>
                          </a:solidFill>
                        </a:rPr>
                        <a:t>As at 31 March, ₹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15468">
                <a:tc>
                  <a:txBody>
                    <a:bodyPr/>
                    <a:lstStyle/>
                    <a:p>
                      <a:pPr marL="0" indent="0" algn="l">
                        <a:buNone/>
                      </a:pPr>
                      <a:r>
                        <a:rPr lang="en-US" sz="1200" dirty="0">
                          <a:solidFill>
                            <a:srgbClr val="1D2B2A"/>
                          </a:solidFill>
                        </a:rPr>
                        <a:t>Non-current assets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12,374</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12,188</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13,276</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14,099</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18,349</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15468">
                <a:tc>
                  <a:txBody>
                    <a:bodyPr/>
                    <a:lstStyle/>
                    <a:p>
                      <a:pPr marL="0" indent="0" algn="l">
                        <a:buNone/>
                      </a:pPr>
                      <a:r>
                        <a:rPr lang="en-US" sz="1200" dirty="0">
                          <a:solidFill>
                            <a:srgbClr val="1D2B2A"/>
                          </a:solidFill>
                        </a:rPr>
                        <a:t>Inventories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5,350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5,156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5,238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5,642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6,597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15468">
                <a:tc>
                  <a:txBody>
                    <a:bodyPr/>
                    <a:lstStyle/>
                    <a:p>
                      <a:pPr marL="0" indent="0" algn="l">
                        <a:buNone/>
                      </a:pPr>
                      <a:r>
                        <a:rPr lang="en-US" sz="1200" dirty="0">
                          <a:solidFill>
                            <a:srgbClr val="1D2B2A"/>
                          </a:solidFill>
                        </a:rPr>
                        <a:t>Trade receivables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3,424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4,057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4,771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5,506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5,620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15468">
                <a:tc>
                  <a:txBody>
                    <a:bodyPr/>
                    <a:lstStyle/>
                    <a:p>
                      <a:pPr marL="0" indent="0" algn="l">
                        <a:buNone/>
                      </a:pPr>
                      <a:r>
                        <a:rPr lang="en-US" sz="1200" dirty="0">
                          <a:solidFill>
                            <a:srgbClr val="1D2B2A"/>
                          </a:solidFill>
                        </a:rPr>
                        <a:t>Current investments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2,195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3,090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4,807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7,293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7,679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15468">
                <a:tc>
                  <a:txBody>
                    <a:bodyPr/>
                    <a:lstStyle/>
                    <a:p>
                      <a:pPr marL="0" indent="0" algn="l">
                        <a:buNone/>
                      </a:pPr>
                      <a:r>
                        <a:rPr lang="en-US" sz="1200" dirty="0">
                          <a:solidFill>
                            <a:srgbClr val="1D2B2A"/>
                          </a:solidFill>
                        </a:rPr>
                        <a:t>Cash and bank balances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1,928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1,565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875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1,307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15468">
                <a:tc>
                  <a:txBody>
                    <a:bodyPr/>
                    <a:lstStyle/>
                    <a:p>
                      <a:pPr marL="0" indent="0" algn="l">
                        <a:buNone/>
                      </a:pPr>
                      <a:r>
                        <a:rPr lang="en-US" sz="1200" dirty="0">
                          <a:solidFill>
                            <a:srgbClr val="1D2B2A"/>
                          </a:solidFill>
                        </a:rPr>
                        <a:t>Other current assets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1,829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3,407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3,751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4,047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2,943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15468">
                <a:tc>
                  <a:txBody>
                    <a:bodyPr/>
                    <a:lstStyle/>
                    <a:p>
                      <a:pPr marL="0" indent="0" algn="l">
                        <a:buNone/>
                      </a:pPr>
                      <a:r>
                        <a:rPr lang="en-US" sz="1200" b="1" dirty="0">
                          <a:solidFill>
                            <a:srgbClr val="1D2B2A"/>
                          </a:solidFill>
                        </a:rPr>
                        <a:t>Total assets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27,101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29,463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32,718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37,387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42,496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7"/>
                  </a:ext>
                </a:extLst>
              </a:tr>
              <a:tr h="315468">
                <a:tc>
                  <a:txBody>
                    <a:bodyPr/>
                    <a:lstStyle/>
                    <a:p>
                      <a:pPr marL="0" indent="0" algn="l">
                        <a:buNone/>
                      </a:pPr>
                      <a:r>
                        <a:rPr lang="en-US" sz="1200" dirty="0">
                          <a:solidFill>
                            <a:srgbClr val="1D2B2A"/>
                          </a:solidFill>
                        </a:rPr>
                        <a:t>Owners' equity</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20,842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23,408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26,706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31,193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34,432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15468">
                <a:tc>
                  <a:txBody>
                    <a:bodyPr/>
                    <a:lstStyle/>
                    <a:p>
                      <a:pPr marL="0" indent="0" algn="l">
                        <a:buNone/>
                      </a:pPr>
                      <a:r>
                        <a:rPr lang="en-US" sz="1200" dirty="0">
                          <a:solidFill>
                            <a:srgbClr val="1D2B2A"/>
                          </a:solidFill>
                        </a:rPr>
                        <a:t>Non-controlling interests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276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306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15468">
                <a:tc>
                  <a:txBody>
                    <a:bodyPr/>
                    <a:lstStyle/>
                    <a:p>
                      <a:pPr marL="0" indent="0" algn="l">
                        <a:buNone/>
                      </a:pPr>
                      <a:r>
                        <a:rPr lang="en-US" sz="1200" dirty="0">
                          <a:solidFill>
                            <a:srgbClr val="1D2B2A"/>
                          </a:solidFill>
                        </a:rPr>
                        <a:t>Borrowings (current and non-current)</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824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520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247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315468">
                <a:tc>
                  <a:txBody>
                    <a:bodyPr/>
                    <a:lstStyle/>
                    <a:p>
                      <a:pPr marL="0" indent="0" algn="l">
                        <a:buNone/>
                      </a:pPr>
                      <a:r>
                        <a:rPr lang="en-US" sz="1200" dirty="0">
                          <a:solidFill>
                            <a:srgbClr val="1D2B2A"/>
                          </a:solidFill>
                        </a:rPr>
                        <a:t>Trade payables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2,508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2,535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2,474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2,837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3,230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315468">
                <a:tc>
                  <a:txBody>
                    <a:bodyPr/>
                    <a:lstStyle/>
                    <a:p>
                      <a:pPr marL="0" indent="0" algn="l">
                        <a:buNone/>
                      </a:pPr>
                      <a:r>
                        <a:rPr lang="en-US" sz="1200" dirty="0">
                          <a:solidFill>
                            <a:srgbClr val="1D2B2A"/>
                          </a:solidFill>
                        </a:rPr>
                        <a:t>Current provisions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1,221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1,287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1,612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1,717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2,259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r h="315468">
                <a:tc>
                  <a:txBody>
                    <a:bodyPr/>
                    <a:lstStyle/>
                    <a:p>
                      <a:pPr marL="0" indent="0" algn="l">
                        <a:buNone/>
                      </a:pPr>
                      <a:r>
                        <a:rPr lang="en-US" sz="1200" dirty="0">
                          <a:solidFill>
                            <a:srgbClr val="1D2B2A"/>
                          </a:solidFill>
                        </a:rPr>
                        <a:t>Other liabilities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1,430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1,408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1,583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1,452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2,229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3"/>
                  </a:ext>
                </a:extLst>
              </a:tr>
              <a:tr h="315468">
                <a:tc>
                  <a:txBody>
                    <a:bodyPr/>
                    <a:lstStyle/>
                    <a:p>
                      <a:pPr marL="0" indent="0" algn="l">
                        <a:buNone/>
                      </a:pPr>
                      <a:r>
                        <a:rPr lang="en-US" sz="1200" b="1" dirty="0">
                          <a:solidFill>
                            <a:srgbClr val="1D2B2A"/>
                          </a:solidFill>
                        </a:rPr>
                        <a:t>Total equity and liabilities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27,101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29,463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32,718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37,387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42,496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14"/>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Net worth: </a:t>
            </a:r>
            <a:r>
              <a:rPr lang="en-US" sz="1400" dirty="0">
                <a:solidFill>
                  <a:srgbClr val="1D2B2A"/>
                </a:solidFill>
              </a:rPr>
              <a:t>owners' equity grew from ₹20,842 cr to ₹34,432 cr; minority interest is only ₹88 cr.</a:t>
            </a:r>
            <a:endParaRPr lang="en-US" sz="1400" dirty="0"/>
          </a:p>
          <a:p>
            <a:pPr marL="0" indent="0">
              <a:spcAft>
                <a:spcPts val="800"/>
              </a:spcAft>
              <a:buNone/>
            </a:pPr>
            <a:r>
              <a:rPr lang="en-US" sz="1400" b="1" dirty="0">
                <a:solidFill>
                  <a:srgbClr val="0B4F4A"/>
                </a:solidFill>
              </a:rPr>
              <a:t>Debt: </a:t>
            </a:r>
            <a:r>
              <a:rPr lang="en-US" sz="1400" dirty="0">
                <a:solidFill>
                  <a:srgbClr val="1D2B2A"/>
                </a:solidFill>
              </a:rPr>
              <a:t>borrowings are ₹258 cr against liquid funds of ₹8,987 cr; debt-equity is 0.01x.</a:t>
            </a:r>
            <a:endParaRPr lang="en-US" sz="1400" dirty="0"/>
          </a:p>
          <a:p>
            <a:pPr marL="0" indent="0">
              <a:spcAft>
                <a:spcPts val="800"/>
              </a:spcAft>
              <a:buNone/>
            </a:pPr>
            <a:r>
              <a:rPr lang="en-US" sz="1400" b="1" dirty="0">
                <a:solidFill>
                  <a:srgbClr val="0B4F4A"/>
                </a:solidFill>
              </a:rPr>
              <a:t>FY26 assets: </a:t>
            </a:r>
            <a:r>
              <a:rPr lang="en-US" sz="1400" dirty="0">
                <a:solidFill>
                  <a:srgbClr val="1D2B2A"/>
                </a:solidFill>
              </a:rPr>
              <a:t>non-current assets rose 30%; goodwill and intangibles are ₹6,850 cr, 16.1% of total assets.</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CIPLA LIMITED  |  CONSOLIDATED  |  CASH FLOW</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Operating cash flow of ₹19,642 cr covered capex and dividends 1.7 times; FY26 free cash flow fell to ₹861 cr as capex doubled</a:t>
            </a:r>
            <a:endParaRPr lang="en-US" sz="2400" dirty="0"/>
          </a:p>
        </p:txBody>
      </p:sp>
      <p:graphicFrame>
        <p:nvGraphicFramePr>
          <p:cNvPr id="23" name="CF table"/>
          <p:cNvGraphicFramePr>
            <a:graphicFrameLocks noGrp="1"/>
          </p:cNvGraphicFramePr>
          <p:nvPr>
            <p:extLst>
              <p:ext uri="{D42A27DB-BD31-4B8C-83A1-F6EECF244321}">
                <p14:modId xmlns:p14="http://schemas.microsoft.com/office/powerpoint/2010/main" val="1579011935"/>
              </p:ext>
            </p:extLst>
          </p:nvPr>
        </p:nvGraphicFramePr>
        <p:xfrm>
          <a:off x="457200" y="1463040"/>
          <a:ext cx="7040880" cy="4224528"/>
        </p:xfrm>
        <a:graphic>
          <a:graphicData uri="http://schemas.openxmlformats.org/drawingml/2006/table">
            <a:tbl>
              <a:tblPr/>
              <a:tblGrid>
                <a:gridCol w="251460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gridCol w="749808">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tblGrid>
              <a:tr h="352044">
                <a:tc>
                  <a:txBody>
                    <a:bodyPr/>
                    <a:lstStyle/>
                    <a:p>
                      <a:pPr marL="0" indent="0" algn="l">
                        <a:buNone/>
                      </a:pPr>
                      <a:r>
                        <a:rPr lang="en-US" sz="1200" b="1" dirty="0">
                          <a:solidFill>
                            <a:srgbClr val="FFFFFF"/>
                          </a:solidFill>
                        </a:rPr>
                        <a:t>₹ crore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FY26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200" b="1" dirty="0">
                          <a:solidFill>
                            <a:srgbClr val="FFFFFF"/>
                          </a:solidFill>
                        </a:rPr>
                        <a:t>5 years</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352044">
                <a:tc>
                  <a:txBody>
                    <a:bodyPr/>
                    <a:lstStyle/>
                    <a:p>
                      <a:pPr marL="0" indent="0" algn="l">
                        <a:buNone/>
                      </a:pPr>
                      <a:r>
                        <a:rPr lang="en-US" sz="1200" dirty="0">
                          <a:solidFill>
                            <a:srgbClr val="5B6663"/>
                          </a:solidFill>
                        </a:rPr>
                        <a:t>Opening cash and equivalents</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790</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658</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561</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512</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543</a:t>
                      </a: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endParaRPr lang="en-US" sz="12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352044">
                <a:tc>
                  <a:txBody>
                    <a:bodyPr/>
                    <a:lstStyle/>
                    <a:p>
                      <a:pPr marL="0" indent="0" algn="l">
                        <a:buNone/>
                      </a:pPr>
                      <a:r>
                        <a:rPr lang="en-US" sz="1200" b="1" dirty="0">
                          <a:solidFill>
                            <a:srgbClr val="1D2B2A"/>
                          </a:solidFill>
                        </a:rPr>
                        <a:t>Operating activities (A)</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3,326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3,238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4,134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5,005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3,940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19,642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352044">
                <a:tc>
                  <a:txBody>
                    <a:bodyPr/>
                    <a:lstStyle/>
                    <a:p>
                      <a:pPr marL="0" indent="0" algn="l">
                        <a:buNone/>
                      </a:pPr>
                      <a:r>
                        <a:rPr lang="en-US" sz="1200" b="1" dirty="0">
                          <a:solidFill>
                            <a:srgbClr val="1D2B2A"/>
                          </a:solidFill>
                        </a:rPr>
                        <a:t>Investing activities (B)</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(1,872)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(2,389)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(2,988)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(3,691)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(2,326)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(13,266)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352044">
                <a:tc>
                  <a:txBody>
                    <a:bodyPr/>
                    <a:lstStyle/>
                    <a:p>
                      <a:pPr marL="0" indent="0" algn="l">
                        <a:buNone/>
                      </a:pPr>
                      <a:r>
                        <a:rPr lang="en-US" sz="1200" b="1" dirty="0">
                          <a:solidFill>
                            <a:srgbClr val="1D2B2A"/>
                          </a:solidFill>
                        </a:rPr>
                        <a:t>Financing activities (C)</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(1,600)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(958)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(1,200)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(1,293)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(1,234)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(6,285)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352044">
                <a:tc>
                  <a:txBody>
                    <a:bodyPr/>
                    <a:lstStyle/>
                    <a:p>
                      <a:pPr marL="0" indent="0" algn="l">
                        <a:buNone/>
                      </a:pPr>
                      <a:r>
                        <a:rPr lang="en-US" sz="1200" dirty="0">
                          <a:solidFill>
                            <a:srgbClr val="1D2B2A"/>
                          </a:solidFill>
                        </a:rPr>
                        <a:t>Net change (A+B+C)</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(146)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380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92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352044">
                <a:tc>
                  <a:txBody>
                    <a:bodyPr/>
                    <a:lstStyle/>
                    <a:p>
                      <a:pPr marL="0" indent="0" algn="l">
                        <a:buNone/>
                      </a:pPr>
                      <a:r>
                        <a:rPr lang="en-US" sz="1200" dirty="0">
                          <a:solidFill>
                            <a:srgbClr val="5B6663"/>
                          </a:solidFill>
                        </a:rPr>
                        <a:t>Forex and other reconciling items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79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133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95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5B6663"/>
                          </a:solidFill>
                        </a:rPr>
                        <a:t>396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352044">
                <a:tc>
                  <a:txBody>
                    <a:bodyPr/>
                    <a:lstStyle/>
                    <a:p>
                      <a:pPr marL="0" indent="0" algn="l">
                        <a:buNone/>
                      </a:pPr>
                      <a:r>
                        <a:rPr lang="en-US" sz="1200" b="1" dirty="0">
                          <a:solidFill>
                            <a:srgbClr val="1D2B2A"/>
                          </a:solidFill>
                        </a:rPr>
                        <a:t>Closing cash and equivalents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678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628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640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589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200" b="1" dirty="0">
                          <a:solidFill>
                            <a:srgbClr val="1D2B2A"/>
                          </a:solidFill>
                        </a:rPr>
                        <a:t>1,018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07"/>
                  </a:ext>
                </a:extLst>
              </a:tr>
              <a:tr h="352044">
                <a:tc>
                  <a:txBody>
                    <a:bodyPr/>
                    <a:lstStyle/>
                    <a:p>
                      <a:pPr marL="0" indent="0" algn="l">
                        <a:buNone/>
                      </a:pPr>
                      <a:r>
                        <a:rPr lang="en-US" sz="1200" dirty="0">
                          <a:solidFill>
                            <a:srgbClr val="1D2B2A"/>
                          </a:solidFill>
                        </a:rPr>
                        <a:t>Capital expenditure</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(1,183)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(1,349)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(1,548)</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(3,079)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(7,861)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352044">
                <a:tc>
                  <a:txBody>
                    <a:bodyPr/>
                    <a:lstStyle/>
                    <a:p>
                      <a:pPr marL="0" indent="0" algn="l">
                        <a:buNone/>
                      </a:pPr>
                      <a:r>
                        <a:rPr lang="en-US" sz="1200" b="1" dirty="0">
                          <a:solidFill>
                            <a:srgbClr val="1D2B2A"/>
                          </a:solidFill>
                        </a:rPr>
                        <a:t>Free cash flow (A - capex)</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2,625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2,055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2,785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3,457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861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b="1" dirty="0">
                          <a:solidFill>
                            <a:srgbClr val="1D2B2A"/>
                          </a:solidFill>
                        </a:rPr>
                        <a:t>11,782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352044">
                <a:tc>
                  <a:txBody>
                    <a:bodyPr/>
                    <a:lstStyle/>
                    <a:p>
                      <a:pPr marL="0" indent="0" algn="l">
                        <a:buNone/>
                      </a:pPr>
                      <a:r>
                        <a:rPr lang="en-US" sz="1200" dirty="0">
                          <a:solidFill>
                            <a:srgbClr val="1D2B2A"/>
                          </a:solidFill>
                        </a:rPr>
                        <a:t>Acquisitions of businesses</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(301)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(205)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(111)</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(617)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352044">
                <a:tc>
                  <a:txBody>
                    <a:bodyPr/>
                    <a:lstStyle/>
                    <a:p>
                      <a:pPr marL="0" indent="0" algn="l">
                        <a:buNone/>
                      </a:pPr>
                      <a:r>
                        <a:rPr lang="en-US" sz="1200" dirty="0">
                          <a:solidFill>
                            <a:srgbClr val="1D2B2A"/>
                          </a:solidFill>
                        </a:rPr>
                        <a:t>Dividends paid</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(403)</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(404)</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(686)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(1,050)</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(1,292)</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200" dirty="0">
                          <a:solidFill>
                            <a:srgbClr val="1D2B2A"/>
                          </a:solidFill>
                        </a:rPr>
                        <a:t>(3,835)</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5" name="Chart 0"/>
          <p:cNvGraphicFramePr/>
          <p:nvPr/>
        </p:nvGraphicFramePr>
        <p:xfrm>
          <a:off x="7772400" y="1417320"/>
          <a:ext cx="395935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7772400" y="4114800"/>
            <a:ext cx="3959352" cy="2194560"/>
          </a:xfrm>
          <a:prstGeom prst="rect">
            <a:avLst/>
          </a:prstGeom>
          <a:noFill/>
          <a:ln/>
        </p:spPr>
        <p:txBody>
          <a:bodyPr wrap="square" lIns="0" tIns="0" rIns="0" bIns="0" rtlCol="0" anchor="t"/>
          <a:lstStyle/>
          <a:p>
            <a:pPr marL="0" indent="0">
              <a:spcAft>
                <a:spcPts val="800"/>
              </a:spcAft>
              <a:buNone/>
            </a:pPr>
            <a:r>
              <a:rPr lang="en-US" sz="1400" b="1" dirty="0">
                <a:solidFill>
                  <a:srgbClr val="0B4F4A"/>
                </a:solidFill>
              </a:rPr>
              <a:t>Conversion: </a:t>
            </a:r>
            <a:r>
              <a:rPr lang="en-US" sz="1400" dirty="0">
                <a:solidFill>
                  <a:srgbClr val="1D2B2A"/>
                </a:solidFill>
              </a:rPr>
              <a:t>CFO / PAT was 1.00x, 0.95x and 1.02x in FY24 to FY26; in FY25 inventories and receivables absorbed ₹1,124 cr.</a:t>
            </a:r>
            <a:endParaRPr lang="en-US" sz="1400" dirty="0"/>
          </a:p>
          <a:p>
            <a:pPr marL="0" indent="0">
              <a:spcAft>
                <a:spcPts val="800"/>
              </a:spcAft>
              <a:buNone/>
            </a:pPr>
            <a:r>
              <a:rPr lang="en-US" sz="1400" b="1" dirty="0">
                <a:solidFill>
                  <a:srgbClr val="0B4F4A"/>
                </a:solidFill>
              </a:rPr>
              <a:t>FY26 capex: </a:t>
            </a:r>
            <a:r>
              <a:rPr lang="en-US" sz="1400" dirty="0">
                <a:solidFill>
                  <a:srgbClr val="1D2B2A"/>
                </a:solidFill>
              </a:rPr>
              <a:t>rose 99% to ₹3,079 cr, of which ₹1,480 cr on intangibles (FY25: ₹386 cr).</a:t>
            </a:r>
            <a:endParaRPr lang="en-US" sz="1400" dirty="0"/>
          </a:p>
          <a:p>
            <a:pPr marL="0" indent="0">
              <a:spcAft>
                <a:spcPts val="800"/>
              </a:spcAft>
              <a:buNone/>
            </a:pPr>
            <a:r>
              <a:rPr lang="en-US" sz="1400" b="1" dirty="0">
                <a:solidFill>
                  <a:srgbClr val="0B4F4A"/>
                </a:solidFill>
              </a:rPr>
              <a:t>Dividends: </a:t>
            </a:r>
            <a:r>
              <a:rPr lang="en-US" sz="1400" dirty="0">
                <a:solidFill>
                  <a:srgbClr val="1D2B2A"/>
                </a:solidFill>
              </a:rPr>
              <a:t>₹403 cr in FY22 to ₹1,292 cr in FY26, 33% of FY26 PAT; surplus cash is held in current investments.</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CIPLA LIMITED  |  CONSOLIDATED  |  RATIO ANALYSIS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Liquidity is very strong and debt negligible; ROCE peaked at 23.2% in FY25 and fell to 16.5% in FY26</a:t>
            </a:r>
            <a:endParaRPr lang="en-US" sz="2400" dirty="0"/>
          </a:p>
        </p:txBody>
      </p:sp>
      <p:graphicFrame>
        <p:nvGraphicFramePr>
          <p:cNvPr id="24" name="Ratio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4526280"/>
        </p:xfrm>
        <a:graphic>
          <a:graphicData uri="http://schemas.openxmlformats.org/drawingml/2006/table">
            <a:tbl>
              <a:tblPr/>
              <a:tblGrid>
                <a:gridCol w="1051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005072">
                  <a:extLst>
                    <a:ext uri="{9D8B030D-6E8A-4147-A177-3AD203B41FA5}">
                      <a16:colId xmlns:a16="http://schemas.microsoft.com/office/drawing/2014/main" val="20002"/>
                    </a:ext>
                  </a:extLst>
                </a:gridCol>
                <a:gridCol w="804672">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gridCol w="804672">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251460">
                <a:tc>
                  <a:txBody>
                    <a:bodyPr/>
                    <a:lstStyle/>
                    <a:p>
                      <a:pPr marL="0" indent="0" algn="l">
                        <a:buNone/>
                      </a:pP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100" b="1" dirty="0">
                          <a:solidFill>
                            <a:srgbClr val="FFFFFF"/>
                          </a:solidFill>
                        </a:rPr>
                        <a:t>Ratio</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100" b="1" dirty="0">
                          <a:solidFill>
                            <a:srgbClr val="FFFFFF"/>
                          </a:solidFill>
                        </a:rPr>
                        <a:t>Formula</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FY23</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FY24</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FY25</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51460">
                <a:tc rowSpan="3">
                  <a:txBody>
                    <a:bodyPr/>
                    <a:lstStyle/>
                    <a:p>
                      <a:pPr marL="0" indent="0" algn="l">
                        <a:buNone/>
                      </a:pPr>
                      <a:r>
                        <a:rPr lang="en-US" sz="1100" b="1" dirty="0">
                          <a:solidFill>
                            <a:srgbClr val="0B4F4A"/>
                          </a:solidFill>
                        </a:rPr>
                        <a:t>Liquidity</a:t>
                      </a:r>
                      <a:endParaRPr lang="en-US" sz="11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Current ratio</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Current assets / current liabilities</a:t>
                      </a:r>
                      <a:endParaRPr lang="en-US" sz="10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2.99x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3.29x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3.70x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4.24x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3.44x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51460">
                <a:tc vMerge="1">
                  <a:txBody>
                    <a:bodyPr/>
                    <a:lstStyle/>
                    <a:p>
                      <a:endParaRPr lang="en-US"/>
                    </a:p>
                  </a:txBody>
                  <a:tcPr/>
                </a:tc>
                <a:tc>
                  <a:txBody>
                    <a:bodyPr/>
                    <a:lstStyle/>
                    <a:p>
                      <a:pPr marL="0" indent="0" algn="l">
                        <a:buNone/>
                      </a:pPr>
                      <a:r>
                        <a:rPr lang="en-US" sz="1150" b="1" dirty="0">
                          <a:solidFill>
                            <a:srgbClr val="1D2B2A"/>
                          </a:solidFill>
                        </a:rPr>
                        <a:t>Quick ratio</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(Current assets - inventories)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2.70x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3.21x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2.50x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51460">
                <a:tc vMerge="1">
                  <a:txBody>
                    <a:bodyPr/>
                    <a:lstStyle/>
                    <a:p>
                      <a:endParaRPr lang="en-US"/>
                    </a:p>
                  </a:txBody>
                  <a:tcPr/>
                </a:tc>
                <a:tc>
                  <a:txBody>
                    <a:bodyPr/>
                    <a:lstStyle/>
                    <a:p>
                      <a:pPr marL="0" indent="0" algn="l">
                        <a:buNone/>
                      </a:pPr>
                      <a:r>
                        <a:rPr lang="en-US" sz="1150" b="1" dirty="0">
                          <a:solidFill>
                            <a:srgbClr val="1D2B2A"/>
                          </a:solidFill>
                        </a:rPr>
                        <a:t>Cash ratio</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(Cash + bank + current investments)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0.84x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0.91x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51460">
                <a:tc rowSpan="3">
                  <a:txBody>
                    <a:bodyPr/>
                    <a:lstStyle/>
                    <a:p>
                      <a:pPr marL="0" indent="0" algn="l">
                        <a:buNone/>
                      </a:pPr>
                      <a:r>
                        <a:rPr lang="en-US" sz="1100" b="1" dirty="0">
                          <a:solidFill>
                            <a:srgbClr val="0B4F4A"/>
                          </a:solidFill>
                        </a:rPr>
                        <a:t>Solvency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Debt-equity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Borrowings / total equity</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0.04x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251460">
                <a:tc vMerge="1">
                  <a:txBody>
                    <a:bodyPr/>
                    <a:lstStyle/>
                    <a:p>
                      <a:endParaRPr lang="en-US"/>
                    </a:p>
                  </a:txBody>
                  <a:tcPr/>
                </a:tc>
                <a:tc>
                  <a:txBody>
                    <a:bodyPr/>
                    <a:lstStyle/>
                    <a:p>
                      <a:pPr marL="0" indent="0" algn="l">
                        <a:buNone/>
                      </a:pPr>
                      <a:r>
                        <a:rPr lang="en-US" sz="1150" b="1" dirty="0">
                          <a:solidFill>
                            <a:srgbClr val="1D2B2A"/>
                          </a:solidFill>
                        </a:rPr>
                        <a:t>Interest cover</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(PBT before exceptional + finance cost) / finance cost</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35.6x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39.5x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66.6x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111.0x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102.1x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251460">
                <a:tc vMerge="1">
                  <a:txBody>
                    <a:bodyPr/>
                    <a:lstStyle/>
                    <a:p>
                      <a:endParaRPr lang="en-US"/>
                    </a:p>
                  </a:txBody>
                  <a:tcPr/>
                </a:tc>
                <a:tc>
                  <a:txBody>
                    <a:bodyPr/>
                    <a:lstStyle/>
                    <a:p>
                      <a:pPr marL="0" indent="0" algn="l">
                        <a:buNone/>
                      </a:pPr>
                      <a:r>
                        <a:rPr lang="en-US" sz="1150" b="1" dirty="0">
                          <a:solidFill>
                            <a:srgbClr val="1D2B2A"/>
                          </a:solidFill>
                        </a:rPr>
                        <a:t>Equity to total assets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Total equity / total assets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77.9%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81.9%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83.7%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81.2%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251460">
                <a:tc rowSpan="4">
                  <a:txBody>
                    <a:bodyPr/>
                    <a:lstStyle/>
                    <a:p>
                      <a:pPr marL="0" indent="0" algn="l">
                        <a:buNone/>
                      </a:pPr>
                      <a:r>
                        <a:rPr lang="en-US" sz="1100" b="1" dirty="0">
                          <a:solidFill>
                            <a:srgbClr val="0B4F4A"/>
                          </a:solidFill>
                        </a:rPr>
                        <a:t>Efficiency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Inventory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inventory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251460">
                <a:tc vMerge="1">
                  <a:txBody>
                    <a:bodyPr/>
                    <a:lstStyle/>
                    <a:p>
                      <a:endParaRPr lang="en-US"/>
                    </a:p>
                  </a:txBody>
                  <a:tcPr/>
                </a:tc>
                <a:tc>
                  <a:txBody>
                    <a:bodyPr/>
                    <a:lstStyle/>
                    <a:p>
                      <a:pPr marL="0" indent="0" algn="l">
                        <a:buNone/>
                      </a:pPr>
                      <a:r>
                        <a:rPr lang="en-US" sz="1150" b="1" dirty="0">
                          <a:solidFill>
                            <a:srgbClr val="1D2B2A"/>
                          </a:solidFill>
                        </a:rPr>
                        <a:t>Debtor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trade receivables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251460">
                <a:tc vMerge="1">
                  <a:txBody>
                    <a:bodyPr/>
                    <a:lstStyle/>
                    <a:p>
                      <a:endParaRPr lang="en-US"/>
                    </a:p>
                  </a:txBody>
                  <a:tcPr/>
                </a:tc>
                <a:tc>
                  <a:txBody>
                    <a:bodyPr/>
                    <a:lstStyle/>
                    <a:p>
                      <a:pPr marL="0" indent="0" algn="l">
                        <a:buNone/>
                      </a:pPr>
                      <a:r>
                        <a:rPr lang="en-US" sz="1150" b="1" dirty="0">
                          <a:solidFill>
                            <a:srgbClr val="1D2B2A"/>
                          </a:solidFill>
                        </a:rPr>
                        <a:t>Creditor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Average trade payables / revenue x 365</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251460">
                <a:tc vMerge="1">
                  <a:txBody>
                    <a:bodyPr/>
                    <a:lstStyle/>
                    <a:p>
                      <a:endParaRPr lang="en-US"/>
                    </a:p>
                  </a:txBody>
                  <a:tcPr/>
                </a:tc>
                <a:tc>
                  <a:txBody>
                    <a:bodyPr/>
                    <a:lstStyle/>
                    <a:p>
                      <a:pPr marL="0" indent="0" algn="l">
                        <a:buNone/>
                      </a:pPr>
                      <a:r>
                        <a:rPr lang="en-US" sz="1150" b="1" dirty="0">
                          <a:solidFill>
                            <a:srgbClr val="1D2B2A"/>
                          </a:solidFill>
                        </a:rPr>
                        <a:t>Cash conversion cycle</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Inventory days + debtor days - creditor days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251460">
                <a:tc rowSpan="4">
                  <a:txBody>
                    <a:bodyPr/>
                    <a:lstStyle/>
                    <a:p>
                      <a:pPr marL="0" indent="0" algn="l">
                        <a:buNone/>
                      </a:pPr>
                      <a:r>
                        <a:rPr lang="en-US" sz="1100" b="1" dirty="0">
                          <a:solidFill>
                            <a:srgbClr val="0B4F4A"/>
                          </a:solidFill>
                        </a:rPr>
                        <a:t>Profitability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EBITDA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EBITDA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24.4%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25.9%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251460">
                <a:tc vMerge="1">
                  <a:txBody>
                    <a:bodyPr/>
                    <a:lstStyle/>
                    <a:p>
                      <a:endParaRPr lang="en-US"/>
                    </a:p>
                  </a:txBody>
                  <a:tcPr/>
                </a:tc>
                <a:tc>
                  <a:txBody>
                    <a:bodyPr/>
                    <a:lstStyle/>
                    <a:p>
                      <a:pPr marL="0" indent="0" algn="l">
                        <a:buNone/>
                      </a:pPr>
                      <a:r>
                        <a:rPr lang="en-US" sz="1150" b="1" dirty="0">
                          <a:solidFill>
                            <a:srgbClr val="1D2B2A"/>
                          </a:solidFill>
                        </a:rPr>
                        <a:t>PAT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PAT attributable to owners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r h="251460">
                <a:tc vMerge="1">
                  <a:txBody>
                    <a:bodyPr/>
                    <a:lstStyle/>
                    <a:p>
                      <a:endParaRPr lang="en-US"/>
                    </a:p>
                  </a:txBody>
                  <a:tcPr/>
                </a:tc>
                <a:tc>
                  <a:txBody>
                    <a:bodyPr/>
                    <a:lstStyle/>
                    <a:p>
                      <a:pPr marL="0" indent="0" algn="l">
                        <a:buNone/>
                      </a:pPr>
                      <a:r>
                        <a:rPr lang="en-US" sz="1150" b="1" dirty="0">
                          <a:solidFill>
                            <a:srgbClr val="1D2B2A"/>
                          </a:solidFill>
                        </a:rPr>
                        <a:t>Return on 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PAT attributable / average owners' equity</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3"/>
                  </a:ext>
                </a:extLst>
              </a:tr>
              <a:tr h="251460">
                <a:tc vMerge="1">
                  <a:txBody>
                    <a:bodyPr/>
                    <a:lstStyle/>
                    <a:p>
                      <a:endParaRPr lang="en-US"/>
                    </a:p>
                  </a:txBody>
                  <a:tcPr/>
                </a:tc>
                <a:tc>
                  <a:txBody>
                    <a:bodyPr/>
                    <a:lstStyle/>
                    <a:p>
                      <a:pPr marL="0" indent="0" algn="l">
                        <a:buNone/>
                      </a:pPr>
                      <a:r>
                        <a:rPr lang="en-US" sz="1150" b="1" dirty="0">
                          <a:solidFill>
                            <a:srgbClr val="1D2B2A"/>
                          </a:solidFill>
                        </a:rPr>
                        <a:t>Return on capital employed</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EBIT / average (total assets - current liabilities)</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4"/>
                  </a:ext>
                </a:extLst>
              </a:tr>
              <a:tr h="251460">
                <a:tc rowSpan="3">
                  <a:txBody>
                    <a:bodyPr/>
                    <a:lstStyle/>
                    <a:p>
                      <a:pPr marL="0" indent="0" algn="l">
                        <a:buNone/>
                      </a:pPr>
                      <a:r>
                        <a:rPr lang="en-US" sz="1100" b="1" dirty="0">
                          <a:solidFill>
                            <a:srgbClr val="0B4F4A"/>
                          </a:solidFill>
                        </a:rPr>
                        <a:t>Cash flow</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CFO to PAT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Net cash from operations / PAT attributable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0.95x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5"/>
                  </a:ext>
                </a:extLst>
              </a:tr>
              <a:tr h="251460">
                <a:tc vMerge="1">
                  <a:txBody>
                    <a:bodyPr/>
                    <a:lstStyle/>
                    <a:p>
                      <a:endParaRPr lang="en-US"/>
                    </a:p>
                  </a:txBody>
                  <a:tcPr/>
                </a:tc>
                <a:tc>
                  <a:txBody>
                    <a:bodyPr/>
                    <a:lstStyle/>
                    <a:p>
                      <a:pPr marL="0" indent="0" algn="l">
                        <a:buNone/>
                      </a:pPr>
                      <a:r>
                        <a:rPr lang="en-US" sz="1150" b="1" dirty="0">
                          <a:solidFill>
                            <a:srgbClr val="1D2B2A"/>
                          </a:solidFill>
                        </a:rPr>
                        <a:t>Free cash flow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(CFO - capex) / revenue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6"/>
                  </a:ext>
                </a:extLst>
              </a:tr>
              <a:tr h="251460">
                <a:tc vMerge="1">
                  <a:txBody>
                    <a:bodyPr/>
                    <a:lstStyle/>
                    <a:p>
                      <a:endParaRPr lang="en-US"/>
                    </a:p>
                  </a:txBody>
                  <a:tcPr/>
                </a:tc>
                <a:tc>
                  <a:txBody>
                    <a:bodyPr/>
                    <a:lstStyle/>
                    <a:p>
                      <a:pPr marL="0" indent="0" algn="l">
                        <a:buNone/>
                      </a:pPr>
                      <a:r>
                        <a:rPr lang="en-US" sz="1150" b="1" dirty="0">
                          <a:solidFill>
                            <a:srgbClr val="1D2B2A"/>
                          </a:solidFill>
                        </a:rPr>
                        <a:t>Dividend payout (cash)</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l">
                        <a:buNone/>
                      </a:pPr>
                      <a:r>
                        <a:rPr lang="en-US" sz="1050" dirty="0">
                          <a:solidFill>
                            <a:srgbClr val="5B6663"/>
                          </a:solidFill>
                        </a:rPr>
                        <a:t>Dividends paid / PAT attributable</a:t>
                      </a:r>
                      <a:endParaRPr lang="en-US" sz="10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33.3%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5" name="Ratio note"/>
          <p:cNvSpPr txBox="1"/>
          <p:nvPr/>
        </p:nvSpPr>
        <p:spPr>
          <a:xfrm>
            <a:off x="457200" y="5989320"/>
            <a:ext cx="11274552" cy="365760"/>
          </a:xfrm>
          <a:prstGeom prst="rect">
            <a:avLst/>
          </a:prstGeom>
          <a:noFill/>
          <a:ln/>
        </p:spPr>
        <p:txBody>
          <a:bodyPr wrap="square" lIns="0" tIns="0" rIns="0" bIns="0" rtlCol="0" anchor="t"/>
          <a:lstStyle/>
          <a:p>
            <a:pPr marL="0" indent="0">
              <a:buNone/>
            </a:pPr>
            <a:r>
              <a:rPr lang="en-US" sz="1000" i="1" dirty="0">
                <a:solidFill>
                  <a:schemeClr val="accent2"/>
                </a:solidFill>
              </a:rPr>
              <a:t>Averages are (opening + closing) / 2. Days are computed on revenue because the statements are prepared by nature of expense, so cost of goods sold is not disclosed.</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CIPLA LIMITED  |  CONSOLIDATED  |  TRENDS AND CONCLUSION</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Debt-free with steady cash generation; the FY26 fall in margin and returns and rising receivable days are the points to watch</a:t>
            </a:r>
            <a:endParaRPr lang="en-US" sz="2400" dirty="0"/>
          </a:p>
        </p:txBody>
      </p:sp>
      <p:graphicFrame>
        <p:nvGraphicFramePr>
          <p:cNvPr id="4" name="Chart 0"/>
          <p:cNvGraphicFramePr/>
          <p:nvPr/>
        </p:nvGraphicFramePr>
        <p:xfrm>
          <a:off x="457200" y="1417320"/>
          <a:ext cx="361188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288536" y="1417320"/>
          <a:ext cx="3611880"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8119872" y="1417320"/>
          <a:ext cx="3611880" cy="228600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2"/>
          <p:cNvSpPr txBox="1"/>
          <p:nvPr/>
        </p:nvSpPr>
        <p:spPr>
          <a:xfrm>
            <a:off x="457200" y="3840480"/>
            <a:ext cx="5486400" cy="365760"/>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Strengths</a:t>
            </a:r>
            <a:endParaRPr lang="en-US" sz="1800" dirty="0"/>
          </a:p>
        </p:txBody>
      </p:sp>
      <p:sp>
        <p:nvSpPr>
          <p:cNvPr id="8" name="Text 3"/>
          <p:cNvSpPr txBox="1"/>
          <p:nvPr/>
        </p:nvSpPr>
        <p:spPr>
          <a:xfrm>
            <a:off x="6245352" y="3840480"/>
            <a:ext cx="5486400" cy="36576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Points to watch</a:t>
            </a:r>
            <a:endParaRPr lang="en-US" sz="1800" dirty="0"/>
          </a:p>
        </p:txBody>
      </p:sp>
      <p:sp>
        <p:nvSpPr>
          <p:cNvPr id="9" name="Text 4"/>
          <p:cNvSpPr txBox="1"/>
          <p:nvPr/>
        </p:nvSpPr>
        <p:spPr>
          <a:xfrm>
            <a:off x="457200" y="4251960"/>
            <a:ext cx="5486400" cy="1600200"/>
          </a:xfrm>
          <a:prstGeom prst="rect">
            <a:avLst/>
          </a:prstGeom>
          <a:noFill/>
          <a:ln/>
        </p:spPr>
        <p:txBody>
          <a:bodyPr wrap="square" lIns="0" tIns="0" rIns="0" bIns="0" rtlCol="0" anchor="t"/>
          <a:lstStyle/>
          <a:p>
            <a:pPr marL="0" indent="0">
              <a:spcAft>
                <a:spcPts val="600"/>
              </a:spcAft>
              <a:buNone/>
            </a:pPr>
            <a:r>
              <a:rPr lang="en-US" sz="1400" b="1" dirty="0">
                <a:solidFill>
                  <a:srgbClr val="0B4F4A"/>
                </a:solidFill>
              </a:rPr>
              <a:t>Leverage: </a:t>
            </a:r>
            <a:r>
              <a:rPr lang="en-US" sz="1400" dirty="0">
                <a:solidFill>
                  <a:srgbClr val="1D2B2A"/>
                </a:solidFill>
              </a:rPr>
              <a:t>debt-equity 0.01x, interest cover 102x, current ratio 3.4x; net cash ₹8,729 cr.</a:t>
            </a:r>
            <a:endParaRPr lang="en-US" sz="1400" dirty="0"/>
          </a:p>
          <a:p>
            <a:pPr marL="0" indent="0">
              <a:spcAft>
                <a:spcPts val="600"/>
              </a:spcAft>
              <a:buNone/>
            </a:pPr>
            <a:r>
              <a:rPr lang="en-US" sz="1400" b="1" dirty="0">
                <a:solidFill>
                  <a:srgbClr val="0B4F4A"/>
                </a:solidFill>
              </a:rPr>
              <a:t>Cash generation: </a:t>
            </a:r>
            <a:r>
              <a:rPr lang="en-US" sz="1400" dirty="0">
                <a:solidFill>
                  <a:srgbClr val="1D2B2A"/>
                </a:solidFill>
              </a:rPr>
              <a:t>five-year CFO was 1.7x capex plus dividends; FCF positive every year (₹11,782 cr in total).</a:t>
            </a:r>
            <a:endParaRPr lang="en-US" sz="1400" dirty="0"/>
          </a:p>
          <a:p>
            <a:pPr marL="0" indent="0">
              <a:spcAft>
                <a:spcPts val="600"/>
              </a:spcAft>
              <a:buNone/>
            </a:pPr>
            <a:r>
              <a:rPr lang="en-US" sz="1400" b="1" dirty="0">
                <a:solidFill>
                  <a:srgbClr val="0B4F4A"/>
                </a:solidFill>
              </a:rPr>
              <a:t>Payout: </a:t>
            </a:r>
            <a:r>
              <a:rPr lang="en-US" sz="1400" dirty="0">
                <a:solidFill>
                  <a:srgbClr val="1D2B2A"/>
                </a:solidFill>
              </a:rPr>
              <a:t>final dividend of ₹13 per share recommended for FY26.</a:t>
            </a:r>
            <a:endParaRPr lang="en-US" sz="1400" dirty="0"/>
          </a:p>
        </p:txBody>
      </p:sp>
      <p:sp>
        <p:nvSpPr>
          <p:cNvPr id="10" name="Text 5"/>
          <p:cNvSpPr txBox="1"/>
          <p:nvPr/>
        </p:nvSpPr>
        <p:spPr>
          <a:xfrm>
            <a:off x="6245352" y="4251960"/>
            <a:ext cx="5486400" cy="1600200"/>
          </a:xfrm>
          <a:prstGeom prst="rect">
            <a:avLst/>
          </a:prstGeom>
          <a:noFill/>
          <a:ln/>
        </p:spPr>
        <p:txBody>
          <a:bodyPr wrap="square" lIns="0" tIns="0" rIns="0" bIns="0" rtlCol="0" anchor="t"/>
          <a:lstStyle/>
          <a:p>
            <a:pPr marL="0" indent="0">
              <a:spcAft>
                <a:spcPts val="600"/>
              </a:spcAft>
              <a:buNone/>
            </a:pPr>
            <a:r>
              <a:rPr lang="en-US" sz="1400" b="1" dirty="0">
                <a:solidFill>
                  <a:srgbClr val="0B4F4A"/>
                </a:solidFill>
              </a:rPr>
              <a:t>Margins: </a:t>
            </a:r>
            <a:r>
              <a:rPr lang="en-US" sz="1400" dirty="0">
                <a:solidFill>
                  <a:srgbClr val="1D2B2A"/>
                </a:solidFill>
              </a:rPr>
              <a:t>EBITDA margin 21.0% against 25.9% in FY25; ROE 11.8% against 18.2%.</a:t>
            </a:r>
            <a:endParaRPr lang="en-US" sz="1400" dirty="0"/>
          </a:p>
          <a:p>
            <a:pPr marL="0" indent="0">
              <a:spcAft>
                <a:spcPts val="600"/>
              </a:spcAft>
              <a:buNone/>
            </a:pPr>
            <a:r>
              <a:rPr lang="en-US" sz="1400" b="1" dirty="0">
                <a:solidFill>
                  <a:srgbClr val="0B4F4A"/>
                </a:solidFill>
              </a:rPr>
              <a:t>Working capital: </a:t>
            </a:r>
            <a:r>
              <a:rPr lang="en-US" sz="1400" dirty="0">
                <a:solidFill>
                  <a:srgbClr val="1D2B2A"/>
                </a:solidFill>
              </a:rPr>
              <a:t>debtor days rose from 58 to 72; cash cycle of 112 days is the longest in five years.</a:t>
            </a:r>
            <a:endParaRPr lang="en-US" sz="1400" dirty="0"/>
          </a:p>
          <a:p>
            <a:pPr marL="0" indent="0">
              <a:spcAft>
                <a:spcPts val="600"/>
              </a:spcAft>
              <a:buNone/>
            </a:pPr>
            <a:r>
              <a:rPr lang="en-US" sz="1400" b="1" dirty="0">
                <a:solidFill>
                  <a:srgbClr val="0B4F4A"/>
                </a:solidFill>
              </a:rPr>
              <a:t>Capex and profit quality: </a:t>
            </a:r>
            <a:r>
              <a:rPr lang="en-US" sz="1400" dirty="0">
                <a:solidFill>
                  <a:srgbClr val="1D2B2A"/>
                </a:solidFill>
              </a:rPr>
              <a:t>FY26 capex is 78% of CFO; other income is 16% of PBT before exceptionals.</a:t>
            </a:r>
            <a:endParaRPr lang="en-US" sz="1400" dirty="0"/>
          </a:p>
        </p:txBody>
      </p:sp>
      <p:sp>
        <p:nvSpPr>
          <p:cNvPr id="11" name="Data note"/>
          <p:cNvSpPr txBox="1"/>
          <p:nvPr/>
        </p:nvSpPr>
        <p:spPr>
          <a:xfrm>
            <a:off x="457200" y="5852160"/>
            <a:ext cx="11274552" cy="502920"/>
          </a:xfrm>
          <a:prstGeom prst="rect">
            <a:avLst/>
          </a:prstGeom>
          <a:noFill/>
          <a:ln/>
        </p:spPr>
        <p:txBody>
          <a:bodyPr wrap="square" lIns="0" tIns="0" rIns="0" bIns="0" rtlCol="0" anchor="t"/>
          <a:lstStyle/>
          <a:p>
            <a:pPr marL="0" indent="0">
              <a:buNone/>
            </a:pPr>
            <a:r>
              <a:rPr lang="en-US" sz="1000" i="1" dirty="0">
                <a:solidFill>
                  <a:schemeClr val="accent2"/>
                </a:solidFill>
              </a:rPr>
              <a:t>Data note: consolidated figures in ₹ crore as published. Depreciation includes impairment (FY26: ₹42 cr on associates). Exceptional items are below PBT as reported. FY23 uses the FY24 filing's comparatives, checked against the scanned FY23 filing. Subtotals recomputed and tie to reported totals.</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TREND ANALYSIS | REVENUE</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Revenue: Lupin grew fastest (14.3% a year) and Cipla slowest (6.7%); FY26 growth slowed to 3.2% at Dr. Reddy's and 2.2% at Cipla</a:t>
            </a:r>
            <a:endParaRPr lang="en-US" sz="2400" dirty="0"/>
          </a:p>
        </p:txBody>
      </p:sp>
      <p:graphicFrame>
        <p:nvGraphicFramePr>
          <p:cNvPr id="4" name="Chart 0"/>
          <p:cNvGraphicFramePr/>
          <p:nvPr/>
        </p:nvGraphicFramePr>
        <p:xfrm>
          <a:off x="457200" y="1417320"/>
          <a:ext cx="493776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0" y="1463040"/>
          <a:ext cx="6062472" cy="1325880"/>
        </p:xfrm>
        <a:graphic>
          <a:graphicData uri="http://schemas.openxmlformats.org/drawingml/2006/table">
            <a:tbl>
              <a:tblPr/>
              <a:tblGrid>
                <a:gridCol w="1307592">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gridCol w="786384">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tblGrid>
              <a:tr h="265176">
                <a:tc>
                  <a:txBody>
                    <a:bodyPr/>
                    <a:lstStyle/>
                    <a:p>
                      <a:pPr marL="0" indent="0" algn="l">
                        <a:buNone/>
                      </a:pPr>
                      <a:r>
                        <a:rPr lang="en-US" sz="1100" b="1" dirty="0">
                          <a:solidFill>
                            <a:srgbClr val="FFFFFF"/>
                          </a:solidFill>
                        </a:rPr>
                        <a:t>Revenue, ₹ cr</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FY23</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FY24</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FY25</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CAGR</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65176">
                <a:tc>
                  <a:txBody>
                    <a:bodyPr/>
                    <a:lstStyle/>
                    <a:p>
                      <a:pPr marL="0" indent="0" algn="l">
                        <a:buNone/>
                      </a:pPr>
                      <a:r>
                        <a:rPr lang="en-US" sz="1150" b="1" dirty="0">
                          <a:solidFill>
                            <a:srgbClr val="0B4F4A"/>
                          </a:solidFill>
                        </a:rPr>
                        <a:t>Sun Pharma</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38,654</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43,886</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48,497</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52,578</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58,462</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10.9%</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lgn="l">
                        <a:buNone/>
                      </a:pPr>
                      <a:r>
                        <a:rPr lang="en-US" sz="1150" b="1" dirty="0">
                          <a:solidFill>
                            <a:srgbClr val="1D2B2A"/>
                          </a:solidFill>
                        </a:rPr>
                        <a:t>Dr. Reddy's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21,545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24,670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28,011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32,644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33,700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lgn="l">
                        <a:buNone/>
                      </a:pPr>
                      <a:r>
                        <a:rPr lang="en-US" sz="1150" b="1" dirty="0">
                          <a:solidFill>
                            <a:srgbClr val="B5472A"/>
                          </a:solidFill>
                        </a:rPr>
                        <a:t>Lupin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16,405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16,642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20,011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22,708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27,958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lgn="l">
                        <a:buNone/>
                      </a:pPr>
                      <a:r>
                        <a:rPr lang="en-US" sz="1150" b="1" dirty="0">
                          <a:solidFill>
                            <a:srgbClr val="1D2B2A"/>
                          </a:solidFill>
                        </a:rPr>
                        <a:t>Cipla</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21,763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22,753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25,774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27,548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28,163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5669280" y="2926080"/>
          <a:ext cx="6062472" cy="1325880"/>
        </p:xfrm>
        <a:graphic>
          <a:graphicData uri="http://schemas.openxmlformats.org/drawingml/2006/table">
            <a:tbl>
              <a:tblPr/>
              <a:tblGrid>
                <a:gridCol w="1307592">
                  <a:extLst>
                    <a:ext uri="{9D8B030D-6E8A-4147-A177-3AD203B41FA5}">
                      <a16:colId xmlns:a16="http://schemas.microsoft.com/office/drawing/2014/main" val="20000"/>
                    </a:ext>
                  </a:extLst>
                </a:gridCol>
                <a:gridCol w="950976">
                  <a:extLst>
                    <a:ext uri="{9D8B030D-6E8A-4147-A177-3AD203B41FA5}">
                      <a16:colId xmlns:a16="http://schemas.microsoft.com/office/drawing/2014/main" val="20001"/>
                    </a:ext>
                  </a:extLst>
                </a:gridCol>
                <a:gridCol w="950976">
                  <a:extLst>
                    <a:ext uri="{9D8B030D-6E8A-4147-A177-3AD203B41FA5}">
                      <a16:colId xmlns:a16="http://schemas.microsoft.com/office/drawing/2014/main" val="20002"/>
                    </a:ext>
                  </a:extLst>
                </a:gridCol>
                <a:gridCol w="950976">
                  <a:extLst>
                    <a:ext uri="{9D8B030D-6E8A-4147-A177-3AD203B41FA5}">
                      <a16:colId xmlns:a16="http://schemas.microsoft.com/office/drawing/2014/main" val="20003"/>
                    </a:ext>
                  </a:extLst>
                </a:gridCol>
                <a:gridCol w="950976">
                  <a:extLst>
                    <a:ext uri="{9D8B030D-6E8A-4147-A177-3AD203B41FA5}">
                      <a16:colId xmlns:a16="http://schemas.microsoft.com/office/drawing/2014/main" val="20004"/>
                    </a:ext>
                  </a:extLst>
                </a:gridCol>
                <a:gridCol w="950976">
                  <a:extLst>
                    <a:ext uri="{9D8B030D-6E8A-4147-A177-3AD203B41FA5}">
                      <a16:colId xmlns:a16="http://schemas.microsoft.com/office/drawing/2014/main" val="20005"/>
                    </a:ext>
                  </a:extLst>
                </a:gridCol>
              </a:tblGrid>
              <a:tr h="265176">
                <a:tc>
                  <a:txBody>
                    <a:bodyPr/>
                    <a:lstStyle/>
                    <a:p>
                      <a:pPr marL="0" indent="0" algn="l">
                        <a:buNone/>
                      </a:pPr>
                      <a:r>
                        <a:rPr lang="en-US" sz="1100" b="1" dirty="0">
                          <a:solidFill>
                            <a:srgbClr val="FFFFFF"/>
                          </a:solidFill>
                        </a:rPr>
                        <a:t>Growth, % a year</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FY23</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FY24</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FY25</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65176">
                <a:tc>
                  <a:txBody>
                    <a:bodyPr/>
                    <a:lstStyle/>
                    <a:p>
                      <a:pPr marL="0" indent="0" algn="l">
                        <a:buNone/>
                      </a:pPr>
                      <a:r>
                        <a:rPr lang="en-US" sz="1150" b="1" dirty="0">
                          <a:solidFill>
                            <a:srgbClr val="0B4F4A"/>
                          </a:solidFill>
                        </a:rPr>
                        <a:t>Sun Pharma</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13.5%</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10.5%</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8.4%</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11.2%</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lgn="l">
                        <a:buNone/>
                      </a:pPr>
                      <a:r>
                        <a:rPr lang="en-US" sz="1150" b="1" dirty="0">
                          <a:solidFill>
                            <a:srgbClr val="1D2B2A"/>
                          </a:solidFill>
                        </a:rPr>
                        <a:t>Dr. Reddy's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lgn="l">
                        <a:buNone/>
                      </a:pPr>
                      <a:r>
                        <a:rPr lang="en-US" sz="1150" b="1" dirty="0">
                          <a:solidFill>
                            <a:srgbClr val="B5472A"/>
                          </a:solidFill>
                        </a:rPr>
                        <a:t>Lupin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lgn="l">
                        <a:buNone/>
                      </a:pPr>
                      <a:r>
                        <a:rPr lang="en-US" sz="1150" b="1" dirty="0">
                          <a:solidFill>
                            <a:srgbClr val="1D2B2A"/>
                          </a:solidFill>
                        </a:rPr>
                        <a:t>Cipla</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2"/>
          <p:cNvSpPr txBox="1"/>
          <p:nvPr/>
        </p:nvSpPr>
        <p:spPr>
          <a:xfrm>
            <a:off x="457200" y="4572000"/>
            <a:ext cx="11274552" cy="1737360"/>
          </a:xfrm>
          <a:prstGeom prst="rect">
            <a:avLst/>
          </a:prstGeom>
          <a:noFill/>
          <a:ln/>
        </p:spPr>
        <p:txBody>
          <a:bodyPr wrap="square" lIns="0" tIns="0" rIns="0" bIns="0" rtlCol="0" anchor="t"/>
          <a:lstStyle/>
          <a:p>
            <a:pPr marL="0" indent="0">
              <a:spcAft>
                <a:spcPts val="500"/>
              </a:spcAft>
              <a:buNone/>
            </a:pPr>
            <a:r>
              <a:rPr lang="en-US" sz="1400" b="1" dirty="0">
                <a:solidFill>
                  <a:srgbClr val="0B4F4A"/>
                </a:solidFill>
              </a:rPr>
              <a:t>Sun Pharma: </a:t>
            </a:r>
            <a:r>
              <a:rPr lang="en-US" sz="1400" dirty="0">
                <a:solidFill>
                  <a:srgbClr val="1D2B2A"/>
                </a:solidFill>
              </a:rPr>
              <a:t>growth of 8.4% to 13.5% in every year; the Organon deal (agreed April 2026) adds scale from FY27.</a:t>
            </a:r>
            <a:endParaRPr lang="en-US" sz="1400" dirty="0"/>
          </a:p>
          <a:p>
            <a:pPr marL="0" indent="0">
              <a:spcAft>
                <a:spcPts val="500"/>
              </a:spcAft>
              <a:buNone/>
            </a:pPr>
            <a:r>
              <a:rPr lang="en-US" sz="1400" b="1" dirty="0">
                <a:solidFill>
                  <a:srgbClr val="0B4F4A"/>
                </a:solidFill>
              </a:rPr>
              <a:t>Dr. Reddy's: </a:t>
            </a:r>
            <a:r>
              <a:rPr lang="en-US" sz="1400" dirty="0">
                <a:solidFill>
                  <a:srgbClr val="1D2B2A"/>
                </a:solidFill>
              </a:rPr>
              <a:t>13% to 17% a year until FY25, then 3.2% as generic Revlimid exclusivity ended on 31 January 2026.</a:t>
            </a:r>
            <a:endParaRPr lang="en-US" sz="1400" dirty="0"/>
          </a:p>
          <a:p>
            <a:pPr marL="0" indent="0">
              <a:spcAft>
                <a:spcPts val="500"/>
              </a:spcAft>
              <a:buNone/>
            </a:pPr>
            <a:r>
              <a:rPr lang="en-US" sz="1400" b="1" dirty="0">
                <a:solidFill>
                  <a:srgbClr val="0B4F4A"/>
                </a:solidFill>
              </a:rPr>
              <a:t>Lupin: </a:t>
            </a:r>
            <a:r>
              <a:rPr lang="en-US" sz="1400" dirty="0">
                <a:solidFill>
                  <a:srgbClr val="1D2B2A"/>
                </a:solidFill>
              </a:rPr>
              <a:t>1.4% in FY23, then 13% to 23% in FY24 to FY26; FY26 growth of 23.1% is the highest of the four.</a:t>
            </a:r>
            <a:endParaRPr lang="en-US" sz="1400" dirty="0"/>
          </a:p>
          <a:p>
            <a:pPr marL="0" indent="0">
              <a:spcAft>
                <a:spcPts val="500"/>
              </a:spcAft>
              <a:buNone/>
            </a:pPr>
            <a:r>
              <a:rPr lang="en-US" sz="1400" b="1" dirty="0">
                <a:solidFill>
                  <a:srgbClr val="0B4F4A"/>
                </a:solidFill>
              </a:rPr>
              <a:t>Cipla: </a:t>
            </a:r>
            <a:r>
              <a:rPr lang="en-US" sz="1400" dirty="0">
                <a:solidFill>
                  <a:srgbClr val="1D2B2A"/>
                </a:solidFill>
              </a:rPr>
              <a:t>growth slowed from 13.3% (FY24) to 6.9% and 2.2%, in line with the slower US market described by ICRA.</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TREND ANALYSIS | PROFITABILITY</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Profitability: Lupin's EBITDA margin more than doubled to 29.2% while Dr. Reddy's fell to 20.2%; FY22 profits were hit by US settlements</a:t>
            </a:r>
            <a:endParaRPr lang="en-US" sz="2400" dirty="0"/>
          </a:p>
        </p:txBody>
      </p:sp>
      <p:graphicFrame>
        <p:nvGraphicFramePr>
          <p:cNvPr id="4" name="Chart 0"/>
          <p:cNvGraphicFramePr/>
          <p:nvPr/>
        </p:nvGraphicFramePr>
        <p:xfrm>
          <a:off x="457200" y="1371600"/>
          <a:ext cx="5486400" cy="2331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45352" y="1371600"/>
          <a:ext cx="5486400" cy="23317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3767328"/>
          <a:ext cx="5486400" cy="1325880"/>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65176">
                <a:tc>
                  <a:txBody>
                    <a:bodyPr/>
                    <a:lstStyle/>
                    <a:p>
                      <a:pPr marL="0" indent="0" algn="l">
                        <a:buNone/>
                      </a:pPr>
                      <a:r>
                        <a:rPr lang="en-US" sz="1100" b="1" dirty="0">
                          <a:solidFill>
                            <a:srgbClr val="FFFFFF"/>
                          </a:solidFill>
                        </a:rPr>
                        <a:t>EBITDA margin</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Change</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65176">
                <a:tc>
                  <a:txBody>
                    <a:bodyPr/>
                    <a:lstStyle/>
                    <a:p>
                      <a:pPr marL="0" indent="0" algn="l">
                        <a:buNone/>
                      </a:pPr>
                      <a:r>
                        <a:rPr lang="en-US" sz="1150" b="1" dirty="0">
                          <a:solidFill>
                            <a:srgbClr val="0B4F4A"/>
                          </a:solidFill>
                        </a:rPr>
                        <a:t>Sun Pharma</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26.8%</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28.2%</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 pts</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lgn="l">
                        <a:buNone/>
                      </a:pPr>
                      <a:r>
                        <a:rPr lang="en-US" sz="1150" b="1" dirty="0">
                          <a:solidFill>
                            <a:srgbClr val="1D2B2A"/>
                          </a:solidFill>
                        </a:rPr>
                        <a:t>Dr. Reddy's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 pts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lgn="l">
                        <a:buNone/>
                      </a:pPr>
                      <a:r>
                        <a:rPr lang="en-US" sz="1150" b="1" dirty="0">
                          <a:solidFill>
                            <a:srgbClr val="B5472A"/>
                          </a:solidFill>
                        </a:rPr>
                        <a:t>Lupin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29.2%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16.4 pts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lgn="l">
                        <a:buNone/>
                      </a:pPr>
                      <a:r>
                        <a:rPr lang="en-US" sz="1150" b="1" dirty="0">
                          <a:solidFill>
                            <a:srgbClr val="1D2B2A"/>
                          </a:solidFill>
                        </a:rPr>
                        <a:t>Cipla</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 pts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245352" y="3767328"/>
          <a:ext cx="5486400" cy="1325880"/>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65176">
                <a:tc>
                  <a:txBody>
                    <a:bodyPr/>
                    <a:lstStyle/>
                    <a:p>
                      <a:pPr marL="0" indent="0" algn="l">
                        <a:buNone/>
                      </a:pPr>
                      <a:r>
                        <a:rPr lang="en-US" sz="1100" b="1" dirty="0">
                          <a:solidFill>
                            <a:srgbClr val="FFFFFF"/>
                          </a:solidFill>
                        </a:rPr>
                        <a:t>PAT margin</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Change</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65176">
                <a:tc>
                  <a:txBody>
                    <a:bodyPr/>
                    <a:lstStyle/>
                    <a:p>
                      <a:pPr marL="0" indent="0" algn="l">
                        <a:buNone/>
                      </a:pPr>
                      <a:r>
                        <a:rPr lang="en-US" sz="1150" b="1" dirty="0">
                          <a:solidFill>
                            <a:srgbClr val="0B4F4A"/>
                          </a:solidFill>
                        </a:rPr>
                        <a:t>Sun Pharma</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8.5%</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19.6%</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11.2 pts</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lgn="l">
                        <a:buNone/>
                      </a:pPr>
                      <a:r>
                        <a:rPr lang="en-US" sz="1150" b="1" dirty="0">
                          <a:solidFill>
                            <a:srgbClr val="1D2B2A"/>
                          </a:solidFill>
                        </a:rPr>
                        <a:t>Dr. Reddy's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 pts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lgn="l">
                        <a:buNone/>
                      </a:pPr>
                      <a:r>
                        <a:rPr lang="en-US" sz="1150" b="1" dirty="0">
                          <a:solidFill>
                            <a:srgbClr val="B5472A"/>
                          </a:solidFill>
                        </a:rPr>
                        <a:t>Lupin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28.4 pts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lgn="l">
                        <a:buNone/>
                      </a:pPr>
                      <a:r>
                        <a:rPr lang="en-US" sz="1150" b="1" dirty="0">
                          <a:solidFill>
                            <a:srgbClr val="1D2B2A"/>
                          </a:solidFill>
                        </a:rPr>
                        <a:t>Cipla</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 pts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2"/>
          <p:cNvSpPr txBox="1"/>
          <p:nvPr/>
        </p:nvSpPr>
        <p:spPr>
          <a:xfrm>
            <a:off x="457200" y="5349240"/>
            <a:ext cx="11274552" cy="1005840"/>
          </a:xfrm>
          <a:prstGeom prst="rect">
            <a:avLst/>
          </a:prstGeom>
          <a:noFill/>
          <a:ln/>
        </p:spPr>
        <p:txBody>
          <a:bodyPr wrap="square" lIns="0" tIns="0" rIns="0" bIns="0" rtlCol="0" anchor="t"/>
          <a:lstStyle/>
          <a:p>
            <a:pPr marL="0" indent="0">
              <a:spcAft>
                <a:spcPts val="300"/>
              </a:spcAft>
              <a:buNone/>
            </a:pPr>
            <a:r>
              <a:rPr lang="en-US" sz="1300" b="1" dirty="0">
                <a:solidFill>
                  <a:srgbClr val="0B4F4A"/>
                </a:solidFill>
              </a:rPr>
              <a:t>FY22 base: </a:t>
            </a:r>
            <a:r>
              <a:rPr lang="en-US" sz="1300" dirty="0">
                <a:solidFill>
                  <a:srgbClr val="1D2B2A"/>
                </a:solidFill>
              </a:rPr>
              <a:t>Sun's exceptional charges of ₹4,567 cr (mainly US antitrust settlement provisions) and Lupin's ₹1,878 cr settlement cut FY22 PAT margins to 8.5% and (9.3%).</a:t>
            </a:r>
            <a:endParaRPr lang="en-US" sz="1300" dirty="0"/>
          </a:p>
          <a:p>
            <a:pPr marL="0" indent="0">
              <a:spcAft>
                <a:spcPts val="300"/>
              </a:spcAft>
              <a:buNone/>
            </a:pPr>
            <a:r>
              <a:rPr lang="en-US" sz="1300" b="1" dirty="0">
                <a:solidFill>
                  <a:srgbClr val="0B4F4A"/>
                </a:solidFill>
              </a:rPr>
              <a:t>Peak and fall: </a:t>
            </a:r>
            <a:r>
              <a:rPr lang="en-US" sz="1300" dirty="0">
                <a:solidFill>
                  <a:srgbClr val="1D2B2A"/>
                </a:solidFill>
              </a:rPr>
              <a:t>margins peaked in FY24 (Dr. Reddy's 28.3%) and FY25 (Cipla 25.9%); Cipla's FY26 employee and other expenses grew about 10% against revenue growth of 2.2%.</a:t>
            </a:r>
            <a:endParaRPr lang="en-US" sz="1300" dirty="0"/>
          </a:p>
          <a:p>
            <a:pPr marL="0" indent="0">
              <a:spcAft>
                <a:spcPts val="300"/>
              </a:spcAft>
              <a:buNone/>
            </a:pPr>
            <a:r>
              <a:rPr lang="en-US" sz="1300" b="1" dirty="0">
                <a:solidFill>
                  <a:srgbClr val="0B4F4A"/>
                </a:solidFill>
              </a:rPr>
              <a:t>Tax: </a:t>
            </a:r>
            <a:r>
              <a:rPr lang="en-US" sz="1300" dirty="0">
                <a:solidFill>
                  <a:srgbClr val="1D2B2A"/>
                </a:solidFill>
              </a:rPr>
              <a:t>Sun's effective tax rate rose from 12.7% to 24.0%, holding its PAT margin near 20% although EBITDA margin rose.</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TREND ANALYSIS | CASH FLOW</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Cash flow: all four earned more cash than profit (CFO / PAT 1.1x to 1.7x); Sun Pharma's five-year free cash flow of ₹41,050 cr is the largest</a:t>
            </a:r>
            <a:endParaRPr lang="en-US" sz="2400" dirty="0"/>
          </a:p>
        </p:txBody>
      </p:sp>
      <p:graphicFrame>
        <p:nvGraphicFramePr>
          <p:cNvPr id="4" name="Chart 0"/>
          <p:cNvGraphicFramePr/>
          <p:nvPr/>
        </p:nvGraphicFramePr>
        <p:xfrm>
          <a:off x="457200" y="1371600"/>
          <a:ext cx="475488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8" name="CF five-year"/>
          <p:cNvGraphicFramePr>
            <a:graphicFrameLocks noGrp="1"/>
          </p:cNvGraphicFramePr>
          <p:nvPr>
            <p:extLst>
              <p:ext uri="{D42A27DB-BD31-4B8C-83A1-F6EECF244321}">
                <p14:modId xmlns:p14="http://schemas.microsoft.com/office/powerpoint/2010/main" val="1579011935"/>
              </p:ext>
            </p:extLst>
          </p:nvPr>
        </p:nvGraphicFramePr>
        <p:xfrm>
          <a:off x="5486400" y="1463040"/>
          <a:ext cx="6245352" cy="1432560"/>
        </p:xfrm>
        <a:graphic>
          <a:graphicData uri="http://schemas.openxmlformats.org/drawingml/2006/table">
            <a:tbl>
              <a:tblPr/>
              <a:tblGrid>
                <a:gridCol w="121615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274320">
                <a:tc>
                  <a:txBody>
                    <a:bodyPr/>
                    <a:lstStyle/>
                    <a:p>
                      <a:pPr marL="0" indent="0" algn="l">
                        <a:buNone/>
                      </a:pPr>
                      <a:r>
                        <a:rPr lang="en-US" sz="1100" b="1" dirty="0">
                          <a:solidFill>
                            <a:srgbClr val="FFFFFF"/>
                          </a:solidFill>
                        </a:rPr>
                        <a:t>Five years, ₹ cr</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CFO</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Capex</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Acquisitions</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Dividends</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Free cash flow</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CFO / PAT</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74320">
                <a:tc>
                  <a:txBody>
                    <a:bodyPr/>
                    <a:lstStyle/>
                    <a:p>
                      <a:pPr marL="0" indent="0" algn="l">
                        <a:buNone/>
                      </a:pPr>
                      <a:r>
                        <a:rPr lang="en-US" sz="1150" b="1" dirty="0">
                          <a:solidFill>
                            <a:srgbClr val="1D2B2A"/>
                          </a:solidFill>
                        </a:rPr>
                        <a:t>Sun Pharma</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52,570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(11,520)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(9,247)</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(15,124)</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41,050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1.20x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l">
                        <a:buNone/>
                      </a:pPr>
                      <a:r>
                        <a:rPr lang="en-US" sz="1150" b="1" dirty="0">
                          <a:solidFill>
                            <a:srgbClr val="1D2B2A"/>
                          </a:solidFill>
                        </a:rPr>
                        <a:t>Dr. Reddy's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23,558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(13,815)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(5,657)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(2,909)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9,743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1.07x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1150" b="1" dirty="0">
                          <a:solidFill>
                            <a:srgbClr val="1D2B2A"/>
                          </a:solidFill>
                        </a:rPr>
                        <a:t>Lupin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16,247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(7,071)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(766)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(1,574)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9,176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1150" b="1" dirty="0">
                          <a:solidFill>
                            <a:srgbClr val="1D2B2A"/>
                          </a:solidFill>
                        </a:rPr>
                        <a:t>Cipla</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19,642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(7,861)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(617)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(3,835)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11,782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5" name="CF FY26"/>
          <p:cNvGraphicFramePr>
            <a:graphicFrameLocks noGrp="1"/>
          </p:cNvGraphicFramePr>
          <p:nvPr>
            <p:extLst>
              <p:ext uri="{D42A27DB-BD31-4B8C-83A1-F6EECF244321}">
                <p14:modId xmlns:p14="http://schemas.microsoft.com/office/powerpoint/2010/main" val="1579011935"/>
              </p:ext>
            </p:extLst>
          </p:nvPr>
        </p:nvGraphicFramePr>
        <p:xfrm>
          <a:off x="5486400" y="3154680"/>
          <a:ext cx="6245352" cy="1371600"/>
        </p:xfrm>
        <a:graphic>
          <a:graphicData uri="http://schemas.openxmlformats.org/drawingml/2006/table">
            <a:tbl>
              <a:tblPr/>
              <a:tblGrid>
                <a:gridCol w="1216152">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274320">
                <a:tc>
                  <a:txBody>
                    <a:bodyPr/>
                    <a:lstStyle/>
                    <a:p>
                      <a:pPr marL="0" indent="0" algn="l">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CFO</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Capex</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FCF</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Capex growth</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Payout</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274320">
                <a:tc>
                  <a:txBody>
                    <a:bodyPr/>
                    <a:lstStyle/>
                    <a:p>
                      <a:pPr marL="0" indent="0" algn="l">
                        <a:buNone/>
                      </a:pPr>
                      <a:r>
                        <a:rPr lang="en-US" sz="1150" b="1" dirty="0">
                          <a:solidFill>
                            <a:srgbClr val="1D2B2A"/>
                          </a:solidFill>
                        </a:rPr>
                        <a:t>Sun Pharma</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12,419</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(3,609)</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8,810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34%</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l">
                        <a:buNone/>
                      </a:pPr>
                      <a:r>
                        <a:rPr lang="en-US" sz="1150" b="1" dirty="0">
                          <a:solidFill>
                            <a:srgbClr val="1D2B2A"/>
                          </a:solidFill>
                        </a:rPr>
                        <a:t>Dr. Reddy's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5,674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(3,841)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1,833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1150" b="1" dirty="0">
                          <a:solidFill>
                            <a:srgbClr val="1D2B2A"/>
                          </a:solidFill>
                        </a:rPr>
                        <a:t>Lupin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7,335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(2,055)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5,280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1150" b="1" dirty="0">
                          <a:solidFill>
                            <a:srgbClr val="1D2B2A"/>
                          </a:solidFill>
                        </a:rPr>
                        <a:t>Cipla</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3,940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(3,079)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861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2"/>
          <p:cNvSpPr txBox="1"/>
          <p:nvPr/>
        </p:nvSpPr>
        <p:spPr>
          <a:xfrm>
            <a:off x="457200" y="4892040"/>
            <a:ext cx="11274552" cy="1463040"/>
          </a:xfrm>
          <a:prstGeom prst="rect">
            <a:avLst/>
          </a:prstGeom>
          <a:noFill/>
          <a:ln/>
        </p:spPr>
        <p:txBody>
          <a:bodyPr wrap="square" lIns="0" tIns="0" rIns="0" bIns="0" rtlCol="0" anchor="t"/>
          <a:lstStyle/>
          <a:p>
            <a:pPr marL="0" indent="0">
              <a:spcAft>
                <a:spcPts val="400"/>
              </a:spcAft>
              <a:buNone/>
            </a:pPr>
            <a:r>
              <a:rPr lang="en-US" sz="1350" b="1" dirty="0">
                <a:solidFill>
                  <a:srgbClr val="0B4F4A"/>
                </a:solidFill>
              </a:rPr>
              <a:t>Capex up everywhere in FY26: </a:t>
            </a:r>
            <a:r>
              <a:rPr lang="en-US" sz="1350" dirty="0">
                <a:solidFill>
                  <a:srgbClr val="1D2B2A"/>
                </a:solidFill>
              </a:rPr>
              <a:t>Sun Pharma 70%, Dr. Reddy's 12%, Lupin 22%, Cipla 99%. FY26 free cash flow fell at Sun and Cipla and rose at Lupin and Dr. Reddy's.</a:t>
            </a:r>
            <a:endParaRPr lang="en-US" sz="1350" dirty="0"/>
          </a:p>
          <a:p>
            <a:pPr marL="0" indent="0">
              <a:spcAft>
                <a:spcPts val="400"/>
              </a:spcAft>
              <a:buNone/>
            </a:pPr>
            <a:r>
              <a:rPr lang="en-US" sz="1350" b="1" dirty="0">
                <a:solidFill>
                  <a:srgbClr val="0B4F4A"/>
                </a:solidFill>
              </a:rPr>
              <a:t>Dividends: </a:t>
            </a:r>
            <a:r>
              <a:rPr lang="en-US" sz="1350" dirty="0">
                <a:solidFill>
                  <a:srgbClr val="1D2B2A"/>
                </a:solidFill>
              </a:rPr>
              <a:t>paid out 34% (Sun) and 33% (Cipla) of FY26 PAT, against 16% at Dr. Reddy's and 10% at Lupin.</a:t>
            </a:r>
            <a:endParaRPr lang="en-US" sz="1350" dirty="0"/>
          </a:p>
          <a:p>
            <a:pPr marL="0" indent="0">
              <a:spcAft>
                <a:spcPts val="400"/>
              </a:spcAft>
              <a:buNone/>
            </a:pPr>
            <a:r>
              <a:rPr lang="en-US" sz="1350" b="1" dirty="0">
                <a:solidFill>
                  <a:srgbClr val="0B4F4A"/>
                </a:solidFill>
              </a:rPr>
              <a:t>Settlements and deals: </a:t>
            </a:r>
            <a:r>
              <a:rPr lang="en-US" sz="1350" dirty="0">
                <a:solidFill>
                  <a:srgbClr val="1D2B2A"/>
                </a:solidFill>
              </a:rPr>
              <a:t>Sun's FY23 CFO fell to ₹4,959 cr as the US settlement was paid; Lupin's FY22 CFO was ₹367 cr; Dr. Reddy's FY25 acquisitions took ₹5,310 cr (Haleon NRT).</a:t>
            </a:r>
            <a:endParaRPr lang="en-US" sz="13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VERTICAL ANALYSIS | INCOME STATEMENT</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Income statement as % of revenue: Sun and Lupin keep 28% and 27% as pre-exceptional profit; Dr. Reddy's keeps 16%</a:t>
            </a:r>
            <a:endParaRPr lang="en-US" sz="2400" dirty="0"/>
          </a:p>
        </p:txBody>
      </p:sp>
      <p:graphicFrame>
        <p:nvGraphicFramePr>
          <p:cNvPr id="29" name="Common-size P&amp;L"/>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3387852"/>
        </p:xfrm>
        <a:graphic>
          <a:graphicData uri="http://schemas.openxmlformats.org/drawingml/2006/table">
            <a:tbl>
              <a:tblPr/>
              <a:tblGrid>
                <a:gridCol w="2862072">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gridCol w="1051560">
                  <a:extLst>
                    <a:ext uri="{9D8B030D-6E8A-4147-A177-3AD203B41FA5}">
                      <a16:colId xmlns:a16="http://schemas.microsoft.com/office/drawing/2014/main" val="20007"/>
                    </a:ext>
                  </a:extLst>
                </a:gridCol>
                <a:gridCol w="1051560">
                  <a:extLst>
                    <a:ext uri="{9D8B030D-6E8A-4147-A177-3AD203B41FA5}">
                      <a16:colId xmlns:a16="http://schemas.microsoft.com/office/drawing/2014/main" val="20008"/>
                    </a:ext>
                  </a:extLst>
                </a:gridCol>
              </a:tblGrid>
              <a:tr h="260604">
                <a:tc rowSpan="2">
                  <a:txBody>
                    <a:bodyPr/>
                    <a:lstStyle/>
                    <a:p>
                      <a:pPr marL="0" indent="0" algn="l">
                        <a:buNone/>
                      </a:pPr>
                      <a:r>
                        <a:rPr lang="en-US" sz="1150" b="1" dirty="0">
                          <a:solidFill>
                            <a:srgbClr val="FFFFFF"/>
                          </a:solidFill>
                        </a:rPr>
                        <a:t>% of revenue</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gridSpan="2">
                  <a:txBody>
                    <a:bodyPr/>
                    <a:lstStyle/>
                    <a:p>
                      <a:pPr marL="0" indent="0" algn="ctr">
                        <a:buNone/>
                      </a:pPr>
                      <a:r>
                        <a:rPr lang="en-US" sz="1150" b="1" dirty="0">
                          <a:solidFill>
                            <a:srgbClr val="FFFFFF"/>
                          </a:solidFill>
                        </a:rPr>
                        <a:t>Sun Pharma</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Dr. Reddy's</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Lupin</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Cipla</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extLst>
                  <a:ext uri="{0D108BD9-81ED-4DB2-BD59-A6C34878D82A}">
                    <a16:rowId xmlns:a16="http://schemas.microsoft.com/office/drawing/2014/main" val="10000"/>
                  </a:ext>
                </a:extLst>
              </a:tr>
              <a:tr h="260604">
                <a:tc vMerge="1">
                  <a:txBody>
                    <a:bodyPr/>
                    <a:lstStyle/>
                    <a:p>
                      <a:endParaRPr lang="en-US"/>
                    </a:p>
                  </a:txBody>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1"/>
                  </a:ext>
                </a:extLst>
              </a:tr>
              <a:tr h="260604">
                <a:tc>
                  <a:txBody>
                    <a:bodyPr/>
                    <a:lstStyle/>
                    <a:p>
                      <a:pPr marL="0" indent="0" algn="l">
                        <a:buNone/>
                      </a:pPr>
                      <a:r>
                        <a:rPr lang="en-US" sz="1150" b="1" dirty="0">
                          <a:solidFill>
                            <a:srgbClr val="1D2B2A"/>
                          </a:solidFill>
                        </a:rPr>
                        <a:t>Revenue from operations</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100.0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100.0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100.0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100.0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100.0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100.0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100.0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100.0</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60604">
                <a:tc>
                  <a:txBody>
                    <a:bodyPr/>
                    <a:lstStyle/>
                    <a:p>
                      <a:pPr marL="0" indent="0" algn="l">
                        <a:buNone/>
                      </a:pPr>
                      <a:r>
                        <a:rPr lang="en-US" sz="1150" b="1" dirty="0">
                          <a:solidFill>
                            <a:srgbClr val="1D2B2A"/>
                          </a:solidFill>
                        </a:rPr>
                        <a:t>Core EBITDA (before forex)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26.8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20.2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12.8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29.2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21.0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60604">
                <a:tc>
                  <a:txBody>
                    <a:bodyPr/>
                    <a:lstStyle/>
                    <a:p>
                      <a:pPr marL="0" indent="0" algn="l">
                        <a:buNone/>
                      </a:pPr>
                      <a:r>
                        <a:rPr lang="en-US" sz="1150" dirty="0">
                          <a:solidFill>
                            <a:srgbClr val="1D2B2A"/>
                          </a:solidFill>
                        </a:rPr>
                        <a:t>Net forex gain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260604">
                <a:tc>
                  <a:txBody>
                    <a:bodyPr/>
                    <a:lstStyle/>
                    <a:p>
                      <a:pPr marL="0" indent="0" algn="l">
                        <a:buNone/>
                      </a:pPr>
                      <a:r>
                        <a:rPr lang="en-US" sz="1150" dirty="0">
                          <a:solidFill>
                            <a:srgbClr val="1D2B2A"/>
                          </a:solidFill>
                        </a:rPr>
                        <a:t>Other income</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260604">
                <a:tc>
                  <a:txBody>
                    <a:bodyPr/>
                    <a:lstStyle/>
                    <a:p>
                      <a:pPr marL="0" indent="0" algn="l">
                        <a:buNone/>
                      </a:pPr>
                      <a:r>
                        <a:rPr lang="en-US" sz="1150" dirty="0">
                          <a:solidFill>
                            <a:srgbClr val="1D2B2A"/>
                          </a:solidFill>
                        </a:rPr>
                        <a:t>Depreciation and impairment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260604">
                <a:tc>
                  <a:txBody>
                    <a:bodyPr/>
                    <a:lstStyle/>
                    <a:p>
                      <a:pPr marL="0" indent="0" algn="l">
                        <a:buNone/>
                      </a:pPr>
                      <a:r>
                        <a:rPr lang="en-US" sz="1150" dirty="0">
                          <a:solidFill>
                            <a:srgbClr val="1D2B2A"/>
                          </a:solidFill>
                        </a:rPr>
                        <a:t>Finance costs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260604">
                <a:tc>
                  <a:txBody>
                    <a:bodyPr/>
                    <a:lstStyle/>
                    <a:p>
                      <a:pPr marL="0" indent="0" algn="l">
                        <a:buNone/>
                      </a:pPr>
                      <a:r>
                        <a:rPr lang="en-US" sz="1150" b="1" dirty="0">
                          <a:solidFill>
                            <a:srgbClr val="1D2B2A"/>
                          </a:solidFill>
                        </a:rPr>
                        <a:t>PBT before exceptional items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23.4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28.1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13.9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26.6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19.5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260604">
                <a:tc>
                  <a:txBody>
                    <a:bodyPr/>
                    <a:lstStyle/>
                    <a:p>
                      <a:pPr marL="0" indent="0" algn="l">
                        <a:buNone/>
                      </a:pPr>
                      <a:r>
                        <a:rPr lang="en-US" sz="1150" dirty="0">
                          <a:solidFill>
                            <a:srgbClr val="1D2B2A"/>
                          </a:solidFill>
                        </a:rPr>
                        <a:t>Exceptional items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260604">
                <a:tc>
                  <a:txBody>
                    <a:bodyPr/>
                    <a:lstStyle/>
                    <a:p>
                      <a:pPr marL="0" indent="0" algn="l">
                        <a:buNone/>
                      </a:pPr>
                      <a:r>
                        <a:rPr lang="en-US" sz="1150" dirty="0">
                          <a:solidFill>
                            <a:srgbClr val="1D2B2A"/>
                          </a:solidFill>
                        </a:rPr>
                        <a:t>Tax expense</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260604">
                <a:tc>
                  <a:txBody>
                    <a:bodyPr/>
                    <a:lstStyle/>
                    <a:p>
                      <a:pPr marL="0" indent="0" algn="l">
                        <a:buNone/>
                      </a:pPr>
                      <a:r>
                        <a:rPr lang="en-US" sz="1150" dirty="0">
                          <a:solidFill>
                            <a:srgbClr val="1D2B2A"/>
                          </a:solidFill>
                        </a:rPr>
                        <a:t>Associates, minorities and other</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260604">
                <a:tc>
                  <a:txBody>
                    <a:bodyPr/>
                    <a:lstStyle/>
                    <a:p>
                      <a:pPr marL="0" indent="0" algn="l">
                        <a:buNone/>
                      </a:pPr>
                      <a:r>
                        <a:rPr lang="en-US" sz="1150" b="1" dirty="0">
                          <a:solidFill>
                            <a:srgbClr val="1D2B2A"/>
                          </a:solidFill>
                        </a:rPr>
                        <a:t>PAT attributable to owners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150" b="1" dirty="0">
                          <a:solidFill>
                            <a:srgbClr val="1D2B2A"/>
                          </a:solidFill>
                        </a:rPr>
                        <a:t>8.5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150" b="1" dirty="0">
                          <a:solidFill>
                            <a:srgbClr val="1D2B2A"/>
                          </a:solidFill>
                        </a:rPr>
                        <a:t>19.6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150" b="1" dirty="0">
                          <a:solidFill>
                            <a:srgbClr val="1D2B2A"/>
                          </a:solidFill>
                        </a:rPr>
                        <a:t>10.1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150" b="1" dirty="0">
                          <a:solidFill>
                            <a:srgbClr val="1D2B2A"/>
                          </a:solidFill>
                        </a:rPr>
                        <a:t>12.5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150" b="1" dirty="0">
                          <a:solidFill>
                            <a:srgbClr val="1D2B2A"/>
                          </a:solidFill>
                        </a:rPr>
                        <a:t>(9.3)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150" b="1" dirty="0">
                          <a:solidFill>
                            <a:srgbClr val="1D2B2A"/>
                          </a:solidFill>
                        </a:rPr>
                        <a:t>19.1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150" b="1" dirty="0">
                          <a:solidFill>
                            <a:srgbClr val="1D2B2A"/>
                          </a:solidFill>
                        </a:rPr>
                        <a:t>11.6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r">
                        <a:buNone/>
                      </a:pPr>
                      <a:r>
                        <a:rPr lang="en-US" sz="1150" b="1" dirty="0">
                          <a:solidFill>
                            <a:srgbClr val="1D2B2A"/>
                          </a:solidFill>
                        </a:rPr>
                        <a:t>13.8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extLst>
                  <a:ext uri="{0D108BD9-81ED-4DB2-BD59-A6C34878D82A}">
                    <a16:rowId xmlns:a16="http://schemas.microsoft.com/office/drawing/2014/main" val="10012"/>
                  </a:ext>
                </a:extLst>
              </a:tr>
            </a:tbl>
          </a:graphicData>
        </a:graphic>
      </p:graphicFrame>
      <p:sp>
        <p:nvSpPr>
          <p:cNvPr id="5" name="Text 2"/>
          <p:cNvSpPr txBox="1"/>
          <p:nvPr/>
        </p:nvSpPr>
        <p:spPr>
          <a:xfrm>
            <a:off x="457200" y="5120640"/>
            <a:ext cx="11274552" cy="1188720"/>
          </a:xfrm>
          <a:prstGeom prst="rect">
            <a:avLst/>
          </a:prstGeom>
          <a:noFill/>
          <a:ln/>
        </p:spPr>
        <p:txBody>
          <a:bodyPr wrap="square" lIns="0" tIns="0" rIns="0" bIns="0" rtlCol="0" anchor="t"/>
          <a:lstStyle/>
          <a:p>
            <a:pPr marL="0" indent="0">
              <a:spcAft>
                <a:spcPts val="300"/>
              </a:spcAft>
              <a:buNone/>
            </a:pPr>
            <a:r>
              <a:rPr lang="en-US" sz="1300" b="1" dirty="0">
                <a:solidFill>
                  <a:srgbClr val="0B4F4A"/>
                </a:solidFill>
              </a:rPr>
              <a:t>Settlements and impairments: </a:t>
            </a:r>
            <a:r>
              <a:rPr lang="en-US" sz="1300" dirty="0">
                <a:solidFill>
                  <a:srgbClr val="1D2B2A"/>
                </a:solidFill>
              </a:rPr>
              <a:t>exceptional items were 11.8% (Sun) and 11.4% (Lupin) of FY22 revenue and about 2% in FY26; depreciation and impairment fell from 10.1% to 4.9% at Lupin and 9.7% to 7.2% at Dr. Reddy's.</a:t>
            </a:r>
            <a:endParaRPr lang="en-US" sz="1300" dirty="0"/>
          </a:p>
          <a:p>
            <a:pPr marL="0" indent="0">
              <a:spcAft>
                <a:spcPts val="300"/>
              </a:spcAft>
              <a:buNone/>
            </a:pPr>
            <a:r>
              <a:rPr lang="en-US" sz="1300" b="1" dirty="0">
                <a:solidFill>
                  <a:srgbClr val="0B4F4A"/>
                </a:solidFill>
              </a:rPr>
              <a:t>Other income: </a:t>
            </a:r>
            <a:r>
              <a:rPr lang="en-US" sz="1300" dirty="0">
                <a:solidFill>
                  <a:srgbClr val="1D2B2A"/>
                </a:solidFill>
              </a:rPr>
              <a:t>4.0% of Dr. Reddy's revenue, equal to 25% of its pre-exceptional profit; 3.4% at Sun and 3.1% at Cipla.</a:t>
            </a:r>
            <a:endParaRPr lang="en-US" sz="1300" dirty="0"/>
          </a:p>
          <a:p>
            <a:pPr marL="0" indent="0">
              <a:spcAft>
                <a:spcPts val="300"/>
              </a:spcAft>
              <a:buNone/>
            </a:pPr>
            <a:r>
              <a:rPr lang="en-US" sz="1300" b="1" dirty="0">
                <a:solidFill>
                  <a:srgbClr val="0B4F4A"/>
                </a:solidFill>
              </a:rPr>
              <a:t>Finance costs: </a:t>
            </a:r>
            <a:r>
              <a:rPr lang="en-US" sz="1300" dirty="0">
                <a:solidFill>
                  <a:srgbClr val="1D2B2A"/>
                </a:solidFill>
              </a:rPr>
              <a:t>rose to 1.1% (Dr. Reddy's) and 1.6% (Lupin) of revenue; only 0.2% at Cipla.</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VERTICAL ANALYSIS | BALANCE SHEET</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Balance sheet as % of total assets: equity funds 59% to 81% of assets; Sun, Lupin and Cipla hold 21% to 30% in cash and investments</a:t>
            </a:r>
            <a:endParaRPr lang="en-US" sz="2400" dirty="0"/>
          </a:p>
        </p:txBody>
      </p:sp>
      <p:graphicFrame>
        <p:nvGraphicFramePr>
          <p:cNvPr id="30" name="Common-size BS"/>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3291840"/>
        </p:xfrm>
        <a:graphic>
          <a:graphicData uri="http://schemas.openxmlformats.org/drawingml/2006/table">
            <a:tbl>
              <a:tblPr/>
              <a:tblGrid>
                <a:gridCol w="2862072">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gridCol w="1051560">
                  <a:extLst>
                    <a:ext uri="{9D8B030D-6E8A-4147-A177-3AD203B41FA5}">
                      <a16:colId xmlns:a16="http://schemas.microsoft.com/office/drawing/2014/main" val="20007"/>
                    </a:ext>
                  </a:extLst>
                </a:gridCol>
                <a:gridCol w="1051560">
                  <a:extLst>
                    <a:ext uri="{9D8B030D-6E8A-4147-A177-3AD203B41FA5}">
                      <a16:colId xmlns:a16="http://schemas.microsoft.com/office/drawing/2014/main" val="20008"/>
                    </a:ext>
                  </a:extLst>
                </a:gridCol>
              </a:tblGrid>
              <a:tr h="274320">
                <a:tc rowSpan="2">
                  <a:txBody>
                    <a:bodyPr/>
                    <a:lstStyle/>
                    <a:p>
                      <a:pPr marL="0" indent="0" algn="l">
                        <a:buNone/>
                      </a:pPr>
                      <a:r>
                        <a:rPr lang="en-US" sz="1150" b="1" dirty="0">
                          <a:solidFill>
                            <a:srgbClr val="FFFFFF"/>
                          </a:solidFill>
                        </a:rPr>
                        <a:t>% of total assets</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gridSpan="2">
                  <a:txBody>
                    <a:bodyPr/>
                    <a:lstStyle/>
                    <a:p>
                      <a:pPr marL="0" indent="0" algn="ctr">
                        <a:buNone/>
                      </a:pPr>
                      <a:r>
                        <a:rPr lang="en-US" sz="1150" b="1" dirty="0">
                          <a:solidFill>
                            <a:srgbClr val="FFFFFF"/>
                          </a:solidFill>
                        </a:rPr>
                        <a:t>Sun Pharma</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Dr. Reddy's</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Lupin</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Cipla</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extLst>
                  <a:ext uri="{0D108BD9-81ED-4DB2-BD59-A6C34878D82A}">
                    <a16:rowId xmlns:a16="http://schemas.microsoft.com/office/drawing/2014/main" val="10000"/>
                  </a:ext>
                </a:extLst>
              </a:tr>
              <a:tr h="274320">
                <a:tc vMerge="1">
                  <a:txBody>
                    <a:bodyPr/>
                    <a:lstStyle/>
                    <a:p>
                      <a:endParaRPr lang="en-US"/>
                    </a:p>
                  </a:txBody>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FY22</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1"/>
                  </a:ext>
                </a:extLst>
              </a:tr>
              <a:tr h="274320">
                <a:tc>
                  <a:txBody>
                    <a:bodyPr/>
                    <a:lstStyle/>
                    <a:p>
                      <a:pPr marL="0" indent="0" algn="l">
                        <a:buNone/>
                      </a:pPr>
                      <a:r>
                        <a:rPr lang="en-US" sz="1150" dirty="0">
                          <a:solidFill>
                            <a:srgbClr val="1D2B2A"/>
                          </a:solidFill>
                        </a:rPr>
                        <a:t>Non-current assets</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49.8</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41.3</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40.2</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48.1</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42.9</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37.4</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45.7</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43.2</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1150" dirty="0">
                          <a:solidFill>
                            <a:srgbClr val="1D2B2A"/>
                          </a:solidFill>
                        </a:rPr>
                        <a:t>Inventories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1150" dirty="0">
                          <a:solidFill>
                            <a:srgbClr val="1D2B2A"/>
                          </a:solidFill>
                        </a:rPr>
                        <a:t>Trade receivables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lgn="l">
                        <a:buNone/>
                      </a:pPr>
                      <a:r>
                        <a:rPr lang="en-US" sz="1150" dirty="0">
                          <a:solidFill>
                            <a:srgbClr val="1D2B2A"/>
                          </a:solidFill>
                        </a:rPr>
                        <a:t>Cash, bank and current investments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29.9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24.1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lgn="l">
                        <a:buNone/>
                      </a:pPr>
                      <a:r>
                        <a:rPr lang="en-US" sz="1150" dirty="0">
                          <a:solidFill>
                            <a:srgbClr val="1D2B2A"/>
                          </a:solidFill>
                        </a:rPr>
                        <a:t>Other current assets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lgn="l">
                        <a:buNone/>
                      </a:pPr>
                      <a:r>
                        <a:rPr lang="en-US" sz="1150" b="1" dirty="0">
                          <a:solidFill>
                            <a:srgbClr val="1D2B2A"/>
                          </a:solidFill>
                        </a:rPr>
                        <a:t>Total 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73.2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77.1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64.6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65.8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56.0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58.7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77.9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81.2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marL="0" indent="0" algn="l">
                        <a:buNone/>
                      </a:pPr>
                      <a:r>
                        <a:rPr lang="en-US" sz="1150" dirty="0">
                          <a:solidFill>
                            <a:srgbClr val="1D2B2A"/>
                          </a:solidFill>
                        </a:rPr>
                        <a:t>Borrowings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marL="0" indent="0" algn="l">
                        <a:buNone/>
                      </a:pPr>
                      <a:r>
                        <a:rPr lang="en-US" sz="1150" dirty="0">
                          <a:solidFill>
                            <a:srgbClr val="1D2B2A"/>
                          </a:solidFill>
                        </a:rPr>
                        <a:t>Trade payables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274320">
                <a:tc>
                  <a:txBody>
                    <a:bodyPr/>
                    <a:lstStyle/>
                    <a:p>
                      <a:pPr marL="0" indent="0" algn="l">
                        <a:buNone/>
                      </a:pPr>
                      <a:r>
                        <a:rPr lang="en-US" sz="1150" dirty="0">
                          <a:solidFill>
                            <a:srgbClr val="1D2B2A"/>
                          </a:solidFill>
                        </a:rPr>
                        <a:t>Current provisions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274320">
                <a:tc>
                  <a:txBody>
                    <a:bodyPr/>
                    <a:lstStyle/>
                    <a:p>
                      <a:pPr marL="0" indent="0" algn="l">
                        <a:buNone/>
                      </a:pPr>
                      <a:r>
                        <a:rPr lang="en-US" sz="1150" dirty="0">
                          <a:solidFill>
                            <a:srgbClr val="1D2B2A"/>
                          </a:solidFill>
                        </a:rPr>
                        <a:t>Other liabilities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5" name="Text 2"/>
          <p:cNvSpPr txBox="1"/>
          <p:nvPr/>
        </p:nvSpPr>
        <p:spPr>
          <a:xfrm>
            <a:off x="457200" y="4983480"/>
            <a:ext cx="11274552" cy="1325880"/>
          </a:xfrm>
          <a:prstGeom prst="rect">
            <a:avLst/>
          </a:prstGeom>
          <a:noFill/>
          <a:ln/>
        </p:spPr>
        <p:txBody>
          <a:bodyPr wrap="square" lIns="0" tIns="0" rIns="0" bIns="0" rtlCol="0" anchor="t"/>
          <a:lstStyle/>
          <a:p>
            <a:pPr marL="0" indent="0">
              <a:spcAft>
                <a:spcPts val="300"/>
              </a:spcAft>
              <a:buNone/>
            </a:pPr>
            <a:r>
              <a:rPr lang="en-US" sz="1350" b="1" dirty="0">
                <a:solidFill>
                  <a:srgbClr val="0B4F4A"/>
                </a:solidFill>
              </a:rPr>
              <a:t>Working-capital assets shrank: </a:t>
            </a:r>
            <a:r>
              <a:rPr lang="en-US" sz="1350" dirty="0">
                <a:solidFill>
                  <a:srgbClr val="1D2B2A"/>
                </a:solidFill>
              </a:rPr>
              <a:t>inventories plus receivables fell as a share of assets at all four (Lupin 40.8% to 33.1%, Dr. Reddy's 39.5% to 30.6%); the freed-up money went into cash and investments (Lupin 8.8% to 24.1%).</a:t>
            </a:r>
            <a:endParaRPr lang="en-US" sz="1350" dirty="0"/>
          </a:p>
          <a:p>
            <a:pPr marL="0" indent="0">
              <a:spcAft>
                <a:spcPts val="300"/>
              </a:spcAft>
              <a:buNone/>
            </a:pPr>
            <a:r>
              <a:rPr lang="en-US" sz="1350" b="1" dirty="0">
                <a:solidFill>
                  <a:srgbClr val="0B4F4A"/>
                </a:solidFill>
              </a:rPr>
              <a:t>Sun Pharma: </a:t>
            </a:r>
            <a:r>
              <a:rPr lang="en-US" sz="1350" dirty="0">
                <a:solidFill>
                  <a:srgbClr val="1D2B2A"/>
                </a:solidFill>
              </a:rPr>
              <a:t>provisions fell from 13.1% to 5.5% of assets once the US settlement was paid, and non-current assets from 49.8% to 41.3%.</a:t>
            </a:r>
            <a:endParaRPr lang="en-US" sz="1350" dirty="0"/>
          </a:p>
          <a:p>
            <a:pPr marL="0" indent="0">
              <a:spcAft>
                <a:spcPts val="300"/>
              </a:spcAft>
              <a:buNone/>
            </a:pPr>
            <a:r>
              <a:rPr lang="en-US" sz="1350" b="1" dirty="0">
                <a:solidFill>
                  <a:srgbClr val="0B4F4A"/>
                </a:solidFill>
              </a:rPr>
              <a:t>Leverage: </a:t>
            </a:r>
            <a:r>
              <a:rPr lang="en-US" sz="1350" dirty="0">
                <a:solidFill>
                  <a:srgbClr val="1D2B2A"/>
                </a:solidFill>
              </a:rPr>
              <a:t>borrowings are 15.4% of assets at Lupin and 10.8% at Dr. Reddy's, against 3.8% at Sun and 0.6% at Cipla; Dr. Reddy's non-current assets rose to 48.1% after the NRT acquisition.</a:t>
            </a:r>
            <a:endParaRPr lang="en-US" sz="13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RATIO ANALYSIS | COMPARISON</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Ratios compared: Lupin leads on returns, Sun on cash and profit margin, Cipla on liquidity and low debt; Dr. Reddy's trails on most measures</a:t>
            </a:r>
            <a:endParaRPr lang="en-US" sz="2400" dirty="0"/>
          </a:p>
        </p:txBody>
      </p:sp>
      <p:graphicFrame>
        <p:nvGraphicFramePr>
          <p:cNvPr id="31" name="Ratio comparison"/>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4169664"/>
        </p:xfrm>
        <a:graphic>
          <a:graphicData uri="http://schemas.openxmlformats.org/drawingml/2006/table">
            <a:tbl>
              <a:tblPr/>
              <a:tblGrid>
                <a:gridCol w="1097280">
                  <a:extLst>
                    <a:ext uri="{9D8B030D-6E8A-4147-A177-3AD203B41FA5}">
                      <a16:colId xmlns:a16="http://schemas.microsoft.com/office/drawing/2014/main" val="20000"/>
                    </a:ext>
                  </a:extLst>
                </a:gridCol>
                <a:gridCol w="2313432">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100584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gridCol w="914400">
                  <a:extLst>
                    <a:ext uri="{9D8B030D-6E8A-4147-A177-3AD203B41FA5}">
                      <a16:colId xmlns:a16="http://schemas.microsoft.com/office/drawing/2014/main" val="20009"/>
                    </a:ext>
                  </a:extLst>
                </a:gridCol>
              </a:tblGrid>
              <a:tr h="260604">
                <a:tc gridSpan="2">
                  <a:txBody>
                    <a:bodyPr/>
                    <a:lstStyle/>
                    <a:p>
                      <a:pPr marL="0" indent="0" algn="r">
                        <a:buNone/>
                      </a:pP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Sun Pharma</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Dr. Reddy's</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Lupin</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Cipla</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extLst>
                  <a:ext uri="{0D108BD9-81ED-4DB2-BD59-A6C34878D82A}">
                    <a16:rowId xmlns:a16="http://schemas.microsoft.com/office/drawing/2014/main" val="10000"/>
                  </a:ext>
                </a:extLst>
              </a:tr>
              <a:tr h="260604">
                <a:tc gridSpan="2">
                  <a:txBody>
                    <a:bodyPr/>
                    <a:lstStyle/>
                    <a:p>
                      <a:pPr marL="0" indent="0" algn="l">
                        <a:buNone/>
                      </a:pPr>
                      <a:r>
                        <a:rPr lang="en-US" sz="1100" b="1" dirty="0">
                          <a:solidFill>
                            <a:srgbClr val="FFFFFF"/>
                          </a:solidFill>
                        </a:rPr>
                        <a:t>Ratio</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5-yr avg</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5-yr avg</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5-yr avg</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FY26</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5-yr avg</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1"/>
                  </a:ext>
                </a:extLst>
              </a:tr>
              <a:tr h="260604">
                <a:tc rowSpan="2">
                  <a:txBody>
                    <a:bodyPr/>
                    <a:lstStyle/>
                    <a:p>
                      <a:pPr marL="0" indent="0" algn="l">
                        <a:buNone/>
                      </a:pPr>
                      <a:r>
                        <a:rPr lang="en-US" sz="1100" b="1" dirty="0">
                          <a:solidFill>
                            <a:srgbClr val="0B4F4A"/>
                          </a:solidFill>
                        </a:rPr>
                        <a:t>Liquidity</a:t>
                      </a:r>
                      <a:endParaRPr lang="en-US" sz="110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Current ratio</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2.82x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2.46x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1.80x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2.10x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1.90x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1.64x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3.44x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3.53x</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60604">
                <a:tc vMerge="1">
                  <a:txBody>
                    <a:bodyPr/>
                    <a:lstStyle/>
                    <a:p>
                      <a:endParaRPr lang="en-US"/>
                    </a:p>
                  </a:txBody>
                  <a:tcPr/>
                </a:tc>
                <a:tc>
                  <a:txBody>
                    <a:bodyPr/>
                    <a:lstStyle/>
                    <a:p>
                      <a:pPr marL="0" indent="0" algn="l">
                        <a:buNone/>
                      </a:pPr>
                      <a:r>
                        <a:rPr lang="en-US" sz="1150" b="1" dirty="0">
                          <a:solidFill>
                            <a:srgbClr val="1D2B2A"/>
                          </a:solidFill>
                        </a:rPr>
                        <a:t>Quick ratio</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2.31x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1.92x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1.55x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1.10x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2.50x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2.52x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60604">
                <a:tc rowSpan="2">
                  <a:txBody>
                    <a:bodyPr/>
                    <a:lstStyle/>
                    <a:p>
                      <a:pPr marL="0" indent="0" algn="l">
                        <a:buNone/>
                      </a:pPr>
                      <a:r>
                        <a:rPr lang="en-US" sz="1100" b="1" dirty="0">
                          <a:solidFill>
                            <a:srgbClr val="0B4F4A"/>
                          </a:solidFill>
                        </a:rPr>
                        <a:t>Solvency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Debt-equity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0.05x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0.05x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0.16x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0.11x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0.26x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0.28x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0.01x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0.02x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260604">
                <a:tc vMerge="1">
                  <a:txBody>
                    <a:bodyPr/>
                    <a:lstStyle/>
                    <a:p>
                      <a:endParaRPr lang="en-US"/>
                    </a:p>
                  </a:txBody>
                  <a:tcPr/>
                </a:tc>
                <a:tc>
                  <a:txBody>
                    <a:bodyPr/>
                    <a:lstStyle/>
                    <a:p>
                      <a:pPr marL="0" indent="0" algn="l">
                        <a:buNone/>
                      </a:pPr>
                      <a:r>
                        <a:rPr lang="en-US" sz="1150" b="1" dirty="0">
                          <a:solidFill>
                            <a:srgbClr val="1D2B2A"/>
                          </a:solidFill>
                        </a:rPr>
                        <a:t>Net cash / total assets (%)</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26.2%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19.6%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7.3%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(3.3%)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17.0%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260604">
                <a:tc rowSpan="4">
                  <a:txBody>
                    <a:bodyPr/>
                    <a:lstStyle/>
                    <a:p>
                      <a:pPr marL="0" indent="0" algn="l">
                        <a:buNone/>
                      </a:pPr>
                      <a:r>
                        <a:rPr lang="en-US" sz="1100" b="1" dirty="0">
                          <a:solidFill>
                            <a:srgbClr val="0B4F4A"/>
                          </a:solidFill>
                        </a:rPr>
                        <a:t>Efficiency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Inventory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68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76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77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89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79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260604">
                <a:tc vMerge="1">
                  <a:txBody>
                    <a:bodyPr/>
                    <a:lstStyle/>
                    <a:p>
                      <a:endParaRPr lang="en-US"/>
                    </a:p>
                  </a:txBody>
                  <a:tcPr/>
                </a:tc>
                <a:tc>
                  <a:txBody>
                    <a:bodyPr/>
                    <a:lstStyle/>
                    <a:p>
                      <a:pPr marL="0" indent="0" algn="l">
                        <a:buNone/>
                      </a:pPr>
                      <a:r>
                        <a:rPr lang="en-US" sz="1150" b="1" dirty="0">
                          <a:solidFill>
                            <a:srgbClr val="1D2B2A"/>
                          </a:solidFill>
                        </a:rPr>
                        <a:t>Debtor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89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100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79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88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72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64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260604">
                <a:tc vMerge="1">
                  <a:txBody>
                    <a:bodyPr/>
                    <a:lstStyle/>
                    <a:p>
                      <a:endParaRPr lang="en-US"/>
                    </a:p>
                  </a:txBody>
                  <a:tcPr/>
                </a:tc>
                <a:tc>
                  <a:txBody>
                    <a:bodyPr/>
                    <a:lstStyle/>
                    <a:p>
                      <a:pPr marL="0" indent="0" algn="l">
                        <a:buNone/>
                      </a:pPr>
                      <a:r>
                        <a:rPr lang="en-US" sz="1150" b="1" dirty="0">
                          <a:solidFill>
                            <a:srgbClr val="1D2B2A"/>
                          </a:solidFill>
                        </a:rPr>
                        <a:t>Creditor days</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32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47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49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38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260604">
                <a:tc vMerge="1">
                  <a:txBody>
                    <a:bodyPr/>
                    <a:lstStyle/>
                    <a:p>
                      <a:endParaRPr lang="en-US"/>
                    </a:p>
                  </a:txBody>
                  <a:tcPr/>
                </a:tc>
                <a:tc>
                  <a:txBody>
                    <a:bodyPr/>
                    <a:lstStyle/>
                    <a:p>
                      <a:pPr marL="0" indent="0" algn="l">
                        <a:buNone/>
                      </a:pPr>
                      <a:r>
                        <a:rPr lang="en-US" sz="1150" b="1" dirty="0">
                          <a:solidFill>
                            <a:srgbClr val="1D2B2A"/>
                          </a:solidFill>
                        </a:rPr>
                        <a:t>Cash conversion cycle</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123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145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127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260604">
                <a:tc rowSpan="4">
                  <a:txBody>
                    <a:bodyPr/>
                    <a:lstStyle/>
                    <a:p>
                      <a:pPr marL="0" indent="0" algn="l">
                        <a:buNone/>
                      </a:pPr>
                      <a:r>
                        <a:rPr lang="en-US" sz="1100" b="1" dirty="0">
                          <a:solidFill>
                            <a:srgbClr val="0B4F4A"/>
                          </a:solidFill>
                        </a:rPr>
                        <a:t>Profitability</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Core EBITDA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27.5%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24.6%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29.2%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18.9%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21.0%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22.9%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260604">
                <a:tc vMerge="1">
                  <a:txBody>
                    <a:bodyPr/>
                    <a:lstStyle/>
                    <a:p>
                      <a:endParaRPr lang="en-US"/>
                    </a:p>
                  </a:txBody>
                  <a:tcPr/>
                </a:tc>
                <a:tc>
                  <a:txBody>
                    <a:bodyPr/>
                    <a:lstStyle/>
                    <a:p>
                      <a:pPr marL="0" indent="0" algn="l">
                        <a:buNone/>
                      </a:pPr>
                      <a:r>
                        <a:rPr lang="en-US" sz="1150" b="1" dirty="0">
                          <a:solidFill>
                            <a:srgbClr val="1D2B2A"/>
                          </a:solidFill>
                        </a:rPr>
                        <a:t>PAT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19.6%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17.6%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15.6%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7.3%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14.6%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1"/>
                  </a:ext>
                </a:extLst>
              </a:tr>
              <a:tr h="260604">
                <a:tc vMerge="1">
                  <a:txBody>
                    <a:bodyPr/>
                    <a:lstStyle/>
                    <a:p>
                      <a:endParaRPr lang="en-US"/>
                    </a:p>
                  </a:txBody>
                  <a:tcPr/>
                </a:tc>
                <a:tc>
                  <a:txBody>
                    <a:bodyPr/>
                    <a:lstStyle/>
                    <a:p>
                      <a:pPr marL="0" indent="0" algn="l">
                        <a:buNone/>
                      </a:pPr>
                      <a:r>
                        <a:rPr lang="en-US" sz="1150" b="1" dirty="0">
                          <a:solidFill>
                            <a:srgbClr val="1D2B2A"/>
                          </a:solidFill>
                        </a:rPr>
                        <a:t>Return on equity</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14.0%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26.9%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10.8%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14.4%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2"/>
                  </a:ext>
                </a:extLst>
              </a:tr>
              <a:tr h="260604">
                <a:tc vMerge="1">
                  <a:txBody>
                    <a:bodyPr/>
                    <a:lstStyle/>
                    <a:p>
                      <a:endParaRPr lang="en-US"/>
                    </a:p>
                  </a:txBody>
                  <a:tcPr/>
                </a:tc>
                <a:tc>
                  <a:txBody>
                    <a:bodyPr/>
                    <a:lstStyle/>
                    <a:p>
                      <a:pPr marL="0" indent="0" algn="l">
                        <a:buNone/>
                      </a:pPr>
                      <a:r>
                        <a:rPr lang="en-US" sz="1150" b="1" dirty="0">
                          <a:solidFill>
                            <a:srgbClr val="1D2B2A"/>
                          </a:solidFill>
                        </a:rPr>
                        <a:t>Return on capital employed</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18.9%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22.2%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34.2%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17.8%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16.5%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19.8%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3"/>
                  </a:ext>
                </a:extLst>
              </a:tr>
              <a:tr h="260604">
                <a:tc rowSpan="2">
                  <a:txBody>
                    <a:bodyPr/>
                    <a:lstStyle/>
                    <a:p>
                      <a:pPr marL="0" indent="0" algn="l">
                        <a:buNone/>
                      </a:pPr>
                      <a:r>
                        <a:rPr lang="en-US" sz="1100" b="1" dirty="0">
                          <a:solidFill>
                            <a:srgbClr val="0B4F4A"/>
                          </a:solidFill>
                        </a:rPr>
                        <a:t>Cash flow</a:t>
                      </a:r>
                      <a:endParaRPr lang="en-US" sz="11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0" indent="0" algn="l">
                        <a:buNone/>
                      </a:pPr>
                      <a:r>
                        <a:rPr lang="en-US" sz="1150" b="1" dirty="0">
                          <a:solidFill>
                            <a:srgbClr val="1D2B2A"/>
                          </a:solidFill>
                        </a:rPr>
                        <a:t>CFO to PAT</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1.20x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1.35x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1.07x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1.38x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1.72x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1.06x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4"/>
                  </a:ext>
                </a:extLst>
              </a:tr>
              <a:tr h="260604">
                <a:tc vMerge="1">
                  <a:txBody>
                    <a:bodyPr/>
                    <a:lstStyle/>
                    <a:p>
                      <a:endParaRPr lang="en-US"/>
                    </a:p>
                  </a:txBody>
                  <a:tcPr/>
                </a:tc>
                <a:tc>
                  <a:txBody>
                    <a:bodyPr/>
                    <a:lstStyle/>
                    <a:p>
                      <a:pPr marL="0" indent="0" algn="l">
                        <a:buNone/>
                      </a:pPr>
                      <a:r>
                        <a:rPr lang="en-US" sz="1150" b="1" dirty="0">
                          <a:solidFill>
                            <a:srgbClr val="1D2B2A"/>
                          </a:solidFill>
                        </a:rPr>
                        <a:t>Free cash flow margin</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17.0%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5.4%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b="1" dirty="0">
                          <a:solidFill>
                            <a:srgbClr val="1D2B2A"/>
                          </a:solidFill>
                        </a:rPr>
                        <a:t>18.9%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5B6663"/>
                          </a:solidFill>
                        </a:rPr>
                        <a:t>8.8%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5B6663"/>
                          </a:solidFill>
                        </a:rPr>
                        <a:t>9.4%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5" name="Text 2"/>
          <p:cNvSpPr txBox="1"/>
          <p:nvPr/>
        </p:nvSpPr>
        <p:spPr>
          <a:xfrm>
            <a:off x="457200" y="5669280"/>
            <a:ext cx="11274552" cy="640080"/>
          </a:xfrm>
          <a:prstGeom prst="rect">
            <a:avLst/>
          </a:prstGeom>
          <a:noFill/>
          <a:ln/>
        </p:spPr>
        <p:txBody>
          <a:bodyPr wrap="square" lIns="0" tIns="0" rIns="0" bIns="0" rtlCol="0" anchor="t"/>
          <a:lstStyle/>
          <a:p>
            <a:pPr marL="0" indent="0">
              <a:buNone/>
            </a:pPr>
            <a:r>
              <a:rPr lang="en-US" sz="1000" i="1" dirty="0">
                <a:solidFill>
                  <a:schemeClr val="accent2"/>
                </a:solidFill>
              </a:rPr>
              <a:t>Shaded = best of the four in FY26 where a higher (or lower) value is clearly better. 5-yr avg is the simple average of FY22 to FY26; CFO to PAT and free cash flow margin use five-year totals. Days are on revenue (cost of goods sold is not disclosed). Lupin FY22 and FY23 are depressed by the US settlement and impairments, which lowers its averages.</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RATIO ANALYSIS | RETURNS AND WORKING CAPITAL OVER TIME</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Over time: Lupin's ROCE rose from 4.5% to 34.2%; Dr. Reddy's cash conversion cycle lengthened to 153 days</a:t>
            </a:r>
            <a:endParaRPr lang="en-US" sz="2400" dirty="0"/>
          </a:p>
        </p:txBody>
      </p:sp>
      <p:graphicFrame>
        <p:nvGraphicFramePr>
          <p:cNvPr id="4" name="Chart 0"/>
          <p:cNvGraphicFramePr/>
          <p:nvPr/>
        </p:nvGraphicFramePr>
        <p:xfrm>
          <a:off x="457200" y="1417320"/>
          <a:ext cx="361188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288536" y="1417320"/>
          <a:ext cx="361188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8119872" y="1417320"/>
          <a:ext cx="361188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2"/>
          <p:cNvSpPr txBox="1"/>
          <p:nvPr/>
        </p:nvSpPr>
        <p:spPr>
          <a:xfrm>
            <a:off x="457200" y="4297680"/>
            <a:ext cx="11274552" cy="2011680"/>
          </a:xfrm>
          <a:prstGeom prst="rect">
            <a:avLst/>
          </a:prstGeom>
          <a:noFill/>
          <a:ln/>
        </p:spPr>
        <p:txBody>
          <a:bodyPr wrap="square" lIns="0" tIns="0" rIns="0" bIns="0" rtlCol="0" anchor="t"/>
          <a:lstStyle/>
          <a:p>
            <a:pPr marL="0" indent="0">
              <a:spcAft>
                <a:spcPts val="500"/>
              </a:spcAft>
              <a:buNone/>
            </a:pPr>
            <a:r>
              <a:rPr lang="en-US" sz="1300" b="1" dirty="0">
                <a:solidFill>
                  <a:srgbClr val="0B4F4A"/>
                </a:solidFill>
              </a:rPr>
              <a:t>Returns: </a:t>
            </a:r>
            <a:r>
              <a:rPr lang="en-US" sz="1300" dirty="0">
                <a:solidFill>
                  <a:srgbClr val="1D2B2A"/>
                </a:solidFill>
              </a:rPr>
              <a:t>Lupin 4.5% to 34.2%; Dr. Reddy's 28.2% (FY23) to 14.8%; Sun steady at 17% to 21%; Cipla 23.2% (FY25) to 16.5%. Lupin's rise is flattered by a low FY22 to FY23 base and a ₹656 cr forex gain in FY26.</a:t>
            </a:r>
            <a:endParaRPr lang="en-US" sz="1300" dirty="0"/>
          </a:p>
          <a:p>
            <a:pPr marL="0" indent="0">
              <a:spcAft>
                <a:spcPts val="500"/>
              </a:spcAft>
              <a:buNone/>
            </a:pPr>
            <a:r>
              <a:rPr lang="en-US" sz="1300" b="1" dirty="0">
                <a:solidFill>
                  <a:srgbClr val="0B4F4A"/>
                </a:solidFill>
              </a:rPr>
              <a:t>Cash cycle: </a:t>
            </a:r>
            <a:r>
              <a:rPr lang="en-US" sz="1300" dirty="0">
                <a:solidFill>
                  <a:srgbClr val="1D2B2A"/>
                </a:solidFill>
              </a:rPr>
              <a:t>shortened at Lupin (146 to 108 days) and Sun (138 to 115); lengthened at Dr. Reddy's (146 to 153) and Cipla (103 to 112), where debtor days rose from 58 to 72.</a:t>
            </a:r>
            <a:endParaRPr lang="en-US" sz="1300" dirty="0"/>
          </a:p>
          <a:p>
            <a:pPr marL="0" indent="0">
              <a:spcAft>
                <a:spcPts val="500"/>
              </a:spcAft>
              <a:buNone/>
            </a:pPr>
            <a:r>
              <a:rPr lang="en-US" sz="1300" b="1" dirty="0">
                <a:solidFill>
                  <a:srgbClr val="0B4F4A"/>
                </a:solidFill>
              </a:rPr>
              <a:t>Liquidity: </a:t>
            </a:r>
            <a:r>
              <a:rPr lang="en-US" sz="1300" dirty="0">
                <a:solidFill>
                  <a:srgbClr val="1D2B2A"/>
                </a:solidFill>
              </a:rPr>
              <a:t>current ratio is 1.8x to 3.4x at all four; Cipla (3.4x) and Sun (2.8x) hold the most cash and investments.</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PEER COMPARISON | SCORECARD</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Scorecard: Lupin ranks first (average rank 1.6) ahead of Sun Pharma (1.9); Cipla (2.9) and Dr. Reddy's (3.7) follow</a:t>
            </a:r>
            <a:endParaRPr lang="en-US" sz="2400" dirty="0"/>
          </a:p>
        </p:txBody>
      </p:sp>
      <p:graphicFrame>
        <p:nvGraphicFramePr>
          <p:cNvPr id="33" name="Scorecard"/>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3401568"/>
        </p:xfrm>
        <a:graphic>
          <a:graphicData uri="http://schemas.openxmlformats.org/drawingml/2006/table">
            <a:tbl>
              <a:tblPr/>
              <a:tblGrid>
                <a:gridCol w="3593592">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tblGrid>
              <a:tr h="283464">
                <a:tc rowSpan="2">
                  <a:txBody>
                    <a:bodyPr/>
                    <a:lstStyle/>
                    <a:p>
                      <a:pPr marL="0" indent="0" algn="l">
                        <a:buNone/>
                      </a:pPr>
                      <a:r>
                        <a:rPr lang="en-US" sz="1150" b="1" dirty="0">
                          <a:solidFill>
                            <a:srgbClr val="FFFFFF"/>
                          </a:solidFill>
                        </a:rPr>
                        <a:t>Measure</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gridSpan="2">
                  <a:txBody>
                    <a:bodyPr/>
                    <a:lstStyle/>
                    <a:p>
                      <a:pPr marL="0" indent="0" algn="ctr">
                        <a:buNone/>
                      </a:pPr>
                      <a:r>
                        <a:rPr lang="en-US" sz="1150" b="1" dirty="0">
                          <a:solidFill>
                            <a:srgbClr val="FFFFFF"/>
                          </a:solidFill>
                        </a:rPr>
                        <a:t>Sun Pharma</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Dr. Reddy's</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Lupin</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tc gridSpan="2">
                  <a:txBody>
                    <a:bodyPr/>
                    <a:lstStyle/>
                    <a:p>
                      <a:pPr marL="0" indent="0" algn="ctr">
                        <a:buNone/>
                      </a:pPr>
                      <a:r>
                        <a:rPr lang="en-US" sz="1150" b="1" dirty="0">
                          <a:solidFill>
                            <a:srgbClr val="FFFFFF"/>
                          </a:solidFill>
                        </a:rPr>
                        <a:t>Cipla</a:t>
                      </a:r>
                      <a:endParaRPr lang="en-US" sz="115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hMerge="1">
                  <a:txBody>
                    <a:bodyPr/>
                    <a:lstStyle/>
                    <a:p>
                      <a:endParaRPr lang="en-US"/>
                    </a:p>
                  </a:txBody>
                  <a:tcPr/>
                </a:tc>
                <a:extLst>
                  <a:ext uri="{0D108BD9-81ED-4DB2-BD59-A6C34878D82A}">
                    <a16:rowId xmlns:a16="http://schemas.microsoft.com/office/drawing/2014/main" val="10000"/>
                  </a:ext>
                </a:extLst>
              </a:tr>
              <a:tr h="283464">
                <a:tc vMerge="1">
                  <a:txBody>
                    <a:bodyPr/>
                    <a:lstStyle/>
                    <a:p>
                      <a:endParaRPr lang="en-US"/>
                    </a:p>
                  </a:txBody>
                  <a:tcPr/>
                </a:tc>
                <a:tc>
                  <a:txBody>
                    <a:bodyPr/>
                    <a:lstStyle/>
                    <a:p>
                      <a:pPr marL="0" indent="0" algn="r">
                        <a:buNone/>
                      </a:pPr>
                      <a:r>
                        <a:rPr lang="en-US" sz="1100" b="1" dirty="0">
                          <a:solidFill>
                            <a:srgbClr val="FFFFFF"/>
                          </a:solidFill>
                        </a:rPr>
                        <a:t>Value</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Rank</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Value</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Rank</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Value</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Rank</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Value</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r">
                        <a:buNone/>
                      </a:pPr>
                      <a:r>
                        <a:rPr lang="en-US" sz="1100" b="1" dirty="0">
                          <a:solidFill>
                            <a:srgbClr val="FFFFFF"/>
                          </a:solidFill>
                        </a:rPr>
                        <a:t>Rank</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1"/>
                  </a:ext>
                </a:extLst>
              </a:tr>
              <a:tr h="283464">
                <a:tc>
                  <a:txBody>
                    <a:bodyPr/>
                    <a:lstStyle/>
                    <a:p>
                      <a:pPr marL="0" indent="0" algn="l">
                        <a:buNone/>
                      </a:pPr>
                      <a:r>
                        <a:rPr lang="en-US" sz="1150" dirty="0">
                          <a:solidFill>
                            <a:srgbClr val="1D2B2A"/>
                          </a:solidFill>
                        </a:rPr>
                        <a:t>Revenue CAGR, FY22 to FY26 (%)</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10.9%</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3</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2</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14.3%</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b="1" dirty="0">
                          <a:solidFill>
                            <a:srgbClr val="1D2B2A"/>
                          </a:solidFill>
                        </a:rPr>
                        <a:t>1</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1D2B2A"/>
                          </a:solidFill>
                        </a:rPr>
                        <a:t>6.7%</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B5472A"/>
                          </a:solidFill>
                        </a:rPr>
                        <a:t>4</a:t>
                      </a:r>
                      <a:endParaRPr lang="en-US" sz="1150" dirty="0"/>
                    </a:p>
                  </a:txBody>
                  <a:tcPr marL="73152" marR="73152" marT="0" marB="0" anchor="ctr">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lgn="l">
                        <a:buNone/>
                      </a:pPr>
                      <a:r>
                        <a:rPr lang="en-US" sz="1150" dirty="0">
                          <a:solidFill>
                            <a:srgbClr val="1D2B2A"/>
                          </a:solidFill>
                        </a:rPr>
                        <a:t>Core EBITDA margin, FY26 (%)</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28.2%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B5472A"/>
                          </a:solidFill>
                        </a:rPr>
                        <a:t>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29.2%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b="1" dirty="0">
                          <a:solidFill>
                            <a:srgbClr val="1D2B2A"/>
                          </a:solidFill>
                        </a:rPr>
                        <a:t>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1D2B2A"/>
                          </a:solidFill>
                        </a:rPr>
                        <a:t>21.0%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lgn="l">
                        <a:buNone/>
                      </a:pPr>
                      <a:r>
                        <a:rPr lang="en-US" sz="1150" dirty="0">
                          <a:solidFill>
                            <a:srgbClr val="1D2B2A"/>
                          </a:solidFill>
                        </a:rPr>
                        <a:t>PAT margin, FY26 (%)</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19.6%</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b="1" dirty="0">
                          <a:solidFill>
                            <a:srgbClr val="1D2B2A"/>
                          </a:solidFill>
                        </a:rPr>
                        <a:t>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1D2B2A"/>
                          </a:solidFill>
                        </a:rPr>
                        <a:t>12.5%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B5472A"/>
                          </a:solidFill>
                        </a:rPr>
                        <a:t>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19.1%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13.8%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4"/>
                  </a:ext>
                </a:extLst>
              </a:tr>
              <a:tr h="283464">
                <a:tc>
                  <a:txBody>
                    <a:bodyPr/>
                    <a:lstStyle/>
                    <a:p>
                      <a:pPr marL="0" indent="0" algn="l">
                        <a:buNone/>
                      </a:pPr>
                      <a:r>
                        <a:rPr lang="en-US" sz="1150" dirty="0">
                          <a:solidFill>
                            <a:srgbClr val="1D2B2A"/>
                          </a:solidFill>
                        </a:rPr>
                        <a:t>ROCE, FY26 (%)</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B5472A"/>
                          </a:solidFill>
                        </a:rPr>
                        <a:t>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34.2%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b="1" dirty="0">
                          <a:solidFill>
                            <a:srgbClr val="1D2B2A"/>
                          </a:solidFill>
                        </a:rPr>
                        <a:t>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1D2B2A"/>
                          </a:solidFill>
                        </a:rPr>
                        <a:t>16.5%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5"/>
                  </a:ext>
                </a:extLst>
              </a:tr>
              <a:tr h="283464">
                <a:tc>
                  <a:txBody>
                    <a:bodyPr/>
                    <a:lstStyle/>
                    <a:p>
                      <a:pPr marL="0" indent="0" algn="l">
                        <a:buNone/>
                      </a:pPr>
                      <a:r>
                        <a:rPr lang="en-US" sz="1150" dirty="0">
                          <a:solidFill>
                            <a:srgbClr val="1D2B2A"/>
                          </a:solidFill>
                        </a:rPr>
                        <a:t>ROE, FY26 (%)</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14.7%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B5472A"/>
                          </a:solidFill>
                        </a:rPr>
                        <a:t>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b="1" dirty="0">
                          <a:solidFill>
                            <a:srgbClr val="1D2B2A"/>
                          </a:solidFill>
                        </a:rPr>
                        <a:t>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1D2B2A"/>
                          </a:solidFill>
                        </a:rPr>
                        <a:t>11.8%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6"/>
                  </a:ext>
                </a:extLst>
              </a:tr>
              <a:tr h="283464">
                <a:tc>
                  <a:txBody>
                    <a:bodyPr/>
                    <a:lstStyle/>
                    <a:p>
                      <a:pPr marL="0" indent="0" algn="l">
                        <a:buNone/>
                      </a:pPr>
                      <a:r>
                        <a:rPr lang="en-US" sz="1150" dirty="0">
                          <a:solidFill>
                            <a:srgbClr val="1D2B2A"/>
                          </a:solidFill>
                        </a:rPr>
                        <a:t>Cash conversion cycle, FY26 (days; lower is better)</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115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153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B5472A"/>
                          </a:solidFill>
                        </a:rPr>
                        <a:t>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b="1" dirty="0">
                          <a:solidFill>
                            <a:srgbClr val="1D2B2A"/>
                          </a:solidFill>
                        </a:rPr>
                        <a:t>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1D2B2A"/>
                          </a:solidFill>
                        </a:rPr>
                        <a:t>112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7"/>
                  </a:ext>
                </a:extLst>
              </a:tr>
              <a:tr h="283464">
                <a:tc>
                  <a:txBody>
                    <a:bodyPr/>
                    <a:lstStyle/>
                    <a:p>
                      <a:pPr marL="0" indent="0" algn="l">
                        <a:buNone/>
                      </a:pPr>
                      <a:r>
                        <a:rPr lang="en-US" sz="1150" dirty="0">
                          <a:solidFill>
                            <a:srgbClr val="1D2B2A"/>
                          </a:solidFill>
                        </a:rPr>
                        <a:t>Net cash / total assets, FY26 (%)</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26.2%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b="1" dirty="0">
                          <a:solidFill>
                            <a:srgbClr val="1D2B2A"/>
                          </a:solidFill>
                        </a:rPr>
                        <a:t>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1D2B2A"/>
                          </a:solidFill>
                        </a:rPr>
                        <a:t>1.5%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B5472A"/>
                          </a:solidFill>
                        </a:rPr>
                        <a:t>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8.7%</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20.5%</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8"/>
                  </a:ext>
                </a:extLst>
              </a:tr>
              <a:tr h="283464">
                <a:tc>
                  <a:txBody>
                    <a:bodyPr/>
                    <a:lstStyle/>
                    <a:p>
                      <a:pPr marL="0" indent="0" algn="l">
                        <a:buNone/>
                      </a:pPr>
                      <a:r>
                        <a:rPr lang="en-US" sz="1150" dirty="0">
                          <a:solidFill>
                            <a:srgbClr val="1D2B2A"/>
                          </a:solidFill>
                        </a:rPr>
                        <a:t>CFO / PAT, five-year total (x)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1.20x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1.07x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1.72x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b="1" dirty="0">
                          <a:solidFill>
                            <a:srgbClr val="1D2B2A"/>
                          </a:solidFill>
                        </a:rPr>
                        <a:t>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1D2B2A"/>
                          </a:solidFill>
                        </a:rPr>
                        <a:t>1.06x</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B5472A"/>
                          </a:solidFill>
                        </a:rPr>
                        <a:t>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9"/>
                  </a:ext>
                </a:extLst>
              </a:tr>
              <a:tr h="283464">
                <a:tc>
                  <a:txBody>
                    <a:bodyPr/>
                    <a:lstStyle/>
                    <a:p>
                      <a:pPr marL="0" indent="0" algn="l">
                        <a:buNone/>
                      </a:pPr>
                      <a:r>
                        <a:rPr lang="en-US" sz="1150" dirty="0">
                          <a:solidFill>
                            <a:srgbClr val="1D2B2A"/>
                          </a:solidFill>
                        </a:rPr>
                        <a:t>Free cash flow margin, five-year (%)</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17.0%</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b="1" dirty="0">
                          <a:solidFill>
                            <a:srgbClr val="1D2B2A"/>
                          </a:solidFill>
                        </a:rPr>
                        <a:t>1</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DDE9E4"/>
                    </a:solidFill>
                  </a:tcPr>
                </a:tc>
                <a:tc>
                  <a:txBody>
                    <a:bodyPr/>
                    <a:lstStyle/>
                    <a:p>
                      <a:pPr marL="0" indent="0" algn="r">
                        <a:buNone/>
                      </a:pPr>
                      <a:r>
                        <a:rPr lang="en-US" sz="1150" dirty="0">
                          <a:solidFill>
                            <a:srgbClr val="1D2B2A"/>
                          </a:solidFill>
                        </a:rPr>
                        <a:t>6.9%</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B5472A"/>
                          </a:solidFill>
                        </a:rPr>
                        <a:t>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8.8%</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3</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r">
                        <a:buNone/>
                      </a:pPr>
                      <a:r>
                        <a:rPr lang="en-US" sz="1150" dirty="0">
                          <a:solidFill>
                            <a:srgbClr val="1D2B2A"/>
                          </a:solidFill>
                        </a:rPr>
                        <a:t>9.4%</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0" indent="0" algn="ctr">
                        <a:buNone/>
                      </a:pPr>
                      <a:r>
                        <a:rPr lang="en-US" sz="1150" dirty="0">
                          <a:solidFill>
                            <a:srgbClr val="1D2B2A"/>
                          </a:solidFill>
                        </a:rPr>
                        <a:t>2</a:t>
                      </a:r>
                      <a:endParaRPr lang="en-US" sz="115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10"/>
                  </a:ext>
                </a:extLst>
              </a:tr>
              <a:tr h="283464">
                <a:tc>
                  <a:txBody>
                    <a:bodyPr/>
                    <a:lstStyle/>
                    <a:p>
                      <a:pPr marL="0" indent="0" algn="l">
                        <a:buNone/>
                      </a:pPr>
                      <a:r>
                        <a:rPr lang="en-US" sz="1200" b="1" dirty="0">
                          <a:solidFill>
                            <a:srgbClr val="1D2B2A"/>
                          </a:solidFill>
                        </a:rPr>
                        <a:t>Average rank (1 is best)</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0" cap="flat" cmpd="sng" algn="ctr">
                      <a:noFill/>
                    </a:lnB>
                    <a:solidFill>
                      <a:srgbClr val="F2EEE3"/>
                    </a:solidFill>
                  </a:tcPr>
                </a:tc>
                <a:tc>
                  <a:txBody>
                    <a:bodyPr/>
                    <a:lstStyle/>
                    <a:p>
                      <a:pPr marL="0" indent="0" algn="r">
                        <a:buNone/>
                      </a:pP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0" cap="flat" cmpd="sng" algn="ctr">
                      <a:noFill/>
                    </a:lnB>
                    <a:solidFill>
                      <a:srgbClr val="F2EEE3"/>
                    </a:solidFill>
                  </a:tcPr>
                </a:tc>
                <a:tc>
                  <a:txBody>
                    <a:bodyPr/>
                    <a:lstStyle/>
                    <a:p>
                      <a:pPr marL="0" indent="0" algn="ctr">
                        <a:buNone/>
                      </a:pPr>
                      <a:r>
                        <a:rPr lang="en-US" sz="1200" b="1" dirty="0">
                          <a:solidFill>
                            <a:srgbClr val="1D2B2A"/>
                          </a:solidFill>
                        </a:rPr>
                        <a:t>1.9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0" cap="flat" cmpd="sng" algn="ctr">
                      <a:noFill/>
                    </a:lnB>
                    <a:solidFill>
                      <a:srgbClr val="F2EEE3"/>
                    </a:solidFill>
                  </a:tcPr>
                </a:tc>
                <a:tc>
                  <a:txBody>
                    <a:bodyPr/>
                    <a:lstStyle/>
                    <a:p>
                      <a:pPr marL="0" indent="0" algn="r">
                        <a:buNone/>
                      </a:pP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0" cap="flat" cmpd="sng" algn="ctr">
                      <a:noFill/>
                    </a:lnB>
                    <a:solidFill>
                      <a:srgbClr val="F2EEE3"/>
                    </a:solidFill>
                  </a:tcPr>
                </a:tc>
                <a:tc>
                  <a:txBody>
                    <a:bodyPr/>
                    <a:lstStyle/>
                    <a:p>
                      <a:pPr marL="0" indent="0" algn="ctr">
                        <a:buNone/>
                      </a:pPr>
                      <a:r>
                        <a:rPr lang="en-US" sz="1200" b="1" dirty="0">
                          <a:solidFill>
                            <a:srgbClr val="1D2B2A"/>
                          </a:solidFill>
                        </a:rPr>
                        <a:t>3.7</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0" cap="flat" cmpd="sng" algn="ctr">
                      <a:noFill/>
                    </a:lnB>
                    <a:solidFill>
                      <a:srgbClr val="F2EEE3"/>
                    </a:solidFill>
                  </a:tcPr>
                </a:tc>
                <a:tc>
                  <a:txBody>
                    <a:bodyPr/>
                    <a:lstStyle/>
                    <a:p>
                      <a:pPr marL="0" indent="0" algn="r">
                        <a:buNone/>
                      </a:pP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0" cap="flat" cmpd="sng" algn="ctr">
                      <a:noFill/>
                    </a:lnB>
                    <a:solidFill>
                      <a:srgbClr val="F2EEE3"/>
                    </a:solidFill>
                  </a:tcPr>
                </a:tc>
                <a:tc>
                  <a:txBody>
                    <a:bodyPr/>
                    <a:lstStyle/>
                    <a:p>
                      <a:pPr marL="0" indent="0" algn="ctr">
                        <a:buNone/>
                      </a:pPr>
                      <a:r>
                        <a:rPr lang="en-US" sz="1200" b="1" dirty="0">
                          <a:solidFill>
                            <a:srgbClr val="1D2B2A"/>
                          </a:solidFill>
                        </a:rPr>
                        <a:t>1.6</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0" cap="flat" cmpd="sng" algn="ctr">
                      <a:noFill/>
                    </a:lnB>
                    <a:solidFill>
                      <a:srgbClr val="F2EEE3"/>
                    </a:solidFill>
                  </a:tcPr>
                </a:tc>
                <a:tc>
                  <a:txBody>
                    <a:bodyPr/>
                    <a:lstStyle/>
                    <a:p>
                      <a:pPr marL="0" indent="0" algn="r">
                        <a:buNone/>
                      </a:pP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0" cap="flat" cmpd="sng" algn="ctr">
                      <a:noFill/>
                    </a:lnB>
                    <a:solidFill>
                      <a:srgbClr val="F2EEE3"/>
                    </a:solidFill>
                  </a:tcPr>
                </a:tc>
                <a:tc>
                  <a:txBody>
                    <a:bodyPr/>
                    <a:lstStyle/>
                    <a:p>
                      <a:pPr marL="0" indent="0" algn="ctr">
                        <a:buNone/>
                      </a:pPr>
                      <a:r>
                        <a:rPr lang="en-US" sz="1200" b="1" dirty="0">
                          <a:solidFill>
                            <a:srgbClr val="1D2B2A"/>
                          </a:solidFill>
                        </a:rPr>
                        <a:t>2.9</a:t>
                      </a:r>
                      <a:endParaRPr lang="en-US" sz="1200" dirty="0"/>
                    </a:p>
                  </a:txBody>
                  <a:tcPr marL="73152" marR="73152" marT="0" marB="0" anchor="ctr">
                    <a:lnL w="0" cap="flat" cmpd="sng" algn="ctr">
                      <a:noFill/>
                    </a:lnL>
                    <a:lnR w="0" cap="flat" cmpd="sng" algn="ctr">
                      <a:noFill/>
                    </a:lnR>
                    <a:lnT w="6350" cap="flat" cmpd="sng" algn="ctr">
                      <a:solidFill>
                        <a:srgbClr val="E3DDCD"/>
                      </a:solidFill>
                      <a:prstDash val="solid"/>
                      <a:round/>
                      <a:headEnd type="none" w="med" len="med"/>
                      <a:tailEnd type="none" w="med" len="med"/>
                    </a:lnT>
                    <a:lnB w="0" cap="flat" cmpd="sng" algn="ctr">
                      <a:noFill/>
                    </a:lnB>
                    <a:solidFill>
                      <a:srgbClr val="F2EEE3"/>
                    </a:solidFill>
                  </a:tcPr>
                </a:tc>
                <a:extLst>
                  <a:ext uri="{0D108BD9-81ED-4DB2-BD59-A6C34878D82A}">
                    <a16:rowId xmlns:a16="http://schemas.microsoft.com/office/drawing/2014/main" val="10011"/>
                  </a:ext>
                </a:extLst>
              </a:tr>
            </a:tbl>
          </a:graphicData>
        </a:graphic>
      </p:graphicFrame>
      <p:sp>
        <p:nvSpPr>
          <p:cNvPr id="5" name="Text 2"/>
          <p:cNvSpPr txBox="1"/>
          <p:nvPr/>
        </p:nvSpPr>
        <p:spPr>
          <a:xfrm>
            <a:off x="457200" y="4983480"/>
            <a:ext cx="11274552" cy="1325880"/>
          </a:xfrm>
          <a:prstGeom prst="rect">
            <a:avLst/>
          </a:prstGeom>
          <a:noFill/>
          <a:ln/>
        </p:spPr>
        <p:txBody>
          <a:bodyPr wrap="square" lIns="0" tIns="0" rIns="0" bIns="0" rtlCol="0" anchor="t"/>
          <a:lstStyle/>
          <a:p>
            <a:pPr marL="0" indent="0">
              <a:spcAft>
                <a:spcPts val="500"/>
              </a:spcAft>
              <a:buNone/>
            </a:pPr>
            <a:r>
              <a:rPr lang="en-US" sz="1300" b="1" dirty="0">
                <a:solidFill>
                  <a:srgbClr val="0B4F4A"/>
                </a:solidFill>
              </a:rPr>
              <a:t>Reading the ranks: </a:t>
            </a:r>
            <a:r>
              <a:rPr lang="en-US" sz="1300" dirty="0">
                <a:solidFill>
                  <a:srgbClr val="1D2B2A"/>
                </a:solidFill>
              </a:rPr>
              <a:t>equal weights on nine measures. Sun is first on net cash, PAT margin and free cash flow; Lupin on growth, EBITDA margin, returns, cash cycle and cash conversion; Cipla is second on cash cycle, net cash and free cash flow but third or fourth on growth, margins and returns; Dr. Reddy's is last on seven of nine.</a:t>
            </a:r>
            <a:endParaRPr lang="en-US" sz="1300" dirty="0"/>
          </a:p>
          <a:p>
            <a:pPr marL="0" indent="0">
              <a:spcAft>
                <a:spcPts val="500"/>
              </a:spcAft>
              <a:buNone/>
            </a:pPr>
            <a:r>
              <a:rPr lang="en-US" sz="1300" b="1" dirty="0">
                <a:solidFill>
                  <a:srgbClr val="0B4F4A"/>
                </a:solidFill>
              </a:rPr>
              <a:t>Caution: </a:t>
            </a:r>
            <a:r>
              <a:rPr lang="en-US" sz="1300" dirty="0">
                <a:solidFill>
                  <a:srgbClr val="1D2B2A"/>
                </a:solidFill>
              </a:rPr>
              <a:t>Lupin's lead depends on a recovery from the FY22 settlement and a forex gain in FY26; Sun's and Dr. Reddy's positions can change in FY27 with the Organon acquisition and the end of Revlimid exclusivity.</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PEER COMPARISON | STRENGTHS AND WEAKNESSES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Strengths and weaknesses: Sun is the strongest financially, Lupin the strongest recovery, Cipla the safest, Dr. Reddy's the most exposed</a:t>
            </a:r>
            <a:endParaRPr lang="en-US" sz="2400" dirty="0"/>
          </a:p>
        </p:txBody>
      </p:sp>
      <p:graphicFrame>
        <p:nvGraphicFramePr>
          <p:cNvPr id="34" name="Strengths and weaknesses"/>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4562856"/>
        </p:xfrm>
        <a:graphic>
          <a:graphicData uri="http://schemas.openxmlformats.org/drawingml/2006/table">
            <a:tbl>
              <a:tblPr/>
              <a:tblGrid>
                <a:gridCol w="114300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gridCol w="2532888">
                  <a:extLst>
                    <a:ext uri="{9D8B030D-6E8A-4147-A177-3AD203B41FA5}">
                      <a16:colId xmlns:a16="http://schemas.microsoft.com/office/drawing/2014/main" val="20004"/>
                    </a:ext>
                  </a:extLst>
                </a:gridCol>
              </a:tblGrid>
              <a:tr h="310896">
                <a:tc>
                  <a:txBody>
                    <a:bodyPr/>
                    <a:lstStyle/>
                    <a:p>
                      <a:pPr marL="0" indent="0" algn="r">
                        <a:buNone/>
                      </a:pP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200" b="1" dirty="0">
                          <a:solidFill>
                            <a:srgbClr val="FFFFFF"/>
                          </a:solidFill>
                        </a:rPr>
                        <a:t>Sun Pharma</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200" b="1" dirty="0">
                          <a:solidFill>
                            <a:srgbClr val="FFFFFF"/>
                          </a:solidFill>
                        </a:rPr>
                        <a:t>Dr. Reddy's</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200" b="1" dirty="0">
                          <a:solidFill>
                            <a:srgbClr val="FFFFFF"/>
                          </a:solidFill>
                        </a:rPr>
                        <a:t>Lupin</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tc>
                  <a:txBody>
                    <a:bodyPr/>
                    <a:lstStyle/>
                    <a:p>
                      <a:pPr marL="0" indent="0" algn="l">
                        <a:buNone/>
                      </a:pPr>
                      <a:r>
                        <a:rPr lang="en-US" sz="1200" b="1" dirty="0">
                          <a:solidFill>
                            <a:srgbClr val="FFFFFF"/>
                          </a:solidFill>
                        </a:rPr>
                        <a:t>Cipla</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4F4A"/>
                    </a:solidFill>
                  </a:tcPr>
                </a:tc>
                <a:extLst>
                  <a:ext uri="{0D108BD9-81ED-4DB2-BD59-A6C34878D82A}">
                    <a16:rowId xmlns:a16="http://schemas.microsoft.com/office/drawing/2014/main" val="10000"/>
                  </a:ext>
                </a:extLst>
              </a:tr>
              <a:tr h="1600200">
                <a:tc>
                  <a:txBody>
                    <a:bodyPr/>
                    <a:lstStyle/>
                    <a:p>
                      <a:pPr marL="0" indent="0" algn="l">
                        <a:buNone/>
                      </a:pPr>
                      <a:r>
                        <a:rPr lang="en-US" sz="1200" b="1" dirty="0">
                          <a:solidFill>
                            <a:srgbClr val="0B4F4A"/>
                          </a:solidFill>
                        </a:rPr>
                        <a:t>Strengths</a:t>
                      </a:r>
                      <a:endParaRPr lang="en-US" sz="1200" dirty="0"/>
                    </a:p>
                  </a:txBody>
                  <a:tcPr marL="73152" marR="73152" marT="54864" marB="36576">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solidFill>
                      <a:srgbClr val="F2EEE3"/>
                    </a:solidFill>
                  </a:tcPr>
                </a:tc>
                <a:tc>
                  <a:txBody>
                    <a:bodyPr/>
                    <a:lstStyle/>
                    <a:p>
                      <a:pPr marL="139700" indent="-139700" algn="l">
                        <a:spcAft>
                          <a:spcPts val="300"/>
                        </a:spcAft>
                        <a:buSzPct val="100000"/>
                        <a:buChar char="•"/>
                      </a:pPr>
                      <a:r>
                        <a:rPr lang="en-US" sz="1100" dirty="0">
                          <a:solidFill>
                            <a:srgbClr val="1D2B2A"/>
                          </a:solidFill>
                        </a:rPr>
                        <a:t>Highest net cash, ₹28,455 cr (26% of assets), and five-year free cash flow margin of 17%</a:t>
                      </a:r>
                      <a:endParaRPr lang="en-US" sz="1100" dirty="0"/>
                    </a:p>
                    <a:p>
                      <a:pPr marL="139700" indent="-139700" algn="l">
                        <a:spcAft>
                          <a:spcPts val="300"/>
                        </a:spcAft>
                        <a:buSzPct val="100000"/>
                        <a:buChar char="•"/>
                      </a:pPr>
                      <a:r>
                        <a:rPr lang="en-US" sz="1100" dirty="0">
                          <a:solidFill>
                            <a:srgbClr val="1D2B2A"/>
                          </a:solidFill>
                        </a:rPr>
                        <a:t>Core EBITDA margin of 26.8% to 28.7% in all five years</a:t>
                      </a:r>
                      <a:endParaRPr lang="en-US" sz="1100" dirty="0"/>
                    </a:p>
                    <a:p>
                      <a:pPr marL="139700" indent="-139700" algn="l">
                        <a:spcAft>
                          <a:spcPts val="300"/>
                        </a:spcAft>
                        <a:buSzPct val="100000"/>
                        <a:buChar char="•"/>
                      </a:pPr>
                      <a:r>
                        <a:rPr lang="en-US" sz="1100" dirty="0">
                          <a:solidFill>
                            <a:srgbClr val="1D2B2A"/>
                          </a:solidFill>
                        </a:rPr>
                        <a:t>ROCE up from 17.6% to 20.9%</a:t>
                      </a:r>
                      <a:endParaRPr lang="en-US" sz="1100" dirty="0"/>
                    </a:p>
                  </a:txBody>
                  <a:tcPr marL="73152" marR="73152" marT="54864" marB="36576">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139700" indent="-139700" algn="l">
                        <a:spcAft>
                          <a:spcPts val="300"/>
                        </a:spcAft>
                        <a:buSzPct val="100000"/>
                        <a:buChar char="•"/>
                      </a:pPr>
                      <a:r>
                        <a:rPr lang="en-US" sz="1100" dirty="0">
                          <a:solidFill>
                            <a:srgbClr val="1D2B2A"/>
                          </a:solidFill>
                        </a:rPr>
                        <a:t>Revenue CAGR of 11.8%; EBITDA margin peaked at 28.3% in FY24</a:t>
                      </a:r>
                      <a:endParaRPr lang="en-US" sz="1100" dirty="0"/>
                    </a:p>
                    <a:p>
                      <a:pPr marL="139700" indent="-139700" algn="l">
                        <a:spcAft>
                          <a:spcPts val="300"/>
                        </a:spcAft>
                        <a:buSzPct val="100000"/>
                        <a:buChar char="•"/>
                      </a:pPr>
                      <a:r>
                        <a:rPr lang="en-US" sz="1100" dirty="0">
                          <a:solidFill>
                            <a:srgbClr val="1D2B2A"/>
                          </a:solidFill>
                        </a:rPr>
                        <a:t>Positive free cash flow in every year</a:t>
                      </a:r>
                      <a:endParaRPr lang="en-US" sz="1100" dirty="0"/>
                    </a:p>
                    <a:p>
                      <a:pPr marL="139700" indent="-139700" algn="l">
                        <a:spcAft>
                          <a:spcPts val="300"/>
                        </a:spcAft>
                        <a:buSzPct val="100000"/>
                        <a:buChar char="•"/>
                      </a:pPr>
                      <a:r>
                        <a:rPr lang="en-US" sz="1100" dirty="0">
                          <a:solidFill>
                            <a:srgbClr val="1D2B2A"/>
                          </a:solidFill>
                        </a:rPr>
                        <a:t>India, Europe and emerging markets grew 20%, 14% and 29% in Q4 FY26</a:t>
                      </a:r>
                      <a:endParaRPr lang="en-US" sz="1100" dirty="0"/>
                    </a:p>
                  </a:txBody>
                  <a:tcPr marL="73152" marR="73152" marT="54864" marB="36576">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139700" indent="-139700" algn="l">
                        <a:spcAft>
                          <a:spcPts val="300"/>
                        </a:spcAft>
                        <a:buSzPct val="100000"/>
                        <a:buChar char="•"/>
                      </a:pPr>
                      <a:r>
                        <a:rPr lang="en-US" sz="1100" dirty="0">
                          <a:solidFill>
                            <a:srgbClr val="1D2B2A"/>
                          </a:solidFill>
                        </a:rPr>
                        <a:t>Fastest growth (14.3% a year; 23.1% in FY26) and best returns (ROCE 34.2%, ROE 26.9%)</a:t>
                      </a:r>
                      <a:endParaRPr lang="en-US" sz="1100" dirty="0"/>
                    </a:p>
                    <a:p>
                      <a:pPr marL="139700" indent="-139700" algn="l">
                        <a:spcAft>
                          <a:spcPts val="300"/>
                        </a:spcAft>
                        <a:buSzPct val="100000"/>
                        <a:buChar char="•"/>
                      </a:pPr>
                      <a:r>
                        <a:rPr lang="en-US" sz="1100" dirty="0">
                          <a:solidFill>
                            <a:srgbClr val="1D2B2A"/>
                          </a:solidFill>
                        </a:rPr>
                        <a:t>Core EBITDA margin up from 10.3% (FY23) to 29.2%</a:t>
                      </a:r>
                      <a:endParaRPr lang="en-US" sz="1100" dirty="0"/>
                    </a:p>
                    <a:p>
                      <a:pPr marL="139700" indent="-139700" algn="l">
                        <a:spcAft>
                          <a:spcPts val="300"/>
                        </a:spcAft>
                        <a:buSzPct val="100000"/>
                        <a:buChar char="•"/>
                      </a:pPr>
                      <a:r>
                        <a:rPr lang="en-US" sz="1100" dirty="0">
                          <a:solidFill>
                            <a:srgbClr val="1D2B2A"/>
                          </a:solidFill>
                        </a:rPr>
                        <a:t>Cash cycle cut from 146 to 108 days, the shortest</a:t>
                      </a:r>
                      <a:endParaRPr lang="en-US" sz="1100" dirty="0"/>
                    </a:p>
                  </a:txBody>
                  <a:tcPr marL="73152" marR="73152" marT="54864" marB="36576">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tc>
                  <a:txBody>
                    <a:bodyPr/>
                    <a:lstStyle/>
                    <a:p>
                      <a:pPr marL="139700" indent="-139700" algn="l">
                        <a:spcAft>
                          <a:spcPts val="300"/>
                        </a:spcAft>
                        <a:buSzPct val="100000"/>
                        <a:buChar char="•"/>
                      </a:pPr>
                      <a:r>
                        <a:rPr lang="en-US" sz="1100" dirty="0">
                          <a:solidFill>
                            <a:srgbClr val="1D2B2A"/>
                          </a:solidFill>
                        </a:rPr>
                        <a:t>Almost debt-free (debt-equity 0.01x); net cash ₹8,729 cr; current ratio 3.4x</a:t>
                      </a:r>
                      <a:endParaRPr lang="en-US" sz="1100" dirty="0"/>
                    </a:p>
                    <a:p>
                      <a:pPr marL="139700" indent="-139700" algn="l">
                        <a:spcAft>
                          <a:spcPts val="300"/>
                        </a:spcAft>
                        <a:buSzPct val="100000"/>
                        <a:buChar char="•"/>
                      </a:pPr>
                      <a:r>
                        <a:rPr lang="en-US" sz="1100" dirty="0">
                          <a:solidFill>
                            <a:srgbClr val="1D2B2A"/>
                          </a:solidFill>
                        </a:rPr>
                        <a:t>Lowest debtor days of the four (72)</a:t>
                      </a:r>
                      <a:endParaRPr lang="en-US" sz="1100" dirty="0"/>
                    </a:p>
                    <a:p>
                      <a:pPr marL="139700" indent="-139700" algn="l">
                        <a:spcAft>
                          <a:spcPts val="300"/>
                        </a:spcAft>
                        <a:buSzPct val="100000"/>
                        <a:buChar char="•"/>
                      </a:pPr>
                      <a:r>
                        <a:rPr lang="en-US" sz="1100" dirty="0">
                          <a:solidFill>
                            <a:srgbClr val="1D2B2A"/>
                          </a:solidFill>
                        </a:rPr>
                        <a:t>Positive free cash flow every year; CFO / PAT about 1.1x</a:t>
                      </a:r>
                      <a:endParaRPr lang="en-US" sz="1100" dirty="0"/>
                    </a:p>
                  </a:txBody>
                  <a:tcPr marL="73152" marR="73152" marT="54864" marB="36576">
                    <a:lnL w="0" cap="flat" cmpd="sng" algn="ctr">
                      <a:noFill/>
                    </a:lnL>
                    <a:lnR w="0" cap="flat" cmpd="sng" algn="ctr">
                      <a:noFill/>
                    </a:lnR>
                    <a:lnT w="0" cap="flat" cmpd="sng" algn="ctr">
                      <a:noFill/>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1"/>
                  </a:ext>
                </a:extLst>
              </a:tr>
              <a:tr h="1600200">
                <a:tc>
                  <a:txBody>
                    <a:bodyPr/>
                    <a:lstStyle/>
                    <a:p>
                      <a:pPr marL="0" indent="0" algn="l">
                        <a:buNone/>
                      </a:pPr>
                      <a:r>
                        <a:rPr lang="en-US" sz="1200" b="1" dirty="0">
                          <a:solidFill>
                            <a:srgbClr val="0B4F4A"/>
                          </a:solidFill>
                        </a:rPr>
                        <a:t>Weaknesses</a:t>
                      </a:r>
                      <a:endParaRPr lang="en-US" sz="12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139700" indent="-139700" algn="l">
                        <a:spcAft>
                          <a:spcPts val="300"/>
                        </a:spcAft>
                        <a:buSzPct val="100000"/>
                        <a:buChar char="•"/>
                      </a:pPr>
                      <a:r>
                        <a:rPr lang="en-US" sz="1100" dirty="0">
                          <a:solidFill>
                            <a:srgbClr val="1D2B2A"/>
                          </a:solidFill>
                        </a:rPr>
                        <a:t>Receivables grew 18.9% against revenue growth of 11.2% in FY26; debtor days 84 to 89</a:t>
                      </a:r>
                      <a:endParaRPr lang="en-US" sz="1100" dirty="0"/>
                    </a:p>
                    <a:p>
                      <a:pPr marL="139700" indent="-139700" algn="l">
                        <a:spcAft>
                          <a:spcPts val="300"/>
                        </a:spcAft>
                        <a:buSzPct val="100000"/>
                        <a:buChar char="•"/>
                      </a:pPr>
                      <a:r>
                        <a:rPr lang="en-US" sz="1100" dirty="0">
                          <a:solidFill>
                            <a:srgbClr val="1D2B2A"/>
                          </a:solidFill>
                        </a:rPr>
                        <a:t>Exceptional items of ₹7,218 cr over five years</a:t>
                      </a:r>
                      <a:endParaRPr lang="en-US" sz="1100" dirty="0"/>
                    </a:p>
                    <a:p>
                      <a:pPr marL="139700" indent="-139700" algn="l">
                        <a:spcAft>
                          <a:spcPts val="300"/>
                        </a:spcAft>
                        <a:buSzPct val="100000"/>
                        <a:buChar char="•"/>
                      </a:pPr>
                      <a:r>
                        <a:rPr lang="en-US" sz="1100" dirty="0">
                          <a:solidFill>
                            <a:srgbClr val="1D2B2A"/>
                          </a:solidFill>
                        </a:rPr>
                        <a:t>Tax rate up from 12.7% to 24.0%</a:t>
                      </a:r>
                      <a:endParaRPr lang="en-US" sz="11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139700" indent="-139700" algn="l">
                        <a:spcAft>
                          <a:spcPts val="300"/>
                        </a:spcAft>
                        <a:buSzPct val="100000"/>
                        <a:buChar char="•"/>
                      </a:pPr>
                      <a:r>
                        <a:rPr lang="en-US" sz="1100" dirty="0">
                          <a:solidFill>
                            <a:srgbClr val="1D2B2A"/>
                          </a:solidFill>
                        </a:rPr>
                        <a:t>Generic Revlimid exclusivity ended 31 Jan 2026; FY26 EBITDA margin fell to 20.2% and PAT 26% lower</a:t>
                      </a:r>
                      <a:endParaRPr lang="en-US" sz="1100" dirty="0"/>
                    </a:p>
                    <a:p>
                      <a:pPr marL="139700" indent="-139700" algn="l">
                        <a:spcAft>
                          <a:spcPts val="300"/>
                        </a:spcAft>
                        <a:buSzPct val="100000"/>
                        <a:buChar char="•"/>
                      </a:pPr>
                      <a:r>
                        <a:rPr lang="en-US" sz="1100" dirty="0">
                          <a:solidFill>
                            <a:srgbClr val="1D2B2A"/>
                          </a:solidFill>
                        </a:rPr>
                        <a:t>Lowest ROCE (14.8%) and ROE (11.7%) of the four</a:t>
                      </a:r>
                      <a:endParaRPr lang="en-US" sz="1100" dirty="0"/>
                    </a:p>
                    <a:p>
                      <a:pPr marL="139700" indent="-139700" algn="l">
                        <a:spcAft>
                          <a:spcPts val="300"/>
                        </a:spcAft>
                        <a:buSzPct val="100000"/>
                        <a:buChar char="•"/>
                      </a:pPr>
                      <a:r>
                        <a:rPr lang="en-US" sz="1100" dirty="0">
                          <a:solidFill>
                            <a:srgbClr val="1D2B2A"/>
                          </a:solidFill>
                        </a:rPr>
                        <a:t>Longest cash cycle, 153 days; debtor days 104</a:t>
                      </a:r>
                      <a:endParaRPr lang="en-US" sz="11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139700" indent="-139700" algn="l">
                        <a:spcAft>
                          <a:spcPts val="300"/>
                        </a:spcAft>
                        <a:buSzPct val="100000"/>
                        <a:buChar char="•"/>
                      </a:pPr>
                      <a:r>
                        <a:rPr lang="en-US" sz="1100" dirty="0">
                          <a:solidFill>
                            <a:srgbClr val="1D2B2A"/>
                          </a:solidFill>
                        </a:rPr>
                        <a:t>Recovering from a low base: FY22 loss of ₹1,528 cr after the US settlement</a:t>
                      </a:r>
                      <a:endParaRPr lang="en-US" sz="1100" dirty="0"/>
                    </a:p>
                    <a:p>
                      <a:pPr marL="139700" indent="-139700" algn="l">
                        <a:spcAft>
                          <a:spcPts val="300"/>
                        </a:spcAft>
                        <a:buSzPct val="100000"/>
                        <a:buChar char="•"/>
                      </a:pPr>
                      <a:r>
                        <a:rPr lang="en-US" sz="1100" dirty="0">
                          <a:solidFill>
                            <a:srgbClr val="1D2B2A"/>
                          </a:solidFill>
                        </a:rPr>
                        <a:t>Borrowings of ₹5,910 cr (15% of assets), ₹4,267 cr of it current</a:t>
                      </a:r>
                      <a:endParaRPr lang="en-US" sz="1100" dirty="0"/>
                    </a:p>
                    <a:p>
                      <a:pPr marL="139700" indent="-139700" algn="l">
                        <a:spcAft>
                          <a:spcPts val="300"/>
                        </a:spcAft>
                        <a:buSzPct val="100000"/>
                        <a:buChar char="•"/>
                      </a:pPr>
                      <a:r>
                        <a:rPr lang="en-US" sz="1100" dirty="0">
                          <a:solidFill>
                            <a:srgbClr val="1D2B2A"/>
                          </a:solidFill>
                        </a:rPr>
                        <a:t>FY26 profit helped by a ₹656 cr forex gain</a:t>
                      </a:r>
                      <a:endParaRPr lang="en-US" sz="11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139700" indent="-139700" algn="l">
                        <a:spcAft>
                          <a:spcPts val="300"/>
                        </a:spcAft>
                        <a:buSzPct val="100000"/>
                        <a:buChar char="•"/>
                      </a:pPr>
                      <a:r>
                        <a:rPr lang="en-US" sz="1100" dirty="0">
                          <a:solidFill>
                            <a:srgbClr val="1D2B2A"/>
                          </a:solidFill>
                        </a:rPr>
                        <a:t>Slowest growth (6.7% a year; 2.2% in FY26)</a:t>
                      </a:r>
                      <a:endParaRPr lang="en-US" sz="1100" dirty="0"/>
                    </a:p>
                    <a:p>
                      <a:pPr marL="139700" indent="-139700" algn="l">
                        <a:spcAft>
                          <a:spcPts val="300"/>
                        </a:spcAft>
                        <a:buSzPct val="100000"/>
                        <a:buChar char="•"/>
                      </a:pPr>
                      <a:r>
                        <a:rPr lang="en-US" sz="1100" dirty="0">
                          <a:solidFill>
                            <a:srgbClr val="1D2B2A"/>
                          </a:solidFill>
                        </a:rPr>
                        <a:t>FY26 EBITDA margin down to 21.0% and ROCE to 16.5% as expenses grew about 10%</a:t>
                      </a:r>
                      <a:endParaRPr lang="en-US" sz="1100" dirty="0"/>
                    </a:p>
                    <a:p>
                      <a:pPr marL="139700" indent="-139700" algn="l">
                        <a:spcAft>
                          <a:spcPts val="300"/>
                        </a:spcAft>
                        <a:buSzPct val="100000"/>
                        <a:buChar char="•"/>
                      </a:pPr>
                      <a:r>
                        <a:rPr lang="en-US" sz="1100" dirty="0">
                          <a:solidFill>
                            <a:srgbClr val="1D2B2A"/>
                          </a:solidFill>
                        </a:rPr>
                        <a:t>Debtor days up from 58 to 72</a:t>
                      </a:r>
                      <a:endParaRPr lang="en-US" sz="11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2"/>
                  </a:ext>
                </a:extLst>
              </a:tr>
              <a:tr h="1051560">
                <a:tc>
                  <a:txBody>
                    <a:bodyPr/>
                    <a:lstStyle/>
                    <a:p>
                      <a:pPr marL="0" indent="0" algn="l">
                        <a:buNone/>
                      </a:pPr>
                      <a:r>
                        <a:rPr lang="en-US" sz="1200" b="1" dirty="0">
                          <a:solidFill>
                            <a:srgbClr val="0B4F4A"/>
                          </a:solidFill>
                        </a:rPr>
                        <a:t>Watch in FY27</a:t>
                      </a:r>
                      <a:endParaRPr lang="en-US" sz="12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solidFill>
                      <a:srgbClr val="F2EEE3"/>
                    </a:solidFill>
                  </a:tcPr>
                </a:tc>
                <a:tc>
                  <a:txBody>
                    <a:bodyPr/>
                    <a:lstStyle/>
                    <a:p>
                      <a:pPr marL="139700" indent="-139700" algn="l">
                        <a:spcAft>
                          <a:spcPts val="300"/>
                        </a:spcAft>
                        <a:buSzPct val="100000"/>
                        <a:buChar char="•"/>
                      </a:pPr>
                      <a:r>
                        <a:rPr lang="en-US" sz="1100" dirty="0">
                          <a:solidFill>
                            <a:srgbClr val="1D2B2A"/>
                          </a:solidFill>
                        </a:rPr>
                        <a:t>Organon (EV USD 11.75 bn, all cash) will change leverage and returns</a:t>
                      </a:r>
                      <a:endParaRPr lang="en-US" sz="1100" dirty="0"/>
                    </a:p>
                    <a:p>
                      <a:pPr marL="139700" indent="-139700" algn="l">
                        <a:spcAft>
                          <a:spcPts val="300"/>
                        </a:spcAft>
                        <a:buSzPct val="100000"/>
                        <a:buChar char="•"/>
                      </a:pPr>
                      <a:r>
                        <a:rPr lang="en-US" sz="1100" dirty="0">
                          <a:solidFill>
                            <a:srgbClr val="1D2B2A"/>
                          </a:solidFill>
                        </a:rPr>
                        <a:t>Move to the 25.168% tax regime from FY27</a:t>
                      </a:r>
                      <a:endParaRPr lang="en-US" sz="11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139700" indent="-139700" algn="l">
                        <a:spcAft>
                          <a:spcPts val="300"/>
                        </a:spcAft>
                        <a:buSzPct val="100000"/>
                        <a:buChar char="•"/>
                      </a:pPr>
                      <a:r>
                        <a:rPr lang="en-US" sz="1100" dirty="0">
                          <a:solidFill>
                            <a:srgbClr val="1D2B2A"/>
                          </a:solidFill>
                        </a:rPr>
                        <a:t>Earnings base after Revlimid; generic semaglutide launches in Canada and India</a:t>
                      </a:r>
                      <a:endParaRPr lang="en-US" sz="1100" dirty="0"/>
                    </a:p>
                    <a:p>
                      <a:pPr marL="139700" indent="-139700" algn="l">
                        <a:spcAft>
                          <a:spcPts val="300"/>
                        </a:spcAft>
                        <a:buSzPct val="100000"/>
                        <a:buChar char="•"/>
                      </a:pPr>
                      <a:r>
                        <a:rPr lang="en-US" sz="1100" dirty="0">
                          <a:solidFill>
                            <a:srgbClr val="1D2B2A"/>
                          </a:solidFill>
                        </a:rPr>
                        <a:t>Integration of the Haleon NRT portfolio</a:t>
                      </a:r>
                      <a:endParaRPr lang="en-US" sz="11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139700" indent="-139700" algn="l">
                        <a:spcAft>
                          <a:spcPts val="300"/>
                        </a:spcAft>
                        <a:buSzPct val="100000"/>
                        <a:buChar char="•"/>
                      </a:pPr>
                      <a:r>
                        <a:rPr lang="en-US" sz="1100" dirty="0">
                          <a:solidFill>
                            <a:srgbClr val="1D2B2A"/>
                          </a:solidFill>
                        </a:rPr>
                        <a:t>Remaining US antitrust provision (USD 65.8 mn); one matter settled April 2026 for USD 30 mn</a:t>
                      </a:r>
                      <a:endParaRPr lang="en-US" sz="1100" dirty="0"/>
                    </a:p>
                    <a:p>
                      <a:pPr marL="139700" indent="-139700" algn="l">
                        <a:spcAft>
                          <a:spcPts val="300"/>
                        </a:spcAft>
                        <a:buSzPct val="100000"/>
                        <a:buChar char="•"/>
                      </a:pPr>
                      <a:r>
                        <a:rPr lang="en-US" sz="1100" dirty="0">
                          <a:solidFill>
                            <a:srgbClr val="1D2B2A"/>
                          </a:solidFill>
                        </a:rPr>
                        <a:t>Whether a 29% margin can be sustained</a:t>
                      </a:r>
                      <a:endParaRPr lang="en-US" sz="11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tc>
                  <a:txBody>
                    <a:bodyPr/>
                    <a:lstStyle/>
                    <a:p>
                      <a:pPr marL="139700" indent="-139700" algn="l">
                        <a:spcAft>
                          <a:spcPts val="300"/>
                        </a:spcAft>
                        <a:buSzPct val="100000"/>
                        <a:buChar char="•"/>
                      </a:pPr>
                      <a:r>
                        <a:rPr lang="en-US" sz="1100" dirty="0">
                          <a:solidFill>
                            <a:srgbClr val="1D2B2A"/>
                          </a:solidFill>
                        </a:rPr>
                        <a:t>Return on the FY26 capex surge (₹3,079 cr, up 99%, including ₹1,480 cr on intangibles)</a:t>
                      </a:r>
                      <a:endParaRPr lang="en-US" sz="1100" dirty="0"/>
                    </a:p>
                    <a:p>
                      <a:pPr marL="139700" indent="-139700" algn="l">
                        <a:spcAft>
                          <a:spcPts val="300"/>
                        </a:spcAft>
                        <a:buSzPct val="100000"/>
                        <a:buChar char="•"/>
                      </a:pPr>
                      <a:r>
                        <a:rPr lang="en-US" sz="1100" dirty="0">
                          <a:solidFill>
                            <a:srgbClr val="1D2B2A"/>
                          </a:solidFill>
                        </a:rPr>
                        <a:t>Recovery of growth after 2.2% in FY26</a:t>
                      </a:r>
                      <a:endParaRPr lang="en-US" sz="1100" dirty="0"/>
                    </a:p>
                  </a:txBody>
                  <a:tcPr marL="73152" marR="73152" marT="54864" marB="36576">
                    <a:lnL w="0" cap="flat" cmpd="sng" algn="ctr">
                      <a:noFill/>
                    </a:lnL>
                    <a:lnR w="0" cap="flat" cmpd="sng" algn="ctr">
                      <a:noFill/>
                    </a:lnR>
                    <a:lnT w="6350" cap="flat" cmpd="sng" algn="ctr">
                      <a:solidFill>
                        <a:srgbClr val="E3DDCD"/>
                      </a:solidFill>
                      <a:prstDash val="solid"/>
                      <a:round/>
                      <a:headEnd type="none" w="med" len="med"/>
                      <a:tailEnd type="none" w="med" len="med"/>
                    </a:lnT>
                    <a:lnB w="6350" cap="flat" cmpd="sng" algn="ctr">
                      <a:solidFill>
                        <a:srgbClr val="E3DDC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PEER COMPARISON | INDUSTRY-WIDE AND FIRM-SPECIFIC TRENDS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Common patterns point to industry forces; the differences in growth, margin and leverage are specific to each firm</a:t>
            </a:r>
            <a:endParaRPr lang="en-US" sz="2400" dirty="0"/>
          </a:p>
        </p:txBody>
      </p:sp>
      <p:sp>
        <p:nvSpPr>
          <p:cNvPr id="4" name="Text 2"/>
          <p:cNvSpPr txBox="1"/>
          <p:nvPr/>
        </p:nvSpPr>
        <p:spPr>
          <a:xfrm>
            <a:off x="457200" y="1417320"/>
            <a:ext cx="5486400" cy="365760"/>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Industry-wide (three or four companies)</a:t>
            </a:r>
            <a:endParaRPr lang="en-US" sz="1800" dirty="0"/>
          </a:p>
        </p:txBody>
      </p:sp>
      <p:sp>
        <p:nvSpPr>
          <p:cNvPr id="5" name="Text 3"/>
          <p:cNvSpPr txBox="1"/>
          <p:nvPr/>
        </p:nvSpPr>
        <p:spPr>
          <a:xfrm>
            <a:off x="6245352" y="1417320"/>
            <a:ext cx="5486400" cy="36576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Firm-specific</a:t>
            </a:r>
            <a:endParaRPr lang="en-US" sz="1800" dirty="0"/>
          </a:p>
        </p:txBody>
      </p:sp>
      <p:sp>
        <p:nvSpPr>
          <p:cNvPr id="6" name="Text 4"/>
          <p:cNvSpPr txBox="1"/>
          <p:nvPr/>
        </p:nvSpPr>
        <p:spPr>
          <a:xfrm>
            <a:off x="457200" y="1874520"/>
            <a:ext cx="5486400" cy="4389120"/>
          </a:xfrm>
          <a:prstGeom prst="rect">
            <a:avLst/>
          </a:prstGeom>
          <a:noFill/>
          <a:ln/>
        </p:spPr>
        <p:txBody>
          <a:bodyPr wrap="square" lIns="0" tIns="0" rIns="0" bIns="0" rtlCol="0" anchor="t"/>
          <a:lstStyle/>
          <a:p>
            <a:pPr marL="0" indent="0">
              <a:spcAft>
                <a:spcPts val="1200"/>
              </a:spcAft>
              <a:buNone/>
            </a:pPr>
            <a:r>
              <a:rPr lang="en-US" sz="1650" b="1" dirty="0">
                <a:solidFill>
                  <a:srgbClr val="0B4F4A"/>
                </a:solidFill>
              </a:rPr>
              <a:t>Low debt, high liquidity: </a:t>
            </a:r>
            <a:r>
              <a:rPr lang="en-US" sz="1650" dirty="0">
                <a:solidFill>
                  <a:srgbClr val="1D2B2A"/>
                </a:solidFill>
              </a:rPr>
              <a:t>debt-equity of 0.01x to 0.26x and cash and investments of 12% to 30% of assets, so US price pressure has not strained balance sheets.</a:t>
            </a:r>
            <a:endParaRPr lang="en-US" sz="1650" dirty="0"/>
          </a:p>
          <a:p>
            <a:pPr marL="0" indent="0">
              <a:spcAft>
                <a:spcPts val="1200"/>
              </a:spcAft>
              <a:buNone/>
            </a:pPr>
            <a:r>
              <a:rPr lang="en-US" sz="1650" b="1" dirty="0">
                <a:solidFill>
                  <a:srgbClr val="0B4F4A"/>
                </a:solidFill>
              </a:rPr>
              <a:t>Rising dividends and capex: </a:t>
            </a:r>
            <a:r>
              <a:rPr lang="en-US" sz="1650" dirty="0">
                <a:solidFill>
                  <a:srgbClr val="1D2B2A"/>
                </a:solidFill>
              </a:rPr>
              <a:t>dividends are higher than in FY22 at all four, and capex rose in FY26 at all four.</a:t>
            </a:r>
            <a:endParaRPr lang="en-US" sz="1650" dirty="0"/>
          </a:p>
          <a:p>
            <a:pPr marL="0" indent="0">
              <a:spcAft>
                <a:spcPts val="1200"/>
              </a:spcAft>
              <a:buNone/>
            </a:pPr>
            <a:r>
              <a:rPr lang="en-US" sz="1650" b="1" dirty="0">
                <a:solidFill>
                  <a:srgbClr val="0B4F4A"/>
                </a:solidFill>
              </a:rPr>
              <a:t>US pressure on growth: </a:t>
            </a:r>
            <a:r>
              <a:rPr lang="en-US" sz="1650" dirty="0">
                <a:solidFill>
                  <a:srgbClr val="1D2B2A"/>
                </a:solidFill>
              </a:rPr>
              <a:t>FY26 growth slowed to 3.2% (Dr. Reddy's) and 2.2% (Cipla); core EBITDA margin eased in FY26 at Sun, Dr. Reddy's and Cipla.</a:t>
            </a:r>
            <a:endParaRPr lang="en-US" sz="1650" dirty="0"/>
          </a:p>
          <a:p>
            <a:pPr marL="0" indent="0">
              <a:spcAft>
                <a:spcPts val="1200"/>
              </a:spcAft>
              <a:buNone/>
            </a:pPr>
            <a:r>
              <a:rPr lang="en-US" sz="1650" b="1" dirty="0">
                <a:solidFill>
                  <a:srgbClr val="0B4F4A"/>
                </a:solidFill>
              </a:rPr>
              <a:t>Long cash cycles: </a:t>
            </a:r>
            <a:r>
              <a:rPr lang="en-US" sz="1650" dirty="0">
                <a:solidFill>
                  <a:srgbClr val="1D2B2A"/>
                </a:solidFill>
              </a:rPr>
              <a:t>108 to 153 days, with debtor days of 72 to 104.</a:t>
            </a:r>
            <a:endParaRPr lang="en-US" sz="1650" dirty="0"/>
          </a:p>
          <a:p>
            <a:pPr marL="0" indent="0">
              <a:spcAft>
                <a:spcPts val="1200"/>
              </a:spcAft>
              <a:buNone/>
            </a:pPr>
            <a:r>
              <a:rPr lang="en-US" sz="1650" b="1" dirty="0">
                <a:solidFill>
                  <a:srgbClr val="0B4F4A"/>
                </a:solidFill>
              </a:rPr>
              <a:t>One-offs are routine: </a:t>
            </a:r>
            <a:r>
              <a:rPr lang="en-US" sz="1650" dirty="0">
                <a:solidFill>
                  <a:srgbClr val="1D2B2A"/>
                </a:solidFill>
              </a:rPr>
              <a:t>Sun, Lupin and Cipla all report exceptional charges (settlements, impairments, Labour Codes); acquisitions drew cash at all four.</a:t>
            </a:r>
            <a:endParaRPr lang="en-US" sz="1650" dirty="0"/>
          </a:p>
        </p:txBody>
      </p:sp>
      <p:sp>
        <p:nvSpPr>
          <p:cNvPr id="7" name="Text 5"/>
          <p:cNvSpPr txBox="1"/>
          <p:nvPr/>
        </p:nvSpPr>
        <p:spPr>
          <a:xfrm>
            <a:off x="6245352" y="1874520"/>
            <a:ext cx="5486400" cy="4389120"/>
          </a:xfrm>
          <a:prstGeom prst="rect">
            <a:avLst/>
          </a:prstGeom>
          <a:noFill/>
          <a:ln/>
        </p:spPr>
        <p:txBody>
          <a:bodyPr wrap="square" lIns="0" tIns="0" rIns="0" bIns="0" rtlCol="0" anchor="t"/>
          <a:lstStyle/>
          <a:p>
            <a:pPr marL="0" indent="0">
              <a:spcAft>
                <a:spcPts val="1200"/>
              </a:spcAft>
              <a:buNone/>
            </a:pPr>
            <a:r>
              <a:rPr lang="en-US" sz="1650" b="1" dirty="0">
                <a:solidFill>
                  <a:srgbClr val="0B4F4A"/>
                </a:solidFill>
              </a:rPr>
              <a:t>Sun Pharma: </a:t>
            </a:r>
            <a:r>
              <a:rPr lang="en-US" sz="1650" dirty="0">
                <a:solidFill>
                  <a:srgbClr val="1D2B2A"/>
                </a:solidFill>
              </a:rPr>
              <a:t>scale and cash (net cash 26% of assets), a rising tax rate, and the Organon deal that will change its balance sheet.</a:t>
            </a:r>
            <a:endParaRPr lang="en-US" sz="1650" dirty="0"/>
          </a:p>
          <a:p>
            <a:pPr marL="0" indent="0">
              <a:spcAft>
                <a:spcPts val="1200"/>
              </a:spcAft>
              <a:buNone/>
            </a:pPr>
            <a:r>
              <a:rPr lang="en-US" sz="1650" b="1" dirty="0">
                <a:solidFill>
                  <a:srgbClr val="0B4F4A"/>
                </a:solidFill>
              </a:rPr>
              <a:t>Dr. Reddy's: </a:t>
            </a:r>
            <a:r>
              <a:rPr lang="en-US" sz="1650" dirty="0">
                <a:solidFill>
                  <a:srgbClr val="1D2B2A"/>
                </a:solidFill>
              </a:rPr>
              <a:t>dependence on one patent-protected product; the loss of Revlimid exclusivity moved EBITDA margin by 6.5 points in a year.</a:t>
            </a:r>
            <a:endParaRPr lang="en-US" sz="1650" dirty="0"/>
          </a:p>
          <a:p>
            <a:pPr marL="0" indent="0">
              <a:spcAft>
                <a:spcPts val="1200"/>
              </a:spcAft>
              <a:buNone/>
            </a:pPr>
            <a:r>
              <a:rPr lang="en-US" sz="1650" b="1" dirty="0">
                <a:solidFill>
                  <a:srgbClr val="0B4F4A"/>
                </a:solidFill>
              </a:rPr>
              <a:t>Lupin: </a:t>
            </a:r>
            <a:r>
              <a:rPr lang="en-US" sz="1650" dirty="0">
                <a:solidFill>
                  <a:srgbClr val="1D2B2A"/>
                </a:solidFill>
              </a:rPr>
              <a:t>a turnaround from the FY22 settlement; margin up 19 points from FY23 and the fastest growth.</a:t>
            </a:r>
            <a:endParaRPr lang="en-US" sz="1650" dirty="0"/>
          </a:p>
          <a:p>
            <a:pPr marL="0" indent="0">
              <a:spcAft>
                <a:spcPts val="1200"/>
              </a:spcAft>
              <a:buNone/>
            </a:pPr>
            <a:r>
              <a:rPr lang="en-US" sz="1650" b="1" dirty="0">
                <a:solidFill>
                  <a:srgbClr val="0B4F4A"/>
                </a:solidFill>
              </a:rPr>
              <a:t>Cipla: </a:t>
            </a:r>
            <a:r>
              <a:rPr lang="en-US" sz="1650" dirty="0">
                <a:solidFill>
                  <a:srgbClr val="1D2B2A"/>
                </a:solidFill>
              </a:rPr>
              <a:t>the slowest growth, the least debt and a sharp rise in intangible spending in FY26.</a:t>
            </a:r>
            <a:endParaRPr lang="en-US" sz="16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CONCLUSION | KEY INSIGHTS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Key insights: strong balance sheets are an industry trait, while growth and margins depend on each firm's products and one-off events</a:t>
            </a:r>
            <a:endParaRPr lang="en-US" sz="2400" dirty="0"/>
          </a:p>
        </p:txBody>
      </p:sp>
      <p:sp>
        <p:nvSpPr>
          <p:cNvPr id="4" name="Insight 1"/>
          <p:cNvSpPr txBox="1"/>
          <p:nvPr/>
        </p:nvSpPr>
        <p:spPr>
          <a:xfrm>
            <a:off x="457200" y="1463040"/>
            <a:ext cx="5486400" cy="1325880"/>
          </a:xfrm>
          <a:prstGeom prst="rect">
            <a:avLst/>
          </a:prstGeom>
          <a:noFill/>
          <a:ln/>
        </p:spPr>
        <p:txBody>
          <a:bodyPr wrap="square" lIns="0" tIns="0" rIns="0" bIns="0" rtlCol="0" anchor="t"/>
          <a:lstStyle/>
          <a:p>
            <a:pPr marL="0" indent="0">
              <a:spcAft>
                <a:spcPts val="400"/>
              </a:spcAft>
              <a:buNone/>
            </a:pPr>
            <a:r>
              <a:rPr lang="en-US" sz="1700" b="1" dirty="0">
                <a:solidFill>
                  <a:srgbClr val="0B4F4A"/>
                </a:solidFill>
                <a:latin typeface="+mj-lt" pitchFamily="34" charset="0"/>
                <a:ea typeface="+mj-lt" pitchFamily="34" charset="-122"/>
                <a:cs typeface="+mj-lt" pitchFamily="34" charset="-120"/>
              </a:rPr>
              <a:t>1. Balance sheets are strong across the industry</a:t>
            </a:r>
            <a:endParaRPr lang="en-US" sz="1700" dirty="0"/>
          </a:p>
          <a:p>
            <a:pPr marL="0" indent="0">
              <a:buNone/>
            </a:pPr>
            <a:r>
              <a:rPr lang="en-US" sz="1500" dirty="0">
                <a:solidFill>
                  <a:srgbClr val="1D2B2A"/>
                </a:solidFill>
              </a:rPr>
              <a:t>Debt-equity is at most 0.26x and current ratios are 1.8x to 3.4x, so liquidity risk is low even with US price pressure.</a:t>
            </a:r>
            <a:endParaRPr lang="en-US" sz="1700" dirty="0"/>
          </a:p>
        </p:txBody>
      </p:sp>
      <p:sp>
        <p:nvSpPr>
          <p:cNvPr id="5" name="Insight 2"/>
          <p:cNvSpPr txBox="1"/>
          <p:nvPr/>
        </p:nvSpPr>
        <p:spPr>
          <a:xfrm>
            <a:off x="6245352" y="1463040"/>
            <a:ext cx="5486400" cy="1325880"/>
          </a:xfrm>
          <a:prstGeom prst="rect">
            <a:avLst/>
          </a:prstGeom>
          <a:noFill/>
          <a:ln/>
        </p:spPr>
        <p:txBody>
          <a:bodyPr wrap="square" lIns="0" tIns="0" rIns="0" bIns="0" rtlCol="0" anchor="t"/>
          <a:lstStyle/>
          <a:p>
            <a:pPr marL="0" indent="0">
              <a:spcAft>
                <a:spcPts val="400"/>
              </a:spcAft>
              <a:buNone/>
            </a:pPr>
            <a:r>
              <a:rPr lang="en-US" sz="1700" b="1" dirty="0">
                <a:solidFill>
                  <a:srgbClr val="0B4F4A"/>
                </a:solidFill>
                <a:latin typeface="+mj-lt" pitchFamily="34" charset="0"/>
                <a:ea typeface="+mj-lt" pitchFamily="34" charset="-122"/>
                <a:cs typeface="+mj-lt" pitchFamily="34" charset="-120"/>
              </a:rPr>
              <a:t>2. Profit growth is uneven</a:t>
            </a:r>
            <a:endParaRPr lang="en-US" sz="1700" dirty="0"/>
          </a:p>
          <a:p>
            <a:pPr marL="0" indent="0">
              <a:buNone/>
            </a:pPr>
            <a:r>
              <a:rPr lang="en-US" sz="1500" dirty="0">
                <a:solidFill>
                  <a:srgbClr val="1D2B2A"/>
                </a:solidFill>
              </a:rPr>
              <a:t>From FY23 to FY26 PAT grew about 11% a year at Sun and 11% at Cipla, fell 2.4% a year at Dr. Reddy's, and rose sharply at Lupin from a low base.</a:t>
            </a:r>
            <a:endParaRPr lang="en-US" sz="1700" dirty="0"/>
          </a:p>
        </p:txBody>
      </p:sp>
      <p:sp>
        <p:nvSpPr>
          <p:cNvPr id="6" name="Insight 3"/>
          <p:cNvSpPr txBox="1"/>
          <p:nvPr/>
        </p:nvSpPr>
        <p:spPr>
          <a:xfrm>
            <a:off x="457200" y="2926080"/>
            <a:ext cx="5486400" cy="1325880"/>
          </a:xfrm>
          <a:prstGeom prst="rect">
            <a:avLst/>
          </a:prstGeom>
          <a:noFill/>
          <a:ln/>
        </p:spPr>
        <p:txBody>
          <a:bodyPr wrap="square" lIns="0" tIns="0" rIns="0" bIns="0" rtlCol="0" anchor="t"/>
          <a:lstStyle/>
          <a:p>
            <a:pPr marL="0" indent="0">
              <a:spcAft>
                <a:spcPts val="400"/>
              </a:spcAft>
              <a:buNone/>
            </a:pPr>
            <a:r>
              <a:rPr lang="en-US" sz="1700" b="1" dirty="0">
                <a:solidFill>
                  <a:srgbClr val="0B4F4A"/>
                </a:solidFill>
                <a:latin typeface="+mj-lt" pitchFamily="34" charset="0"/>
                <a:ea typeface="+mj-lt" pitchFamily="34" charset="-122"/>
                <a:cs typeface="+mj-lt" pitchFamily="34" charset="-120"/>
              </a:rPr>
              <a:t>3. Earnings are backed by cash</a:t>
            </a:r>
            <a:endParaRPr lang="en-US" sz="1700" dirty="0"/>
          </a:p>
          <a:p>
            <a:pPr marL="0" indent="0">
              <a:buNone/>
            </a:pPr>
            <a:r>
              <a:rPr lang="en-US" sz="1500" dirty="0">
                <a:solidFill>
                  <a:srgbClr val="1D2B2A"/>
                </a:solidFill>
              </a:rPr>
              <a:t>CFO exceeded PAT over five years at all four (1.1x to 1.7x), but forex gains (Sun ₹1,240 cr, Lupin ₹656 cr) and other income flatter FY26.</a:t>
            </a:r>
            <a:endParaRPr lang="en-US" sz="1700" dirty="0"/>
          </a:p>
        </p:txBody>
      </p:sp>
      <p:sp>
        <p:nvSpPr>
          <p:cNvPr id="7" name="Insight 4"/>
          <p:cNvSpPr txBox="1"/>
          <p:nvPr/>
        </p:nvSpPr>
        <p:spPr>
          <a:xfrm>
            <a:off x="6245352" y="2926080"/>
            <a:ext cx="5486400" cy="1325880"/>
          </a:xfrm>
          <a:prstGeom prst="rect">
            <a:avLst/>
          </a:prstGeom>
          <a:noFill/>
          <a:ln/>
        </p:spPr>
        <p:txBody>
          <a:bodyPr wrap="square" lIns="0" tIns="0" rIns="0" bIns="0" rtlCol="0" anchor="t"/>
          <a:lstStyle/>
          <a:p>
            <a:pPr marL="0" indent="0">
              <a:spcAft>
                <a:spcPts val="400"/>
              </a:spcAft>
              <a:buNone/>
            </a:pPr>
            <a:r>
              <a:rPr lang="en-US" sz="1700" b="1" dirty="0">
                <a:solidFill>
                  <a:srgbClr val="0B4F4A"/>
                </a:solidFill>
                <a:latin typeface="+mj-lt" pitchFamily="34" charset="0"/>
                <a:ea typeface="+mj-lt" pitchFamily="34" charset="-122"/>
                <a:cs typeface="+mj-lt" pitchFamily="34" charset="-120"/>
              </a:rPr>
              <a:t>4. Product concentration is the main firm risk</a:t>
            </a:r>
            <a:endParaRPr lang="en-US" sz="1700" dirty="0"/>
          </a:p>
          <a:p>
            <a:pPr marL="0" indent="0">
              <a:buNone/>
            </a:pPr>
            <a:r>
              <a:rPr lang="en-US" sz="1500" dirty="0">
                <a:solidFill>
                  <a:srgbClr val="1D2B2A"/>
                </a:solidFill>
              </a:rPr>
              <a:t>Dr. Reddy's EBITDA margin fell 6.5 points in one year when Revlimid exclusivity ended.</a:t>
            </a:r>
            <a:endParaRPr lang="en-US" sz="1700" dirty="0"/>
          </a:p>
        </p:txBody>
      </p:sp>
      <p:sp>
        <p:nvSpPr>
          <p:cNvPr id="8" name="Insight 5"/>
          <p:cNvSpPr txBox="1"/>
          <p:nvPr/>
        </p:nvSpPr>
        <p:spPr>
          <a:xfrm>
            <a:off x="457200" y="4389120"/>
            <a:ext cx="5486400" cy="1325880"/>
          </a:xfrm>
          <a:prstGeom prst="rect">
            <a:avLst/>
          </a:prstGeom>
          <a:noFill/>
          <a:ln/>
        </p:spPr>
        <p:txBody>
          <a:bodyPr wrap="square" lIns="0" tIns="0" rIns="0" bIns="0" rtlCol="0" anchor="t"/>
          <a:lstStyle/>
          <a:p>
            <a:pPr marL="0" indent="0">
              <a:spcAft>
                <a:spcPts val="400"/>
              </a:spcAft>
              <a:buNone/>
            </a:pPr>
            <a:r>
              <a:rPr lang="en-US" sz="1700" b="1" dirty="0">
                <a:solidFill>
                  <a:srgbClr val="0B4F4A"/>
                </a:solidFill>
                <a:latin typeface="+mj-lt" pitchFamily="34" charset="0"/>
                <a:ea typeface="+mj-lt" pitchFamily="34" charset="-122"/>
                <a:cs typeface="+mj-lt" pitchFamily="34" charset="-120"/>
              </a:rPr>
              <a:t>5. Capital is moving into growth</a:t>
            </a:r>
            <a:endParaRPr lang="en-US" sz="1700" dirty="0"/>
          </a:p>
          <a:p>
            <a:pPr marL="0" indent="0">
              <a:buNone/>
            </a:pPr>
            <a:r>
              <a:rPr lang="en-US" sz="1500" dirty="0">
                <a:solidFill>
                  <a:srgbClr val="1D2B2A"/>
                </a:solidFill>
              </a:rPr>
              <a:t>Capex is up everywhere in FY26 and acquisitions are larger (Organon, Haleon NRT, Cipla intangibles), so FY27 leverage and returns may differ from FY26.</a:t>
            </a:r>
            <a:endParaRPr lang="en-US" sz="1700" dirty="0"/>
          </a:p>
        </p:txBody>
      </p:sp>
      <p:sp>
        <p:nvSpPr>
          <p:cNvPr id="9" name="Insight 6"/>
          <p:cNvSpPr txBox="1"/>
          <p:nvPr/>
        </p:nvSpPr>
        <p:spPr>
          <a:xfrm>
            <a:off x="6245352" y="4389120"/>
            <a:ext cx="5486400" cy="1325880"/>
          </a:xfrm>
          <a:prstGeom prst="rect">
            <a:avLst/>
          </a:prstGeom>
          <a:noFill/>
          <a:ln/>
        </p:spPr>
        <p:txBody>
          <a:bodyPr wrap="square" lIns="0" tIns="0" rIns="0" bIns="0" rtlCol="0" anchor="t"/>
          <a:lstStyle/>
          <a:p>
            <a:pPr marL="0" indent="0">
              <a:spcAft>
                <a:spcPts val="400"/>
              </a:spcAft>
              <a:buNone/>
            </a:pPr>
            <a:r>
              <a:rPr lang="en-US" sz="1700" b="1" dirty="0">
                <a:solidFill>
                  <a:srgbClr val="0B4F4A"/>
                </a:solidFill>
                <a:latin typeface="+mj-lt" pitchFamily="34" charset="0"/>
                <a:ea typeface="+mj-lt" pitchFamily="34" charset="-122"/>
                <a:cs typeface="+mj-lt" pitchFamily="34" charset="-120"/>
              </a:rPr>
              <a:t>6. Working capital is the common weak spot</a:t>
            </a:r>
            <a:endParaRPr lang="en-US" sz="1700" dirty="0"/>
          </a:p>
          <a:p>
            <a:pPr marL="0" indent="0">
              <a:buNone/>
            </a:pPr>
            <a:r>
              <a:rPr lang="en-US" sz="1500" dirty="0">
                <a:solidFill>
                  <a:srgbClr val="1D2B2A"/>
                </a:solidFill>
              </a:rPr>
              <a:t>Debtor days of 72 to 104 and cash cycles above 100 days; Lupin and Sun show that tighter collection lifts returns.</a:t>
            </a:r>
            <a:endParaRPr lang="en-US" sz="1700" dirty="0"/>
          </a:p>
        </p:txBody>
      </p:sp>
      <p:sp>
        <p:nvSpPr>
          <p:cNvPr id="10" name="Overall"/>
          <p:cNvSpPr txBox="1"/>
          <p:nvPr/>
        </p:nvSpPr>
        <p:spPr>
          <a:xfrm>
            <a:off x="457200" y="5852160"/>
            <a:ext cx="11274552" cy="457200"/>
          </a:xfrm>
          <a:prstGeom prst="rect">
            <a:avLst/>
          </a:prstGeom>
          <a:noFill/>
          <a:ln/>
        </p:spPr>
        <p:txBody>
          <a:bodyPr wrap="square" lIns="0" tIns="0" rIns="0" bIns="0" rtlCol="0" anchor="ctr"/>
          <a:lstStyle/>
          <a:p>
            <a:pPr marL="0" indent="0">
              <a:buNone/>
            </a:pPr>
            <a:r>
              <a:rPr lang="en-US" sz="1450" b="1" dirty="0">
                <a:solidFill>
                  <a:schemeClr val="accent3"/>
                </a:solidFill>
              </a:rPr>
              <a:t>Overall: </a:t>
            </a:r>
            <a:r>
              <a:rPr lang="en-US" sz="1450" dirty="0">
                <a:solidFill>
                  <a:srgbClr val="000000"/>
                </a:solidFill>
              </a:rPr>
              <a:t>on FY26 evidence the ranking is Lupin, Sun Pharma, Cipla, Dr. Reddy's. Organon and the end of Revlimid exclusivity could change it in FY27.</a:t>
            </a:r>
            <a:endParaRPr lang="en-US" sz="14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Kicker"/>
          <p:cNvSpPr txBox="1"/>
          <p:nvPr/>
        </p:nvSpPr>
        <p:spPr>
          <a:xfrm>
            <a:off x="457200" y="256032"/>
            <a:ext cx="11274552"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SOURCES AND NOTES</a:t>
            </a:r>
            <a:endParaRPr lang="en-US" sz="1100" dirty="0"/>
          </a:p>
        </p:txBody>
      </p:sp>
      <p:sp>
        <p:nvSpPr>
          <p:cNvPr id="3" name="Title"/>
          <p:cNvSpPr txBox="1"/>
          <p:nvPr/>
        </p:nvSpPr>
        <p:spPr>
          <a:xfrm>
            <a:off x="457200" y="502920"/>
            <a:ext cx="11274552" cy="822960"/>
          </a:xfrm>
          <a:prstGeom prst="rect">
            <a:avLst/>
          </a:prstGeom>
          <a:noFill/>
          <a:ln/>
        </p:spPr>
        <p:txBody>
          <a:bodyPr wrap="square" lIns="0" tIns="0" rIns="0" bIns="0" rtlCol="0" anchor="t"/>
          <a:lstStyle/>
          <a:p>
            <a:pPr marL="0" indent="0">
              <a:buNone/>
            </a:pPr>
            <a:r>
              <a:rPr lang="en-US" sz="2200" b="1" dirty="0">
                <a:solidFill>
                  <a:schemeClr val="tx2"/>
                </a:solidFill>
                <a:latin typeface="+mj-lt" pitchFamily="34" charset="0"/>
                <a:ea typeface="+mj-lt" pitchFamily="34" charset="-122"/>
                <a:cs typeface="+mj-lt" pitchFamily="34" charset="-120"/>
              </a:rPr>
              <a:t>Sources, definitions and limitations</a:t>
            </a:r>
            <a:endParaRPr lang="en-US" sz="2400" dirty="0"/>
          </a:p>
        </p:txBody>
      </p:sp>
      <p:sp>
        <p:nvSpPr>
          <p:cNvPr id="4" name="Text 2"/>
          <p:cNvSpPr txBox="1"/>
          <p:nvPr/>
        </p:nvSpPr>
        <p:spPr>
          <a:xfrm>
            <a:off x="457200" y="1371600"/>
            <a:ext cx="5486400" cy="365760"/>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Sources</a:t>
            </a:r>
            <a:endParaRPr lang="en-US" sz="1800" dirty="0"/>
          </a:p>
        </p:txBody>
      </p:sp>
      <p:sp>
        <p:nvSpPr>
          <p:cNvPr id="5" name="Text 3"/>
          <p:cNvSpPr txBox="1"/>
          <p:nvPr/>
        </p:nvSpPr>
        <p:spPr>
          <a:xfrm>
            <a:off x="457200" y="1783080"/>
            <a:ext cx="5486400" cy="4480560"/>
          </a:xfrm>
          <a:prstGeom prst="rect">
            <a:avLst/>
          </a:prstGeom>
          <a:noFill/>
          <a:ln/>
        </p:spPr>
        <p:txBody>
          <a:bodyPr wrap="square" lIns="0" tIns="0" rIns="0" bIns="0" rtlCol="0" anchor="t"/>
          <a:lstStyle/>
          <a:p>
            <a:pPr marL="0" indent="0">
              <a:spcAft>
                <a:spcPts val="1000"/>
              </a:spcAft>
              <a:buNone/>
            </a:pPr>
            <a:r>
              <a:rPr lang="en-US" sz="1550" b="1" dirty="0">
                <a:solidFill>
                  <a:srgbClr val="0B4F4A"/>
                </a:solidFill>
              </a:rPr>
              <a:t>Primary: </a:t>
            </a:r>
            <a:r>
              <a:rPr lang="en-US" sz="1550" dirty="0">
                <a:solidFill>
                  <a:srgbClr val="1D2B2A"/>
                </a:solidFill>
              </a:rPr>
              <a:t>audited consolidated financial results of Sun Pharma, Dr. Reddy's, Lupin and Cipla for FY2021-22 to FY2025-26 (filed with BSE and NSE), including notes.</a:t>
            </a:r>
            <a:endParaRPr lang="en-US" sz="1550" dirty="0"/>
          </a:p>
          <a:p>
            <a:pPr marL="0" indent="0">
              <a:spcAft>
                <a:spcPts val="1000"/>
              </a:spcAft>
              <a:buNone/>
            </a:pPr>
            <a:r>
              <a:rPr lang="en-US" sz="1550" b="1" dirty="0">
                <a:solidFill>
                  <a:srgbClr val="0B4F4A"/>
                </a:solidFill>
              </a:rPr>
              <a:t>Industry: </a:t>
            </a:r>
            <a:r>
              <a:rPr lang="en-US" sz="1550" dirty="0">
                <a:solidFill>
                  <a:srgbClr val="1D2B2A"/>
                </a:solidFill>
              </a:rPr>
              <a:t>ICRA press release, 18 Sep 2025 (business-standard.com); India Briefing on the US Section 232 pharma tariff, Apr 2026 (india-briefing.com); Business Standard on Dr. Reddy's Q4 FY26 results, 12 May 2026.</a:t>
            </a:r>
            <a:endParaRPr lang="en-US" sz="1550" dirty="0"/>
          </a:p>
          <a:p>
            <a:pPr marL="0" indent="0">
              <a:spcAft>
                <a:spcPts val="1000"/>
              </a:spcAft>
              <a:buNone/>
            </a:pPr>
            <a:r>
              <a:rPr lang="en-US" sz="1550" b="1" dirty="0">
                <a:solidFill>
                  <a:srgbClr val="0B4F4A"/>
                </a:solidFill>
              </a:rPr>
              <a:t>Company profiles: </a:t>
            </a:r>
            <a:r>
              <a:rPr lang="en-US" sz="1550" dirty="0">
                <a:solidFill>
                  <a:srgbClr val="1D2B2A"/>
                </a:solidFill>
              </a:rPr>
              <a:t>Wikipedia entries for Sun Pharma, Cipla, Lupin and Dr. Reddy's; lupin.com (our story); IIFL (Cipla listing); Enrichmoney company histories (Lupin 1993 and Dr. Reddy's 1986 public issues).</a:t>
            </a:r>
            <a:endParaRPr lang="en-US" sz="1550" dirty="0"/>
          </a:p>
        </p:txBody>
      </p:sp>
      <p:sp>
        <p:nvSpPr>
          <p:cNvPr id="6" name="Text 4"/>
          <p:cNvSpPr txBox="1"/>
          <p:nvPr/>
        </p:nvSpPr>
        <p:spPr>
          <a:xfrm>
            <a:off x="6245352" y="1371600"/>
            <a:ext cx="5486400" cy="36576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Definitions and limitations</a:t>
            </a:r>
            <a:endParaRPr lang="en-US" sz="1800" dirty="0"/>
          </a:p>
        </p:txBody>
      </p:sp>
      <p:sp>
        <p:nvSpPr>
          <p:cNvPr id="7" name="Text 5"/>
          <p:cNvSpPr txBox="1"/>
          <p:nvPr/>
        </p:nvSpPr>
        <p:spPr>
          <a:xfrm>
            <a:off x="6245352" y="1783080"/>
            <a:ext cx="5486400" cy="4480560"/>
          </a:xfrm>
          <a:prstGeom prst="rect">
            <a:avLst/>
          </a:prstGeom>
          <a:noFill/>
          <a:ln/>
        </p:spPr>
        <p:txBody>
          <a:bodyPr wrap="square" lIns="0" tIns="0" rIns="0" bIns="0" rtlCol="0" anchor="t"/>
          <a:lstStyle/>
          <a:p>
            <a:pPr marL="0" indent="0">
              <a:spcAft>
                <a:spcPts val="1000"/>
              </a:spcAft>
              <a:buNone/>
            </a:pPr>
            <a:r>
              <a:rPr lang="en-US" sz="1550" b="1" dirty="0">
                <a:solidFill>
                  <a:srgbClr val="0B4F4A"/>
                </a:solidFill>
              </a:rPr>
              <a:t>Basis: </a:t>
            </a:r>
            <a:r>
              <a:rPr lang="en-US" sz="1550" dirty="0">
                <a:solidFill>
                  <a:srgbClr val="1D2B2A"/>
                </a:solidFill>
              </a:rPr>
              <a:t>consolidated figures, ₹ crore; years end 31 March. Later filings' comparatives are used where figures were restated.</a:t>
            </a:r>
            <a:endParaRPr lang="en-US" sz="1550" dirty="0"/>
          </a:p>
          <a:p>
            <a:pPr marL="0" indent="0">
              <a:spcAft>
                <a:spcPts val="1000"/>
              </a:spcAft>
              <a:buNone/>
            </a:pPr>
            <a:r>
              <a:rPr lang="en-US" sz="1550" b="1" dirty="0">
                <a:solidFill>
                  <a:srgbClr val="0B4F4A"/>
                </a:solidFill>
              </a:rPr>
              <a:t>EBITDA: </a:t>
            </a:r>
            <a:r>
              <a:rPr lang="en-US" sz="1550" dirty="0">
                <a:solidFill>
                  <a:srgbClr val="1D2B2A"/>
                </a:solidFill>
              </a:rPr>
              <a:t>revenue less expenses before depreciation, impairment and finance costs, excluding forex gains (shown separately for Sun and Lupin).</a:t>
            </a:r>
            <a:endParaRPr lang="en-US" sz="1550" dirty="0"/>
          </a:p>
          <a:p>
            <a:pPr marL="0" indent="0">
              <a:spcAft>
                <a:spcPts val="1000"/>
              </a:spcAft>
              <a:buNone/>
            </a:pPr>
            <a:r>
              <a:rPr lang="en-US" sz="1550" b="1" dirty="0">
                <a:solidFill>
                  <a:srgbClr val="0B4F4A"/>
                </a:solidFill>
              </a:rPr>
              <a:t>Days ratios: </a:t>
            </a:r>
            <a:r>
              <a:rPr lang="en-US" sz="1550" dirty="0">
                <a:solidFill>
                  <a:srgbClr val="1D2B2A"/>
                </a:solidFill>
              </a:rPr>
              <a:t>on revenue, because cost of goods sold is not disclosed (expenses are by nature).</a:t>
            </a:r>
            <a:endParaRPr lang="en-US" sz="1550" dirty="0"/>
          </a:p>
          <a:p>
            <a:pPr marL="0" indent="0">
              <a:spcAft>
                <a:spcPts val="1000"/>
              </a:spcAft>
              <a:buNone/>
            </a:pPr>
            <a:r>
              <a:rPr lang="en-US" sz="1550" b="1" dirty="0">
                <a:solidFill>
                  <a:srgbClr val="0B4F4A"/>
                </a:solidFill>
              </a:rPr>
              <a:t>Scanned filings: </a:t>
            </a:r>
            <a:r>
              <a:rPr lang="en-US" sz="1550" dirty="0">
                <a:solidFill>
                  <a:srgbClr val="1D2B2A"/>
                </a:solidFill>
              </a:rPr>
              <a:t>some source PDFs were scans read by OCR; every statement was checked against its subtotals and the balance sheet tally.</a:t>
            </a:r>
            <a:endParaRPr lang="en-US" sz="1550" dirty="0"/>
          </a:p>
          <a:p>
            <a:pPr marL="0" indent="0">
              <a:spcAft>
                <a:spcPts val="1000"/>
              </a:spcAft>
              <a:buNone/>
            </a:pPr>
            <a:r>
              <a:rPr lang="en-US" sz="1550" b="1" dirty="0">
                <a:solidFill>
                  <a:srgbClr val="0B4F4A"/>
                </a:solidFill>
              </a:rPr>
              <a:t>Not verified: </a:t>
            </a:r>
            <a:r>
              <a:rPr lang="en-US" sz="1550" dirty="0">
                <a:solidFill>
                  <a:srgbClr val="1D2B2A"/>
                </a:solidFill>
              </a:rPr>
              <a:t>Cipla's BSE listing year. Industry facts reflect the cited reports as of October 2026. This is an academic exercise, not investment advice.</a:t>
            </a:r>
            <a:endParaRPr lang="en-US" sz="15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39</a:t>
            </a:fld>
            <a:endParaRPr lang="en-US"/>
          </a:p>
        </p:txBody>
      </p:sp>
    </p:spTree>
  </p:cSld>
  <p:clrMapOvr>
    <a:masterClrMapping/>
  </p:clrMapOvr>
</p:sld>
</file>

<file path=ppt/theme/theme1.xml><?xml version="1.0" encoding="utf-8"?>
<a:theme xmlns:a="http://schemas.openxmlformats.org/drawingml/2006/main" name="CA Analysis">
  <a:themeElements>
    <a:clrScheme name="CA Analysis">
      <a:dk1>
        <a:srgbClr val="1D2B2A"/>
      </a:dk1>
      <a:lt1>
        <a:srgbClr val="FFFFFF"/>
      </a:lt1>
      <a:dk2>
        <a:srgbClr val="0B4F4A"/>
      </a:dk2>
      <a:lt2>
        <a:srgbClr val="F2EEE3"/>
      </a:lt2>
      <a:accent1>
        <a:srgbClr val="0B4F4A"/>
      </a:accent1>
      <a:accent2>
        <a:srgbClr val="3F9A90"/>
      </a:accent2>
      <a:accent3>
        <a:srgbClr val="B5472A"/>
      </a:accent3>
      <a:accent4>
        <a:srgbClr val="B7C9C3"/>
      </a:accent4>
      <a:accent5>
        <a:srgbClr val="2E7D4F"/>
      </a:accent5>
      <a:accent6>
        <a:srgbClr val="C48A12"/>
      </a:accent6>
      <a:hlink>
        <a:srgbClr val="0B4F4A"/>
      </a:hlink>
      <a:folHlink>
        <a:srgbClr val="3F9A90"/>
      </a:folHlink>
    </a:clrScheme>
    <a:fontScheme name="CA Analysi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722</TotalTime>
  <Words>12588</Words>
  <Application>Microsoft Office PowerPoint</Application>
  <PresentationFormat>Widescreen</PresentationFormat>
  <Paragraphs>2577</Paragraphs>
  <Slides>39</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Georgia</vt:lpstr>
      <vt:lpstr>CA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statement analysis of listed Indian pharmaceutical companies, FY2022 to FY2026</dc:title>
  <dc:subject>PptxGenJS Presentation</dc:subject>
  <dc:creator>Accounting project group</dc:creator>
  <cp:lastModifiedBy>Shivanshu Kumar Gupta</cp:lastModifiedBy>
  <cp:revision>6</cp:revision>
  <dcterms:created xsi:type="dcterms:W3CDTF">2026-10-04T19:22:18Z</dcterms:created>
  <dcterms:modified xsi:type="dcterms:W3CDTF">2026-10-17T11:21:29Z</dcterms:modified>
</cp:coreProperties>
</file>